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You paid</c:v>
                </c:pt>
              </c:strCache>
            </c:strRef>
          </c:tx>
          <c:spPr>
            <a:solidFill>
              <a:srgbClr val="6366F1"/>
            </a:solidFill>
            <a:ln w="25400" cap="flat">
              <a:solidFill>
                <a:srgbClr val="6366F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6366F1"/>
              </a:solidFill>
              <a:ln w="9525" cap="flat">
                <a:solidFill>
                  <a:srgbClr val="6366F1"/>
                </a:solidFill>
                <a:prstDash val="solid"/>
                <a:round/>
              </a:ln>
              <a:effectLst/>
            </c:spPr>
          </c:marker>
          <c:cat>
            <c:multiLvlStrRef>
              <c:f>Sheet1!$A$2:$A$7</c:f>
              <c:multiLvlStrCache>
                <c:ptCount val="6"/>
                <c:lvl>
                  <c:pt idx="0">
                    <c:v>Mar</c:v>
                  </c:pt>
                  <c:pt idx="1">
                    <c:v>May</c:v>
                  </c:pt>
                  <c:pt idx="2">
                    <c:v>Jul</c:v>
                  </c:pt>
                  <c:pt idx="3">
                    <c:v>Sep</c:v>
                  </c:pt>
                  <c:pt idx="4">
                    <c:v>Nov</c:v>
                  </c:pt>
                  <c:pt idx="5">
                    <c:v>Jan</c:v>
                  </c:pt>
                </c:lvl>
              </c:multiLvlStrCache>
            </c:multiLvlStrRef>
          </c:cat>
          <c:val>
            <c:numRef>
              <c:f>Sheet1!$B$2:$B$7</c:f>
              <c:numCache>
                <c:formatCode>General</c:formatCode>
                <c:ptCount val="6"/>
                <c:pt idx="0">
                  <c:v>6.29</c:v>
                </c:pt>
                <c:pt idx="1">
                  <c:v>5.49</c:v>
                </c:pt>
                <c:pt idx="2">
                  <c:v>6.49</c:v>
                </c:pt>
                <c:pt idx="3">
                  <c:v>6.99</c:v>
                </c:pt>
                <c:pt idx="4">
                  <c:v>5.99</c:v>
                </c:pt>
                <c:pt idx="5">
                  <c:v>7.29</c:v>
                </c:pt>
              </c:numCache>
            </c:numRef>
          </c:val>
          <c:smooth val="1"/>
        </c:ser>
        <c:ser>
          <c:idx val="1"/>
          <c:order val="1"/>
          <c:tx>
            <c:strRef>
              <c:f>Sheet1!$C$1</c:f>
              <c:strCache>
                <c:ptCount val="1"/>
                <c:pt idx="0">
                  <c:v>Costco</c:v>
                </c:pt>
              </c:strCache>
            </c:strRef>
          </c:tx>
          <c:spPr>
            <a:solidFill>
              <a:srgbClr val="10B981"/>
            </a:solidFill>
            <a:ln w="25400" cap="flat">
              <a:solidFill>
                <a:srgbClr val="10B98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0B981"/>
              </a:solidFill>
              <a:ln w="9525" cap="flat">
                <a:solidFill>
                  <a:srgbClr val="10B981"/>
                </a:solidFill>
                <a:prstDash val="solid"/>
                <a:round/>
              </a:ln>
              <a:effectLst/>
            </c:spPr>
          </c:marker>
          <c:cat>
            <c:multiLvlStrRef>
              <c:f>Sheet1!$A$2:$A$7</c:f>
              <c:multiLvlStrCache>
                <c:ptCount val="6"/>
                <c:lvl>
                  <c:pt idx="0">
                    <c:v>Mar</c:v>
                  </c:pt>
                  <c:pt idx="1">
                    <c:v>May</c:v>
                  </c:pt>
                  <c:pt idx="2">
                    <c:v>Jul</c:v>
                  </c:pt>
                  <c:pt idx="3">
                    <c:v>Sep</c:v>
                  </c:pt>
                  <c:pt idx="4">
                    <c:v>Nov</c:v>
                  </c:pt>
                  <c:pt idx="5">
                    <c:v>Jan</c:v>
                  </c:pt>
                </c:lvl>
              </c:multiLvlStrCache>
            </c:multiLvlStrRef>
          </c:cat>
          <c:val>
            <c:numRef>
              <c:f>Sheet1!$C$2:$C$7</c:f>
              <c:numCache>
                <c:formatCode>General</c:formatCode>
                <c:ptCount val="6"/>
                <c:pt idx="0">
                  <c:v>5.49</c:v>
                </c:pt>
                <c:pt idx="1">
                  <c:v>5.49</c:v>
                </c:pt>
                <c:pt idx="2">
                  <c:v>5.79</c:v>
                </c:pt>
                <c:pt idx="3">
                  <c:v>5.79</c:v>
                </c:pt>
                <c:pt idx="4">
                  <c:v>5.99</c:v>
                </c:pt>
                <c:pt idx="5">
                  <c:v>5.99</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Spend</c:v>
                </c:pt>
              </c:strCache>
            </c:strRef>
          </c:tx>
          <c:spPr>
            <a:solidFill>
              <a:srgbClr val="6366F1"/>
            </a:solidFill>
            <a:effectLst/>
          </c:spPr>
          <c:invertIfNegative val="0"/>
          <c:dLbls>
            <c:numFmt formatCode="#,##0" sourceLinked="0"/>
            <c:txPr>
              <a:bodyPr/>
              <a:lstStyle/>
              <a:p>
                <a:pPr>
                  <a:defRPr b="0" i="0" strike="noStrike" sz="800" u="none">
                    <a:solidFill>
                      <a:srgbClr val="0F172A"/>
                    </a:solidFill>
                    <a:latin typeface="Arial"/>
                  </a:defRPr>
                </a:pPr>
              </a:p>
            </c:txPr>
            <c:showLegendKey val="0"/>
            <c:showVal val="1"/>
            <c:showCatName val="0"/>
            <c:showSerName val="0"/>
            <c:showPercent val="0"/>
            <c:showBubbleSize val="0"/>
            <c:showLeaderLines val="0"/>
          </c:dLbls>
          <c:dPt>
            <c:idx val="0"/>
            <c:invertIfNegative val="0"/>
            <c:bubble3D val="0"/>
            <c:spPr>
              <a:solidFill>
                <a:srgbClr val="6366F1"/>
              </a:solidFill>
              <a:effectLst/>
            </c:spPr>
          </c:dPt>
          <c:dPt>
            <c:idx val="1"/>
            <c:invertIfNegative val="0"/>
            <c:bubble3D val="0"/>
            <c:spPr>
              <a:solidFill>
                <a:srgbClr val="EC4899"/>
              </a:solidFill>
              <a:effectLst/>
            </c:spPr>
          </c:dPt>
          <c:dPt>
            <c:idx val="2"/>
            <c:invertIfNegative val="0"/>
            <c:bubble3D val="0"/>
            <c:spPr>
              <a:solidFill>
                <a:srgbClr val="10B981"/>
              </a:solidFill>
              <a:effectLst/>
            </c:spPr>
          </c:dPt>
          <c:dPt>
            <c:idx val="3"/>
            <c:invertIfNegative val="0"/>
            <c:bubble3D val="0"/>
            <c:spPr>
              <a:solidFill>
                <a:srgbClr val="F59E0B"/>
              </a:solidFill>
              <a:effectLst/>
            </c:spPr>
          </c:dPt>
          <c:dPt>
            <c:idx val="4"/>
            <c:invertIfNegative val="0"/>
            <c:bubble3D val="0"/>
            <c:spPr>
              <a:solidFill>
                <a:srgbClr val="0EA5E9"/>
              </a:solidFill>
              <a:effectLst/>
            </c:spPr>
          </c:dPt>
          <c:dPt>
            <c:idx val="5"/>
            <c:invertIfNegative val="0"/>
            <c:bubble3D val="0"/>
            <c:spPr>
              <a:solidFill>
                <a:srgbClr val="F97316"/>
              </a:solidFill>
              <a:effectLst/>
            </c:spPr>
          </c:dPt>
          <c:cat>
            <c:multiLvlStrRef>
              <c:f>Sheet1!$A$2:$A$7</c:f>
              <c:multiLvlStrCache>
                <c:ptCount val="6"/>
                <c:lvl>
                  <c:pt idx="0">
                    <c:v>Groceries</c:v>
                  </c:pt>
                  <c:pt idx="1">
                    <c:v>Dining</c:v>
                  </c:pt>
                  <c:pt idx="2">
                    <c:v>Utilities</c:v>
                  </c:pt>
                  <c:pt idx="3">
                    <c:v>Subscriptions</c:v>
                  </c:pt>
                  <c:pt idx="4">
                    <c:v>Travel</c:v>
                  </c:pt>
                  <c:pt idx="5">
                    <c:v>Healthcare</c:v>
                  </c:pt>
                </c:lvl>
              </c:multiLvlStrCache>
            </c:multiLvlStrRef>
          </c:cat>
          <c:val>
            <c:numRef>
              <c:f>Sheet1!$B$2:$B$7</c:f>
              <c:numCache>
                <c:formatCode>General</c:formatCode>
                <c:ptCount val="6"/>
                <c:pt idx="0">
                  <c:v>870</c:v>
                </c:pt>
                <c:pt idx="1">
                  <c:v>510</c:v>
                </c:pt>
                <c:pt idx="2">
                  <c:v>325</c:v>
                </c:pt>
                <c:pt idx="3">
                  <c:v>187</c:v>
                </c:pt>
                <c:pt idx="4">
                  <c:v>340</c:v>
                </c:pt>
                <c:pt idx="5">
                  <c:v>98</c:v>
                </c:pt>
              </c:numCache>
            </c:numRef>
          </c:val>
        </c:ser>
        <c:dLbls>
          <c:numFmt formatCode="#,##0" sourceLinked="0"/>
          <c:txPr>
            <a:bodyPr/>
            <a:lstStyle/>
            <a:p>
              <a:pPr>
                <a:defRPr b="0" i="0" strike="noStrike" sz="8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this is ReceiptIQ, an AI-powered spend intelligence app. The big idea: your receipts, bills, and checks all captured automatically, turned into real financial intelligence. Today we want to walk through the concept and get your thoughts. Feel free to jump in with questions at any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we're solving. Most people want to track spending but the friction is too high — manual entry, limited categories, no intelligence. And none of the existing apps give you a complete picture of your actual monthly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ReceiptIQ has four pillars: capture (everything comes in automatically), price intelligence (know what things actually cost over time), smart shopping (AI helps you spend less), and analytics (understand your patterns at any level of detail). Together they make a complete picture no other app offers.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market scan. Every competitor covers at most two of the five key capabilities. ReceiptIQ is the only one that does all five — multi-category tracking, automatic ingestion, price comparison, bills, and custom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receipts get in — ordered by how passive they are. Gmail/Outlook OAuth is the most powerful: connect once and you never think about it again. Camera scan is the fallback for paper receipts. Browser extension handles Amazon and Costco order histories. Forward-to-email is for users who prefer not to grant inbox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gap. Most apps track retail spend — groceries, Amazon. But rent, utilities, dining out, subscriptions, medical bills — that's often 60-70% of a person's monthly spend and none of it gets captured anywhere. ReceiptIQ fixes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intelligence is one of ReceiptIQ's biggest differentiators. The chart on the right is a real example — you can see exactly when the price went up, which store is cheapest, and what you'd save per month by switching. No other consumer app does this at the item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shopping is the 'wow' feature in demos. The user types or uploads their weekly grocery list, and the app comes back with: here's what it costs at each store near you, and here's the optimal split — buy the produce at Trader Joe's, the bulk items at Costco, and the rest at Walmart. It accounts for realistic travel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moment a receipt or bill is parsed, a push notification fires with Keep and Dismiss buttons right in the notification — no app open needed. If you don't act in 24 hours, it's auto-ingested. We use an opt-out model (silence = keep) because losing data is worse than occasionally ingesting something the user didn't want. They can always remove it from the weekly digest.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most-requested features in personal finance tools — the ability to analyse any date range you care about, not just calendar months. The labelled periods feature is especially powerful: name a trip or an event, and you can pull up exactly what you spent during it at any time, or compare it to another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reports covering every angle. The key insight is that all of these reports are built from the same underlying data — every line item stored individually. Adding a new report is just a new query. The Bills &amp; Recurring category is new and only possible because we capture bills as well as retail receipts.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is the number one concern users raise when they hear about email ingestion. We've designed around this from the start: minimal scope OAuth, nothing raw stored, full transparency, one-tap revoke. Medical data gets extra protection — we only extract the amount and provider, never medical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clear phases. Phase 1 is the foundation — get the core scanning and dashboard working. Phase 2 adds intelligence — price history and vendor comparison. Phase 3 adds smart shopping. Phase 4 is the big differentiator — auto-ingestion, bills, push notifications. Phase 5 completes the picture with medical bills and deeper retailer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Key discussion questions: (1) real-world feature priority from their perspective, (2) comfort level with email access — this is the biggest adoption risk, (3) auto-ingest default — should silence mean keep or discard, (4) what spend category is most painful for them personally. These answers should directly inform what we build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366F1"/>
          </a:solidFill>
          <a:ln w="12700">
            <a:solidFill>
              <a:srgbClr val="6366F1"/>
            </a:solidFill>
            <a:prstDash val="solid"/>
          </a:ln>
        </p:spPr>
      </p:sp>
      <p:sp>
        <p:nvSpPr>
          <p:cNvPr id="3" name="Shape 1"/>
          <p:cNvSpPr/>
          <p:nvPr/>
        </p:nvSpPr>
        <p:spPr>
          <a:xfrm>
            <a:off x="1005840" y="1371600"/>
            <a:ext cx="1005840" cy="1005840"/>
          </a:xfrm>
          <a:prstGeom prst="ellipse">
            <a:avLst/>
          </a:prstGeom>
          <a:solidFill>
            <a:srgbClr val="6366F1"/>
          </a:solidFill>
          <a:ln w="12700">
            <a:solidFill>
              <a:srgbClr val="6366F1"/>
            </a:solidFill>
            <a:prstDash val="solid"/>
          </a:ln>
        </p:spPr>
      </p:sp>
      <p:pic>
        <p:nvPicPr>
          <p:cNvPr id="4" name="Image 0" descr="preencoded.png">    </p:cNvPr>
          <p:cNvPicPr>
            <a:picLocks noChangeAspect="1"/>
          </p:cNvPicPr>
          <p:nvPr/>
        </p:nvPicPr>
        <p:blipFill>
          <a:blip r:embed="rId1"/>
          <a:stretch>
            <a:fillRect/>
          </a:stretch>
        </p:blipFill>
        <p:spPr>
          <a:xfrm>
            <a:off x="1170432" y="1536192"/>
            <a:ext cx="685800" cy="685800"/>
          </a:xfrm>
          <a:prstGeom prst="rect">
            <a:avLst/>
          </a:prstGeom>
        </p:spPr>
      </p:pic>
      <p:sp>
        <p:nvSpPr>
          <p:cNvPr id="5" name="Text 2"/>
          <p:cNvSpPr/>
          <p:nvPr/>
        </p:nvSpPr>
        <p:spPr>
          <a:xfrm>
            <a:off x="2286000" y="1371600"/>
            <a:ext cx="5943600" cy="68580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ReceiptIQ</a:t>
            </a:r>
            <a:endParaRPr lang="en-US" sz="5200" dirty="0"/>
          </a:p>
        </p:txBody>
      </p:sp>
      <p:sp>
        <p:nvSpPr>
          <p:cNvPr id="6" name="Text 3"/>
          <p:cNvSpPr/>
          <p:nvPr/>
        </p:nvSpPr>
        <p:spPr>
          <a:xfrm>
            <a:off x="2286000" y="2103120"/>
            <a:ext cx="5943600" cy="365760"/>
          </a:xfrm>
          <a:prstGeom prst="rect">
            <a:avLst/>
          </a:prstGeom>
          <a:noFill/>
          <a:ln/>
        </p:spPr>
        <p:txBody>
          <a:bodyPr wrap="square" lIns="0" tIns="0" rIns="0" bIns="0" rtlCol="0" anchor="ctr"/>
          <a:lstStyle/>
          <a:p>
            <a:pPr indent="0" marL="0">
              <a:buNone/>
            </a:pPr>
            <a:r>
              <a:rPr lang="en-US" sz="1800" dirty="0">
                <a:solidFill>
                  <a:srgbClr val="A5B4FC"/>
                </a:solidFill>
                <a:latin typeface="Calibri" pitchFamily="34" charset="0"/>
                <a:ea typeface="Calibri" pitchFamily="34" charset="-122"/>
                <a:cs typeface="Calibri" pitchFamily="34" charset="-120"/>
              </a:rPr>
              <a:t>AI-Powered Spend Intelligence</a:t>
            </a:r>
            <a:endParaRPr lang="en-US" sz="1800" dirty="0"/>
          </a:p>
        </p:txBody>
      </p:sp>
      <p:sp>
        <p:nvSpPr>
          <p:cNvPr id="7" name="Text 4"/>
          <p:cNvSpPr/>
          <p:nvPr/>
        </p:nvSpPr>
        <p:spPr>
          <a:xfrm>
            <a:off x="2286000" y="2560320"/>
            <a:ext cx="5943600"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Know exactly where every dollar goes — automatically.</a:t>
            </a:r>
            <a:endParaRPr lang="en-US" sz="1400" dirty="0"/>
          </a:p>
        </p:txBody>
      </p:sp>
      <p:sp>
        <p:nvSpPr>
          <p:cNvPr id="8" name="Shape 5"/>
          <p:cNvSpPr/>
          <p:nvPr/>
        </p:nvSpPr>
        <p:spPr>
          <a:xfrm>
            <a:off x="2286000" y="3291840"/>
            <a:ext cx="1463040" cy="777240"/>
          </a:xfrm>
          <a:prstGeom prst="rect">
            <a:avLst/>
          </a:prstGeom>
          <a:solidFill>
            <a:srgbClr val="1E293B"/>
          </a:solidFill>
          <a:ln w="12700">
            <a:solidFill>
              <a:srgbClr val="334155"/>
            </a:solidFill>
            <a:prstDash val="solid"/>
          </a:ln>
        </p:spPr>
      </p:sp>
      <p:sp>
        <p:nvSpPr>
          <p:cNvPr id="9" name="Text 6"/>
          <p:cNvSpPr/>
          <p:nvPr/>
        </p:nvSpPr>
        <p:spPr>
          <a:xfrm>
            <a:off x="2286000" y="3337560"/>
            <a:ext cx="1463040" cy="365760"/>
          </a:xfrm>
          <a:prstGeom prst="rect">
            <a:avLst/>
          </a:prstGeom>
          <a:noFill/>
          <a:ln/>
        </p:spPr>
        <p:txBody>
          <a:bodyPr wrap="square" lIns="0" tIns="0" rIns="0" bIns="0" rtlCol="0" anchor="ctr"/>
          <a:lstStyle/>
          <a:p>
            <a:pPr algn="ctr" indent="0" marL="0">
              <a:buNone/>
            </a:pPr>
            <a:r>
              <a:rPr lang="en-US" sz="2200" b="1" dirty="0">
                <a:solidFill>
                  <a:srgbClr val="A5B4FC"/>
                </a:solidFill>
                <a:latin typeface="Georgia" pitchFamily="34" charset="0"/>
                <a:ea typeface="Georgia" pitchFamily="34" charset="-122"/>
                <a:cs typeface="Georgia" pitchFamily="34" charset="-120"/>
              </a:rPr>
              <a:t>20+</a:t>
            </a:r>
            <a:endParaRPr lang="en-US" sz="2200" dirty="0"/>
          </a:p>
        </p:txBody>
      </p:sp>
      <p:sp>
        <p:nvSpPr>
          <p:cNvPr id="10" name="Text 7"/>
          <p:cNvSpPr/>
          <p:nvPr/>
        </p:nvSpPr>
        <p:spPr>
          <a:xfrm>
            <a:off x="2286000" y="3703320"/>
            <a:ext cx="1463040" cy="274320"/>
          </a:xfrm>
          <a:prstGeom prst="rect">
            <a:avLst/>
          </a:prstGeom>
          <a:noFill/>
          <a:ln/>
        </p:spPr>
        <p:txBody>
          <a:bodyPr wrap="square" lIns="0" tIns="0" rIns="0" bIns="0" rtlCol="0" anchor="ctr"/>
          <a:lstStyle/>
          <a:p>
            <a:pPr algn="ctr" indent="0" marL="0">
              <a:buNone/>
            </a:pPr>
            <a:r>
              <a:rPr lang="en-US" sz="900" dirty="0">
                <a:solidFill>
                  <a:srgbClr val="64748B"/>
                </a:solidFill>
              </a:rPr>
              <a:t>Retailers</a:t>
            </a:r>
            <a:endParaRPr lang="en-US" sz="900" dirty="0"/>
          </a:p>
        </p:txBody>
      </p:sp>
      <p:sp>
        <p:nvSpPr>
          <p:cNvPr id="11" name="Shape 8"/>
          <p:cNvSpPr/>
          <p:nvPr/>
        </p:nvSpPr>
        <p:spPr>
          <a:xfrm>
            <a:off x="3913632" y="3291840"/>
            <a:ext cx="1463040" cy="777240"/>
          </a:xfrm>
          <a:prstGeom prst="rect">
            <a:avLst/>
          </a:prstGeom>
          <a:solidFill>
            <a:srgbClr val="1E293B"/>
          </a:solidFill>
          <a:ln w="12700">
            <a:solidFill>
              <a:srgbClr val="334155"/>
            </a:solidFill>
            <a:prstDash val="solid"/>
          </a:ln>
        </p:spPr>
      </p:sp>
      <p:sp>
        <p:nvSpPr>
          <p:cNvPr id="12" name="Text 9"/>
          <p:cNvSpPr/>
          <p:nvPr/>
        </p:nvSpPr>
        <p:spPr>
          <a:xfrm>
            <a:off x="3913632" y="3337560"/>
            <a:ext cx="1463040" cy="365760"/>
          </a:xfrm>
          <a:prstGeom prst="rect">
            <a:avLst/>
          </a:prstGeom>
          <a:noFill/>
          <a:ln/>
        </p:spPr>
        <p:txBody>
          <a:bodyPr wrap="square" lIns="0" tIns="0" rIns="0" bIns="0" rtlCol="0" anchor="ctr"/>
          <a:lstStyle/>
          <a:p>
            <a:pPr algn="ctr" indent="0" marL="0">
              <a:buNone/>
            </a:pPr>
            <a:r>
              <a:rPr lang="en-US" sz="2200" b="1" dirty="0">
                <a:solidFill>
                  <a:srgbClr val="A5B4FC"/>
                </a:solidFill>
                <a:latin typeface="Georgia" pitchFamily="34" charset="0"/>
                <a:ea typeface="Georgia" pitchFamily="34" charset="-122"/>
                <a:cs typeface="Georgia" pitchFamily="34" charset="-120"/>
              </a:rPr>
              <a:t>40+</a:t>
            </a:r>
            <a:endParaRPr lang="en-US" sz="2200" dirty="0"/>
          </a:p>
        </p:txBody>
      </p:sp>
      <p:sp>
        <p:nvSpPr>
          <p:cNvPr id="13" name="Text 10"/>
          <p:cNvSpPr/>
          <p:nvPr/>
        </p:nvSpPr>
        <p:spPr>
          <a:xfrm>
            <a:off x="3913632" y="3703320"/>
            <a:ext cx="1463040" cy="274320"/>
          </a:xfrm>
          <a:prstGeom prst="rect">
            <a:avLst/>
          </a:prstGeom>
          <a:noFill/>
          <a:ln/>
        </p:spPr>
        <p:txBody>
          <a:bodyPr wrap="square" lIns="0" tIns="0" rIns="0" bIns="0" rtlCol="0" anchor="ctr"/>
          <a:lstStyle/>
          <a:p>
            <a:pPr algn="ctr" indent="0" marL="0">
              <a:buNone/>
            </a:pPr>
            <a:r>
              <a:rPr lang="en-US" sz="900" dirty="0">
                <a:solidFill>
                  <a:srgbClr val="64748B"/>
                </a:solidFill>
              </a:rPr>
              <a:t>Reports</a:t>
            </a:r>
            <a:endParaRPr lang="en-US" sz="900" dirty="0"/>
          </a:p>
        </p:txBody>
      </p:sp>
      <p:sp>
        <p:nvSpPr>
          <p:cNvPr id="14" name="Shape 11"/>
          <p:cNvSpPr/>
          <p:nvPr/>
        </p:nvSpPr>
        <p:spPr>
          <a:xfrm>
            <a:off x="5541264" y="3291840"/>
            <a:ext cx="1463040" cy="777240"/>
          </a:xfrm>
          <a:prstGeom prst="rect">
            <a:avLst/>
          </a:prstGeom>
          <a:solidFill>
            <a:srgbClr val="1E293B"/>
          </a:solidFill>
          <a:ln w="12700">
            <a:solidFill>
              <a:srgbClr val="334155"/>
            </a:solidFill>
            <a:prstDash val="solid"/>
          </a:ln>
        </p:spPr>
      </p:sp>
      <p:sp>
        <p:nvSpPr>
          <p:cNvPr id="15" name="Text 12"/>
          <p:cNvSpPr/>
          <p:nvPr/>
        </p:nvSpPr>
        <p:spPr>
          <a:xfrm>
            <a:off x="5541264" y="3337560"/>
            <a:ext cx="1463040" cy="365760"/>
          </a:xfrm>
          <a:prstGeom prst="rect">
            <a:avLst/>
          </a:prstGeom>
          <a:noFill/>
          <a:ln/>
        </p:spPr>
        <p:txBody>
          <a:bodyPr wrap="square" lIns="0" tIns="0" rIns="0" bIns="0" rtlCol="0" anchor="ctr"/>
          <a:lstStyle/>
          <a:p>
            <a:pPr algn="ctr" indent="0" marL="0">
              <a:buNone/>
            </a:pPr>
            <a:r>
              <a:rPr lang="en-US" sz="2200" b="1" dirty="0">
                <a:solidFill>
                  <a:srgbClr val="A5B4FC"/>
                </a:solidFill>
                <a:latin typeface="Georgia" pitchFamily="34" charset="0"/>
                <a:ea typeface="Georgia" pitchFamily="34" charset="-122"/>
                <a:cs typeface="Georgia" pitchFamily="34" charset="-120"/>
              </a:rPr>
              <a:t>5</a:t>
            </a:r>
            <a:endParaRPr lang="en-US" sz="2200" dirty="0"/>
          </a:p>
        </p:txBody>
      </p:sp>
      <p:sp>
        <p:nvSpPr>
          <p:cNvPr id="16" name="Text 13"/>
          <p:cNvSpPr/>
          <p:nvPr/>
        </p:nvSpPr>
        <p:spPr>
          <a:xfrm>
            <a:off x="5541264" y="3703320"/>
            <a:ext cx="1463040" cy="274320"/>
          </a:xfrm>
          <a:prstGeom prst="rect">
            <a:avLst/>
          </a:prstGeom>
          <a:noFill/>
          <a:ln/>
        </p:spPr>
        <p:txBody>
          <a:bodyPr wrap="square" lIns="0" tIns="0" rIns="0" bIns="0" rtlCol="0" anchor="ctr"/>
          <a:lstStyle/>
          <a:p>
            <a:pPr algn="ctr" indent="0" marL="0">
              <a:buNone/>
            </a:pPr>
            <a:r>
              <a:rPr lang="en-US" sz="900" dirty="0">
                <a:solidFill>
                  <a:srgbClr val="64748B"/>
                </a:solidFill>
              </a:rPr>
              <a:t>Phases</a:t>
            </a:r>
            <a:endParaRPr lang="en-US" sz="900" dirty="0"/>
          </a:p>
        </p:txBody>
      </p:sp>
      <p:sp>
        <p:nvSpPr>
          <p:cNvPr id="17" name="Shape 14"/>
          <p:cNvSpPr/>
          <p:nvPr/>
        </p:nvSpPr>
        <p:spPr>
          <a:xfrm>
            <a:off x="7168896" y="3291840"/>
            <a:ext cx="1463040" cy="777240"/>
          </a:xfrm>
          <a:prstGeom prst="rect">
            <a:avLst/>
          </a:prstGeom>
          <a:solidFill>
            <a:srgbClr val="1E293B"/>
          </a:solidFill>
          <a:ln w="12700">
            <a:solidFill>
              <a:srgbClr val="334155"/>
            </a:solidFill>
            <a:prstDash val="solid"/>
          </a:ln>
        </p:spPr>
      </p:sp>
      <p:sp>
        <p:nvSpPr>
          <p:cNvPr id="18" name="Text 15"/>
          <p:cNvSpPr/>
          <p:nvPr/>
        </p:nvSpPr>
        <p:spPr>
          <a:xfrm>
            <a:off x="7168896" y="3337560"/>
            <a:ext cx="1463040" cy="365760"/>
          </a:xfrm>
          <a:prstGeom prst="rect">
            <a:avLst/>
          </a:prstGeom>
          <a:noFill/>
          <a:ln/>
        </p:spPr>
        <p:txBody>
          <a:bodyPr wrap="square" lIns="0" tIns="0" rIns="0" bIns="0" rtlCol="0" anchor="ctr"/>
          <a:lstStyle/>
          <a:p>
            <a:pPr algn="ctr" indent="0" marL="0">
              <a:buNone/>
            </a:pPr>
            <a:r>
              <a:rPr lang="en-US" sz="2200" b="1" dirty="0">
                <a:solidFill>
                  <a:srgbClr val="A5B4FC"/>
                </a:solidFill>
                <a:latin typeface="Georgia" pitchFamily="34" charset="0"/>
                <a:ea typeface="Georgia" pitchFamily="34" charset="-122"/>
                <a:cs typeface="Georgia" pitchFamily="34" charset="-120"/>
              </a:rPr>
              <a:t>100%</a:t>
            </a:r>
            <a:endParaRPr lang="en-US" sz="2200" dirty="0"/>
          </a:p>
        </p:txBody>
      </p:sp>
      <p:sp>
        <p:nvSpPr>
          <p:cNvPr id="19" name="Text 16"/>
          <p:cNvSpPr/>
          <p:nvPr/>
        </p:nvSpPr>
        <p:spPr>
          <a:xfrm>
            <a:off x="7168896" y="3703320"/>
            <a:ext cx="1463040" cy="274320"/>
          </a:xfrm>
          <a:prstGeom prst="rect">
            <a:avLst/>
          </a:prstGeom>
          <a:noFill/>
          <a:ln/>
        </p:spPr>
        <p:txBody>
          <a:bodyPr wrap="square" lIns="0" tIns="0" rIns="0" bIns="0" rtlCol="0" anchor="ctr"/>
          <a:lstStyle/>
          <a:p>
            <a:pPr algn="ctr" indent="0" marL="0">
              <a:buNone/>
            </a:pPr>
            <a:r>
              <a:rPr lang="en-US" sz="900" dirty="0">
                <a:solidFill>
                  <a:srgbClr val="64748B"/>
                </a:solidFill>
              </a:rPr>
              <a:t>Spend covered</a:t>
            </a:r>
            <a:endParaRPr lang="en-US" sz="900" dirty="0"/>
          </a:p>
        </p:txBody>
      </p:sp>
      <p:sp>
        <p:nvSpPr>
          <p:cNvPr id="20" name="Text 17"/>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900" dirty="0">
                <a:solidFill>
                  <a:srgbClr val="475569"/>
                </a:solidFill>
              </a:rPr>
              <a:t>iOS · Android · Web  |  Powered by Claude AI</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256032"/>
            <a:ext cx="1371600" cy="256032"/>
          </a:xfrm>
          <a:prstGeom prst="rect">
            <a:avLst/>
          </a:prstGeom>
          <a:solidFill>
            <a:srgbClr val="EF4444"/>
          </a:solidFill>
          <a:ln w="12700">
            <a:solidFill>
              <a:srgbClr val="EF4444"/>
            </a:solidFill>
            <a:prstDash val="solid"/>
          </a:ln>
        </p:spPr>
      </p:sp>
      <p:sp>
        <p:nvSpPr>
          <p:cNvPr id="3" name="Text 1"/>
          <p:cNvSpPr/>
          <p:nvPr/>
        </p:nvSpPr>
        <p:spPr>
          <a:xfrm>
            <a:off x="502920" y="256032"/>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rPr>
              <a:t>THE PROBLEM</a:t>
            </a:r>
            <a:endParaRPr lang="en-US" sz="800" dirty="0"/>
          </a:p>
        </p:txBody>
      </p:sp>
      <p:sp>
        <p:nvSpPr>
          <p:cNvPr id="4" name="Text 2"/>
          <p:cNvSpPr/>
          <p:nvPr/>
        </p:nvSpPr>
        <p:spPr>
          <a:xfrm>
            <a:off x="502920" y="594360"/>
            <a:ext cx="813816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Tracking your spending is broken today</a:t>
            </a:r>
            <a:endParaRPr lang="en-US" sz="2800" dirty="0"/>
          </a:p>
        </p:txBody>
      </p:sp>
      <p:sp>
        <p:nvSpPr>
          <p:cNvPr id="5" name="Shape 3"/>
          <p:cNvSpPr/>
          <p:nvPr/>
        </p:nvSpPr>
        <p:spPr>
          <a:xfrm>
            <a:off x="502920" y="1417320"/>
            <a:ext cx="4023360" cy="1325880"/>
          </a:xfrm>
          <a:prstGeom prst="rect">
            <a:avLst/>
          </a:prstGeom>
          <a:solidFill>
            <a:srgbClr val="FEF2F2"/>
          </a:solidFill>
          <a:ln w="12700">
            <a:solidFill>
              <a:srgbClr val="FECACA"/>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502920" y="1417320"/>
            <a:ext cx="54864" cy="1325880"/>
          </a:xfrm>
          <a:prstGeom prst="rect">
            <a:avLst/>
          </a:prstGeom>
          <a:solidFill>
            <a:srgbClr val="EF4444"/>
          </a:solidFill>
          <a:ln w="12700">
            <a:solidFill>
              <a:srgbClr val="EF4444"/>
            </a:solidFill>
            <a:prstDash val="solid"/>
          </a:ln>
        </p:spPr>
      </p:sp>
      <p:sp>
        <p:nvSpPr>
          <p:cNvPr id="7" name="Text 5"/>
          <p:cNvSpPr/>
          <p:nvPr/>
        </p:nvSpPr>
        <p:spPr>
          <a:xfrm>
            <a:off x="685800" y="1554480"/>
            <a:ext cx="3657600" cy="228600"/>
          </a:xfrm>
          <a:prstGeom prst="rect">
            <a:avLst/>
          </a:prstGeom>
          <a:noFill/>
          <a:ln/>
        </p:spPr>
        <p:txBody>
          <a:bodyPr wrap="square" lIns="0" tIns="0" rIns="0" bIns="0" rtlCol="0" anchor="ctr"/>
          <a:lstStyle/>
          <a:p>
            <a:pPr indent="0" marL="0">
              <a:buNone/>
            </a:pPr>
            <a:r>
              <a:rPr lang="en-US" sz="1200" b="1" dirty="0">
                <a:solidFill>
                  <a:srgbClr val="0F172A"/>
                </a:solidFill>
              </a:rPr>
              <a:t>Manual and painful</a:t>
            </a:r>
            <a:endParaRPr lang="en-US" sz="1200" dirty="0"/>
          </a:p>
        </p:txBody>
      </p:sp>
      <p:sp>
        <p:nvSpPr>
          <p:cNvPr id="8" name="Text 6"/>
          <p:cNvSpPr/>
          <p:nvPr/>
        </p:nvSpPr>
        <p:spPr>
          <a:xfrm>
            <a:off x="685800" y="1801368"/>
            <a:ext cx="3657600" cy="777240"/>
          </a:xfrm>
          <a:prstGeom prst="rect">
            <a:avLst/>
          </a:prstGeom>
          <a:noFill/>
          <a:ln/>
        </p:spPr>
        <p:txBody>
          <a:bodyPr wrap="square" lIns="0" tIns="0" rIns="0" bIns="0" rtlCol="0" anchor="ctr"/>
          <a:lstStyle/>
          <a:p>
            <a:pPr indent="0" marL="0">
              <a:buNone/>
            </a:pPr>
            <a:r>
              <a:rPr lang="en-US" sz="1000" dirty="0">
                <a:solidFill>
                  <a:srgbClr val="64748B"/>
                </a:solidFill>
              </a:rPr>
              <a:t>You have to photograph, type, or upload every receipt yourself. Nobody does this consistently.</a:t>
            </a:r>
            <a:endParaRPr lang="en-US" sz="1000" dirty="0"/>
          </a:p>
        </p:txBody>
      </p:sp>
      <p:sp>
        <p:nvSpPr>
          <p:cNvPr id="9" name="Shape 7"/>
          <p:cNvSpPr/>
          <p:nvPr/>
        </p:nvSpPr>
        <p:spPr>
          <a:xfrm>
            <a:off x="4846320" y="1417320"/>
            <a:ext cx="4023360" cy="1325880"/>
          </a:xfrm>
          <a:prstGeom prst="rect">
            <a:avLst/>
          </a:prstGeom>
          <a:solidFill>
            <a:srgbClr val="FEF2F2"/>
          </a:solidFill>
          <a:ln w="12700">
            <a:solidFill>
              <a:srgbClr val="FECACA"/>
            </a:solidFill>
            <a:prstDash val="solid"/>
          </a:ln>
          <a:effectLst>
            <a:outerShdw sx="100000" sy="100000" kx="0" ky="0" algn="bl" rotWithShape="0" blurRad="101600" dist="38100" dir="8100000">
              <a:srgbClr val="000000">
                <a:alpha val="10000"/>
              </a:srgbClr>
            </a:outerShdw>
          </a:effectLst>
        </p:spPr>
      </p:sp>
      <p:sp>
        <p:nvSpPr>
          <p:cNvPr id="10" name="Shape 8"/>
          <p:cNvSpPr/>
          <p:nvPr/>
        </p:nvSpPr>
        <p:spPr>
          <a:xfrm>
            <a:off x="4846320" y="1417320"/>
            <a:ext cx="54864" cy="1325880"/>
          </a:xfrm>
          <a:prstGeom prst="rect">
            <a:avLst/>
          </a:prstGeom>
          <a:solidFill>
            <a:srgbClr val="EF4444"/>
          </a:solidFill>
          <a:ln w="12700">
            <a:solidFill>
              <a:srgbClr val="EF4444"/>
            </a:solidFill>
            <a:prstDash val="solid"/>
          </a:ln>
        </p:spPr>
      </p:sp>
      <p:sp>
        <p:nvSpPr>
          <p:cNvPr id="11" name="Text 9"/>
          <p:cNvSpPr/>
          <p:nvPr/>
        </p:nvSpPr>
        <p:spPr>
          <a:xfrm>
            <a:off x="5029200" y="1554480"/>
            <a:ext cx="3657600" cy="228600"/>
          </a:xfrm>
          <a:prstGeom prst="rect">
            <a:avLst/>
          </a:prstGeom>
          <a:noFill/>
          <a:ln/>
        </p:spPr>
        <p:txBody>
          <a:bodyPr wrap="square" lIns="0" tIns="0" rIns="0" bIns="0" rtlCol="0" anchor="ctr"/>
          <a:lstStyle/>
          <a:p>
            <a:pPr indent="0" marL="0">
              <a:buNone/>
            </a:pPr>
            <a:r>
              <a:rPr lang="en-US" sz="1200" b="1" dirty="0">
                <a:solidFill>
                  <a:srgbClr val="0F172A"/>
                </a:solidFill>
              </a:rPr>
              <a:t>Grocery-only</a:t>
            </a:r>
            <a:endParaRPr lang="en-US" sz="1200" dirty="0"/>
          </a:p>
        </p:txBody>
      </p:sp>
      <p:sp>
        <p:nvSpPr>
          <p:cNvPr id="12" name="Text 10"/>
          <p:cNvSpPr/>
          <p:nvPr/>
        </p:nvSpPr>
        <p:spPr>
          <a:xfrm>
            <a:off x="5029200" y="1801368"/>
            <a:ext cx="3657600" cy="777240"/>
          </a:xfrm>
          <a:prstGeom prst="rect">
            <a:avLst/>
          </a:prstGeom>
          <a:noFill/>
          <a:ln/>
        </p:spPr>
        <p:txBody>
          <a:bodyPr wrap="square" lIns="0" tIns="0" rIns="0" bIns="0" rtlCol="0" anchor="ctr"/>
          <a:lstStyle/>
          <a:p>
            <a:pPr indent="0" marL="0">
              <a:buNone/>
            </a:pPr>
            <a:r>
              <a:rPr lang="en-US" sz="1000" dirty="0">
                <a:solidFill>
                  <a:srgbClr val="64748B"/>
                </a:solidFill>
              </a:rPr>
              <a:t>Existing apps track groceries but ignore utilities, dining, subscriptions, travel, and medical bills.</a:t>
            </a:r>
            <a:endParaRPr lang="en-US" sz="1000" dirty="0"/>
          </a:p>
        </p:txBody>
      </p:sp>
      <p:sp>
        <p:nvSpPr>
          <p:cNvPr id="13" name="Shape 11"/>
          <p:cNvSpPr/>
          <p:nvPr/>
        </p:nvSpPr>
        <p:spPr>
          <a:xfrm>
            <a:off x="502920" y="2926080"/>
            <a:ext cx="4023360" cy="1325880"/>
          </a:xfrm>
          <a:prstGeom prst="rect">
            <a:avLst/>
          </a:prstGeom>
          <a:solidFill>
            <a:srgbClr val="FEF2F2"/>
          </a:solidFill>
          <a:ln w="12700">
            <a:solidFill>
              <a:srgbClr val="FECACA"/>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502920" y="2926080"/>
            <a:ext cx="54864" cy="1325880"/>
          </a:xfrm>
          <a:prstGeom prst="rect">
            <a:avLst/>
          </a:prstGeom>
          <a:solidFill>
            <a:srgbClr val="EF4444"/>
          </a:solidFill>
          <a:ln w="12700">
            <a:solidFill>
              <a:srgbClr val="EF4444"/>
            </a:solidFill>
            <a:prstDash val="solid"/>
          </a:ln>
        </p:spPr>
      </p:sp>
      <p:sp>
        <p:nvSpPr>
          <p:cNvPr id="15" name="Text 13"/>
          <p:cNvSpPr/>
          <p:nvPr/>
        </p:nvSpPr>
        <p:spPr>
          <a:xfrm>
            <a:off x="685800" y="3063240"/>
            <a:ext cx="3657600" cy="228600"/>
          </a:xfrm>
          <a:prstGeom prst="rect">
            <a:avLst/>
          </a:prstGeom>
          <a:noFill/>
          <a:ln/>
        </p:spPr>
        <p:txBody>
          <a:bodyPr wrap="square" lIns="0" tIns="0" rIns="0" bIns="0" rtlCol="0" anchor="ctr"/>
          <a:lstStyle/>
          <a:p>
            <a:pPr indent="0" marL="0">
              <a:buNone/>
            </a:pPr>
            <a:r>
              <a:rPr lang="en-US" sz="1200" b="1" dirty="0">
                <a:solidFill>
                  <a:srgbClr val="0F172A"/>
                </a:solidFill>
              </a:rPr>
              <a:t>No price intelligence</a:t>
            </a:r>
            <a:endParaRPr lang="en-US" sz="1200" dirty="0"/>
          </a:p>
        </p:txBody>
      </p:sp>
      <p:sp>
        <p:nvSpPr>
          <p:cNvPr id="16" name="Text 14"/>
          <p:cNvSpPr/>
          <p:nvPr/>
        </p:nvSpPr>
        <p:spPr>
          <a:xfrm>
            <a:off x="685800" y="3310128"/>
            <a:ext cx="3657600" cy="777240"/>
          </a:xfrm>
          <a:prstGeom prst="rect">
            <a:avLst/>
          </a:prstGeom>
          <a:noFill/>
          <a:ln/>
        </p:spPr>
        <p:txBody>
          <a:bodyPr wrap="square" lIns="0" tIns="0" rIns="0" bIns="0" rtlCol="0" anchor="ctr"/>
          <a:lstStyle/>
          <a:p>
            <a:pPr indent="0" marL="0">
              <a:buNone/>
            </a:pPr>
            <a:r>
              <a:rPr lang="en-US" sz="1000" dirty="0">
                <a:solidFill>
                  <a:srgbClr val="64748B"/>
                </a:solidFill>
              </a:rPr>
              <a:t>No app tells you that eggs are $1.50 cheaper at Costco or that your milk price has risen 18% this year.</a:t>
            </a:r>
            <a:endParaRPr lang="en-US" sz="1000" dirty="0"/>
          </a:p>
        </p:txBody>
      </p:sp>
      <p:sp>
        <p:nvSpPr>
          <p:cNvPr id="17" name="Shape 15"/>
          <p:cNvSpPr/>
          <p:nvPr/>
        </p:nvSpPr>
        <p:spPr>
          <a:xfrm>
            <a:off x="4846320" y="2926080"/>
            <a:ext cx="4023360" cy="1325880"/>
          </a:xfrm>
          <a:prstGeom prst="rect">
            <a:avLst/>
          </a:prstGeom>
          <a:solidFill>
            <a:srgbClr val="FEF2F2"/>
          </a:solidFill>
          <a:ln w="12700">
            <a:solidFill>
              <a:srgbClr val="FECACA"/>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4846320" y="2926080"/>
            <a:ext cx="54864" cy="1325880"/>
          </a:xfrm>
          <a:prstGeom prst="rect">
            <a:avLst/>
          </a:prstGeom>
          <a:solidFill>
            <a:srgbClr val="EF4444"/>
          </a:solidFill>
          <a:ln w="12700">
            <a:solidFill>
              <a:srgbClr val="EF4444"/>
            </a:solidFill>
            <a:prstDash val="solid"/>
          </a:ln>
        </p:spPr>
      </p:sp>
      <p:sp>
        <p:nvSpPr>
          <p:cNvPr id="19" name="Text 17"/>
          <p:cNvSpPr/>
          <p:nvPr/>
        </p:nvSpPr>
        <p:spPr>
          <a:xfrm>
            <a:off x="5029200" y="3063240"/>
            <a:ext cx="3657600" cy="228600"/>
          </a:xfrm>
          <a:prstGeom prst="rect">
            <a:avLst/>
          </a:prstGeom>
          <a:noFill/>
          <a:ln/>
        </p:spPr>
        <p:txBody>
          <a:bodyPr wrap="square" lIns="0" tIns="0" rIns="0" bIns="0" rtlCol="0" anchor="ctr"/>
          <a:lstStyle/>
          <a:p>
            <a:pPr indent="0" marL="0">
              <a:buNone/>
            </a:pPr>
            <a:r>
              <a:rPr lang="en-US" sz="1200" b="1" dirty="0">
                <a:solidFill>
                  <a:srgbClr val="0F172A"/>
                </a:solidFill>
              </a:rPr>
              <a:t>Fixed reporting</a:t>
            </a:r>
            <a:endParaRPr lang="en-US" sz="1200" dirty="0"/>
          </a:p>
        </p:txBody>
      </p:sp>
      <p:sp>
        <p:nvSpPr>
          <p:cNvPr id="20" name="Text 18"/>
          <p:cNvSpPr/>
          <p:nvPr/>
        </p:nvSpPr>
        <p:spPr>
          <a:xfrm>
            <a:off x="5029200" y="3310128"/>
            <a:ext cx="3657600" cy="777240"/>
          </a:xfrm>
          <a:prstGeom prst="rect">
            <a:avLst/>
          </a:prstGeom>
          <a:noFill/>
          <a:ln/>
        </p:spPr>
        <p:txBody>
          <a:bodyPr wrap="square" lIns="0" tIns="0" rIns="0" bIns="0" rtlCol="0" anchor="ctr"/>
          <a:lstStyle/>
          <a:p>
            <a:pPr indent="0" marL="0">
              <a:buNone/>
            </a:pPr>
            <a:r>
              <a:rPr lang="en-US" sz="1000" dirty="0">
                <a:solidFill>
                  <a:srgbClr val="64748B"/>
                </a:solidFill>
              </a:rPr>
              <a:t>You're stuck with weekly or monthly summaries — no way to analyse a trip, an event, or a custom date range.</a:t>
            </a:r>
            <a:endParaRPr lang="en-US" sz="1000" dirty="0"/>
          </a:p>
        </p:txBody>
      </p:sp>
      <p:sp>
        <p:nvSpPr>
          <p:cNvPr id="21" name="Text 19"/>
          <p:cNvSpPr/>
          <p:nvPr/>
        </p:nvSpPr>
        <p:spPr>
          <a:xfrm>
            <a:off x="502920" y="4572000"/>
            <a:ext cx="8138160" cy="274320"/>
          </a:xfrm>
          <a:prstGeom prst="rect">
            <a:avLst/>
          </a:prstGeom>
          <a:noFill/>
          <a:ln/>
        </p:spPr>
        <p:txBody>
          <a:bodyPr wrap="square" lIns="0" tIns="0" rIns="0" bIns="0" rtlCol="0" anchor="ctr"/>
          <a:lstStyle/>
          <a:p>
            <a:pPr algn="ctr" indent="0" marL="0">
              <a:buNone/>
            </a:pPr>
            <a:r>
              <a:rPr lang="en-US" sz="1100" i="1" dirty="0">
                <a:solidFill>
                  <a:srgbClr val="64748B"/>
                </a:solidFill>
              </a:rPr>
              <a:t>The result: most people have no idea where their money actually goes.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0B981"/>
          </a:solidFill>
          <a:ln w="12700">
            <a:solidFill>
              <a:srgbClr val="10B981"/>
            </a:solidFill>
            <a:prstDash val="solid"/>
          </a:ln>
        </p:spPr>
      </p:sp>
      <p:sp>
        <p:nvSpPr>
          <p:cNvPr id="3" name="Text 1"/>
          <p:cNvSpPr/>
          <p:nvPr/>
        </p:nvSpPr>
        <p:spPr>
          <a:xfrm>
            <a:off x="502920" y="457200"/>
            <a:ext cx="822960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What is ReceiptIQ?</a:t>
            </a:r>
            <a:endParaRPr lang="en-US" sz="3600" dirty="0"/>
          </a:p>
        </p:txBody>
      </p:sp>
      <p:sp>
        <p:nvSpPr>
          <p:cNvPr id="4" name="Text 2"/>
          <p:cNvSpPr/>
          <p:nvPr/>
        </p:nvSpPr>
        <p:spPr>
          <a:xfrm>
            <a:off x="502920" y="1188720"/>
            <a:ext cx="8229600" cy="731520"/>
          </a:xfrm>
          <a:prstGeom prst="rect">
            <a:avLst/>
          </a:prstGeom>
          <a:noFill/>
          <a:ln/>
        </p:spPr>
        <p:txBody>
          <a:bodyPr wrap="square" lIns="0" tIns="0" rIns="0" bIns="0" rtlCol="0" anchor="ctr"/>
          <a:lstStyle/>
          <a:p>
            <a:pPr indent="0" marL="0">
              <a:buNone/>
            </a:pPr>
            <a:r>
              <a:rPr lang="en-US" sz="1600" dirty="0">
                <a:solidFill>
                  <a:srgbClr val="C7D2FE"/>
                </a:solidFill>
                <a:latin typeface="Calibri" pitchFamily="34" charset="0"/>
                <a:ea typeface="Calibri" pitchFamily="34" charset="-122"/>
                <a:cs typeface="Calibri" pitchFamily="34" charset="-120"/>
              </a:rPr>
              <a:t>One app that captures every receipt, bill, and check automatically</a:t>
            </a:r>
            <a:endParaRPr lang="en-US" sz="1600" dirty="0"/>
          </a:p>
          <a:p>
            <a:pPr indent="0" marL="0">
              <a:buNone/>
            </a:pPr>
            <a:r>
              <a:rPr lang="en-US" sz="1600" dirty="0">
                <a:solidFill>
                  <a:srgbClr val="C7D2FE"/>
                </a:solidFill>
                <a:latin typeface="Calibri" pitchFamily="34" charset="0"/>
                <a:ea typeface="Calibri" pitchFamily="34" charset="-122"/>
                <a:cs typeface="Calibri" pitchFamily="34" charset="-120"/>
              </a:rPr>
              <a:t>— and turns them into real spending intelligence.</a:t>
            </a:r>
            <a:endParaRPr lang="en-US" sz="1600" dirty="0"/>
          </a:p>
        </p:txBody>
      </p:sp>
      <p:sp>
        <p:nvSpPr>
          <p:cNvPr id="5" name="Shape 3"/>
          <p:cNvSpPr/>
          <p:nvPr/>
        </p:nvSpPr>
        <p:spPr>
          <a:xfrm>
            <a:off x="502920" y="2148840"/>
            <a:ext cx="1920240" cy="2194560"/>
          </a:xfrm>
          <a:prstGeom prst="rect">
            <a:avLst/>
          </a:prstGeom>
          <a:solidFill>
            <a:srgbClr val="1E293B"/>
          </a:solidFill>
          <a:ln w="12700">
            <a:solidFill>
              <a:srgbClr val="334155"/>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1188720" y="2286000"/>
            <a:ext cx="548640" cy="548640"/>
          </a:xfrm>
          <a:prstGeom prst="ellipse">
            <a:avLst/>
          </a:prstGeom>
          <a:solidFill>
            <a:srgbClr val="6366F1"/>
          </a:solidFill>
          <a:ln w="12700">
            <a:solidFill>
              <a:srgbClr val="6366F1"/>
            </a:solidFill>
            <a:prstDash val="solid"/>
          </a:ln>
        </p:spPr>
      </p:sp>
      <p:pic>
        <p:nvPicPr>
          <p:cNvPr id="7" name="Image 0" descr="preencoded.png">    </p:cNvPr>
          <p:cNvPicPr>
            <a:picLocks noChangeAspect="1"/>
          </p:cNvPicPr>
          <p:nvPr/>
        </p:nvPicPr>
        <p:blipFill>
          <a:blip r:embed="rId1"/>
          <a:stretch>
            <a:fillRect/>
          </a:stretch>
        </p:blipFill>
        <p:spPr>
          <a:xfrm>
            <a:off x="1252728" y="2350008"/>
            <a:ext cx="420624" cy="420624"/>
          </a:xfrm>
          <a:prstGeom prst="rect">
            <a:avLst/>
          </a:prstGeom>
        </p:spPr>
      </p:pic>
      <p:sp>
        <p:nvSpPr>
          <p:cNvPr id="8" name="Text 5"/>
          <p:cNvSpPr/>
          <p:nvPr/>
        </p:nvSpPr>
        <p:spPr>
          <a:xfrm>
            <a:off x="594360" y="2944368"/>
            <a:ext cx="1737360" cy="320040"/>
          </a:xfrm>
          <a:prstGeom prst="rect">
            <a:avLst/>
          </a:prstGeom>
          <a:noFill/>
          <a:ln/>
        </p:spPr>
        <p:txBody>
          <a:bodyPr wrap="square" lIns="0" tIns="0" rIns="0" bIns="0" rtlCol="0" anchor="ctr"/>
          <a:lstStyle/>
          <a:p>
            <a:pPr algn="ctr" indent="0" marL="0">
              <a:buNone/>
            </a:pPr>
            <a:r>
              <a:rPr lang="en-US" sz="1100" b="1" dirty="0">
                <a:solidFill>
                  <a:srgbClr val="FFFFFF"/>
                </a:solidFill>
              </a:rPr>
              <a:t>Capture Everything</a:t>
            </a:r>
            <a:endParaRPr lang="en-US" sz="1100" dirty="0"/>
          </a:p>
        </p:txBody>
      </p:sp>
      <p:sp>
        <p:nvSpPr>
          <p:cNvPr id="9" name="Text 6"/>
          <p:cNvSpPr/>
          <p:nvPr/>
        </p:nvSpPr>
        <p:spPr>
          <a:xfrm>
            <a:off x="594360" y="3291840"/>
            <a:ext cx="1737360" cy="822960"/>
          </a:xfrm>
          <a:prstGeom prst="rect">
            <a:avLst/>
          </a:prstGeom>
          <a:noFill/>
          <a:ln/>
        </p:spPr>
        <p:txBody>
          <a:bodyPr wrap="square" lIns="0" tIns="0" rIns="0" bIns="0" rtlCol="0" anchor="ctr"/>
          <a:lstStyle/>
          <a:p>
            <a:pPr algn="ctr" indent="0" marL="0">
              <a:buNone/>
            </a:pPr>
            <a:r>
              <a:rPr lang="en-US" sz="900" dirty="0">
                <a:solidFill>
                  <a:srgbClr val="64748B"/>
                </a:solidFill>
              </a:rPr>
              <a:t>Retail, dining, utilities, subscriptions, travel, medical — every category, automatically.</a:t>
            </a:r>
            <a:endParaRPr lang="en-US" sz="900" dirty="0"/>
          </a:p>
        </p:txBody>
      </p:sp>
      <p:sp>
        <p:nvSpPr>
          <p:cNvPr id="10" name="Shape 7"/>
          <p:cNvSpPr/>
          <p:nvPr/>
        </p:nvSpPr>
        <p:spPr>
          <a:xfrm>
            <a:off x="2606040" y="2148840"/>
            <a:ext cx="1920240" cy="2194560"/>
          </a:xfrm>
          <a:prstGeom prst="rect">
            <a:avLst/>
          </a:prstGeom>
          <a:solidFill>
            <a:srgbClr val="1E293B"/>
          </a:solidFill>
          <a:ln w="12700">
            <a:solidFill>
              <a:srgbClr val="334155"/>
            </a:solidFill>
            <a:prstDash val="solid"/>
          </a:ln>
          <a:effectLst>
            <a:outerShdw sx="100000" sy="100000" kx="0" ky="0" algn="bl" rotWithShape="0" blurRad="101600" dist="38100" dir="8100000">
              <a:srgbClr val="000000">
                <a:alpha val="10000"/>
              </a:srgbClr>
            </a:outerShdw>
          </a:effectLst>
        </p:spPr>
      </p:sp>
      <p:sp>
        <p:nvSpPr>
          <p:cNvPr id="11" name="Shape 8"/>
          <p:cNvSpPr/>
          <p:nvPr/>
        </p:nvSpPr>
        <p:spPr>
          <a:xfrm>
            <a:off x="3291840" y="2286000"/>
            <a:ext cx="548640" cy="548640"/>
          </a:xfrm>
          <a:prstGeom prst="ellipse">
            <a:avLst/>
          </a:prstGeom>
          <a:solidFill>
            <a:srgbClr val="F59E0B"/>
          </a:solidFill>
          <a:ln w="12700">
            <a:solidFill>
              <a:srgbClr val="F59E0B"/>
            </a:solidFill>
            <a:prstDash val="solid"/>
          </a:ln>
        </p:spPr>
      </p:sp>
      <p:pic>
        <p:nvPicPr>
          <p:cNvPr id="12" name="Image 1" descr="preencoded.png">    </p:cNvPr>
          <p:cNvPicPr>
            <a:picLocks noChangeAspect="1"/>
          </p:cNvPicPr>
          <p:nvPr/>
        </p:nvPicPr>
        <p:blipFill>
          <a:blip r:embed="rId2"/>
          <a:stretch>
            <a:fillRect/>
          </a:stretch>
        </p:blipFill>
        <p:spPr>
          <a:xfrm>
            <a:off x="3355848" y="2350008"/>
            <a:ext cx="420624" cy="420624"/>
          </a:xfrm>
          <a:prstGeom prst="rect">
            <a:avLst/>
          </a:prstGeom>
        </p:spPr>
      </p:pic>
      <p:sp>
        <p:nvSpPr>
          <p:cNvPr id="13" name="Text 9"/>
          <p:cNvSpPr/>
          <p:nvPr/>
        </p:nvSpPr>
        <p:spPr>
          <a:xfrm>
            <a:off x="2697480" y="2944368"/>
            <a:ext cx="1737360" cy="320040"/>
          </a:xfrm>
          <a:prstGeom prst="rect">
            <a:avLst/>
          </a:prstGeom>
          <a:noFill/>
          <a:ln/>
        </p:spPr>
        <p:txBody>
          <a:bodyPr wrap="square" lIns="0" tIns="0" rIns="0" bIns="0" rtlCol="0" anchor="ctr"/>
          <a:lstStyle/>
          <a:p>
            <a:pPr algn="ctr" indent="0" marL="0">
              <a:buNone/>
            </a:pPr>
            <a:r>
              <a:rPr lang="en-US" sz="1100" b="1" dirty="0">
                <a:solidFill>
                  <a:srgbClr val="FFFFFF"/>
                </a:solidFill>
              </a:rPr>
              <a:t>Price Intelligence</a:t>
            </a:r>
            <a:endParaRPr lang="en-US" sz="1100" dirty="0"/>
          </a:p>
        </p:txBody>
      </p:sp>
      <p:sp>
        <p:nvSpPr>
          <p:cNvPr id="14" name="Text 10"/>
          <p:cNvSpPr/>
          <p:nvPr/>
        </p:nvSpPr>
        <p:spPr>
          <a:xfrm>
            <a:off x="2697480" y="3291840"/>
            <a:ext cx="1737360" cy="822960"/>
          </a:xfrm>
          <a:prstGeom prst="rect">
            <a:avLst/>
          </a:prstGeom>
          <a:noFill/>
          <a:ln/>
        </p:spPr>
        <p:txBody>
          <a:bodyPr wrap="square" lIns="0" tIns="0" rIns="0" bIns="0" rtlCol="0" anchor="ctr"/>
          <a:lstStyle/>
          <a:p>
            <a:pPr algn="ctr" indent="0" marL="0">
              <a:buNone/>
            </a:pPr>
            <a:r>
              <a:rPr lang="en-US" sz="900" dirty="0">
                <a:solidFill>
                  <a:srgbClr val="64748B"/>
                </a:solidFill>
              </a:rPr>
              <a:t>Track what you paid, compare across stores, and see your personal inflation rate.</a:t>
            </a:r>
            <a:endParaRPr lang="en-US" sz="900" dirty="0"/>
          </a:p>
        </p:txBody>
      </p:sp>
      <p:sp>
        <p:nvSpPr>
          <p:cNvPr id="15" name="Shape 11"/>
          <p:cNvSpPr/>
          <p:nvPr/>
        </p:nvSpPr>
        <p:spPr>
          <a:xfrm>
            <a:off x="4709160" y="2148840"/>
            <a:ext cx="1920240" cy="2194560"/>
          </a:xfrm>
          <a:prstGeom prst="rect">
            <a:avLst/>
          </a:prstGeom>
          <a:solidFill>
            <a:srgbClr val="1E293B"/>
          </a:solidFill>
          <a:ln w="12700">
            <a:solidFill>
              <a:srgbClr val="334155"/>
            </a:solidFill>
            <a:prstDash val="solid"/>
          </a:ln>
          <a:effectLst>
            <a:outerShdw sx="100000" sy="100000" kx="0" ky="0" algn="bl" rotWithShape="0" blurRad="101600" dist="38100" dir="8100000">
              <a:srgbClr val="000000">
                <a:alpha val="10000"/>
              </a:srgbClr>
            </a:outerShdw>
          </a:effectLst>
        </p:spPr>
      </p:sp>
      <p:sp>
        <p:nvSpPr>
          <p:cNvPr id="16" name="Shape 12"/>
          <p:cNvSpPr/>
          <p:nvPr/>
        </p:nvSpPr>
        <p:spPr>
          <a:xfrm>
            <a:off x="5394960" y="2286000"/>
            <a:ext cx="548640" cy="548640"/>
          </a:xfrm>
          <a:prstGeom prst="ellipse">
            <a:avLst/>
          </a:prstGeom>
          <a:solidFill>
            <a:srgbClr val="10B981"/>
          </a:solidFill>
          <a:ln w="12700">
            <a:solidFill>
              <a:srgbClr val="10B981"/>
            </a:solidFill>
            <a:prstDash val="solid"/>
          </a:ln>
        </p:spPr>
      </p:sp>
      <p:pic>
        <p:nvPicPr>
          <p:cNvPr id="17" name="Image 2" descr="preencoded.png">    </p:cNvPr>
          <p:cNvPicPr>
            <a:picLocks noChangeAspect="1"/>
          </p:cNvPicPr>
          <p:nvPr/>
        </p:nvPicPr>
        <p:blipFill>
          <a:blip r:embed="rId3"/>
          <a:stretch>
            <a:fillRect/>
          </a:stretch>
        </p:blipFill>
        <p:spPr>
          <a:xfrm>
            <a:off x="5458968" y="2350008"/>
            <a:ext cx="420624" cy="420624"/>
          </a:xfrm>
          <a:prstGeom prst="rect">
            <a:avLst/>
          </a:prstGeom>
        </p:spPr>
      </p:pic>
      <p:sp>
        <p:nvSpPr>
          <p:cNvPr id="18" name="Text 13"/>
          <p:cNvSpPr/>
          <p:nvPr/>
        </p:nvSpPr>
        <p:spPr>
          <a:xfrm>
            <a:off x="4800600" y="2944368"/>
            <a:ext cx="1737360" cy="320040"/>
          </a:xfrm>
          <a:prstGeom prst="rect">
            <a:avLst/>
          </a:prstGeom>
          <a:noFill/>
          <a:ln/>
        </p:spPr>
        <p:txBody>
          <a:bodyPr wrap="square" lIns="0" tIns="0" rIns="0" bIns="0" rtlCol="0" anchor="ctr"/>
          <a:lstStyle/>
          <a:p>
            <a:pPr algn="ctr" indent="0" marL="0">
              <a:buNone/>
            </a:pPr>
            <a:r>
              <a:rPr lang="en-US" sz="1100" b="1" dirty="0">
                <a:solidFill>
                  <a:srgbClr val="FFFFFF"/>
                </a:solidFill>
              </a:rPr>
              <a:t>Smart Shopping</a:t>
            </a:r>
            <a:endParaRPr lang="en-US" sz="1100" dirty="0"/>
          </a:p>
        </p:txBody>
      </p:sp>
      <p:sp>
        <p:nvSpPr>
          <p:cNvPr id="19" name="Text 14"/>
          <p:cNvSpPr/>
          <p:nvPr/>
        </p:nvSpPr>
        <p:spPr>
          <a:xfrm>
            <a:off x="4800600" y="3291840"/>
            <a:ext cx="1737360" cy="822960"/>
          </a:xfrm>
          <a:prstGeom prst="rect">
            <a:avLst/>
          </a:prstGeom>
          <a:noFill/>
          <a:ln/>
        </p:spPr>
        <p:txBody>
          <a:bodyPr wrap="square" lIns="0" tIns="0" rIns="0" bIns="0" rtlCol="0" anchor="ctr"/>
          <a:lstStyle/>
          <a:p>
            <a:pPr algn="ctr" indent="0" marL="0">
              <a:buNone/>
            </a:pPr>
            <a:r>
              <a:rPr lang="en-US" sz="900" dirty="0">
                <a:solidFill>
                  <a:srgbClr val="64748B"/>
                </a:solidFill>
              </a:rPr>
              <a:t>Upload your list, get cost estimates per store, and the optimal split to save the most.</a:t>
            </a:r>
            <a:endParaRPr lang="en-US" sz="900" dirty="0"/>
          </a:p>
        </p:txBody>
      </p:sp>
      <p:sp>
        <p:nvSpPr>
          <p:cNvPr id="20" name="Shape 15"/>
          <p:cNvSpPr/>
          <p:nvPr/>
        </p:nvSpPr>
        <p:spPr>
          <a:xfrm>
            <a:off x="6812280" y="2148840"/>
            <a:ext cx="1920240" cy="2194560"/>
          </a:xfrm>
          <a:prstGeom prst="rect">
            <a:avLst/>
          </a:prstGeom>
          <a:solidFill>
            <a:srgbClr val="1E293B"/>
          </a:solidFill>
          <a:ln w="12700">
            <a:solidFill>
              <a:srgbClr val="334155"/>
            </a:solidFill>
            <a:prstDash val="solid"/>
          </a:ln>
          <a:effectLst>
            <a:outerShdw sx="100000" sy="100000" kx="0" ky="0" algn="bl" rotWithShape="0" blurRad="101600" dist="38100" dir="8100000">
              <a:srgbClr val="000000">
                <a:alpha val="10000"/>
              </a:srgbClr>
            </a:outerShdw>
          </a:effectLst>
        </p:spPr>
      </p:sp>
      <p:sp>
        <p:nvSpPr>
          <p:cNvPr id="21" name="Shape 16"/>
          <p:cNvSpPr/>
          <p:nvPr/>
        </p:nvSpPr>
        <p:spPr>
          <a:xfrm>
            <a:off x="7498080" y="2286000"/>
            <a:ext cx="548640" cy="548640"/>
          </a:xfrm>
          <a:prstGeom prst="ellipse">
            <a:avLst/>
          </a:prstGeom>
          <a:solidFill>
            <a:srgbClr val="EC4899"/>
          </a:solidFill>
          <a:ln w="12700">
            <a:solidFill>
              <a:srgbClr val="EC4899"/>
            </a:solidFill>
            <a:prstDash val="solid"/>
          </a:ln>
        </p:spPr>
      </p:sp>
      <p:pic>
        <p:nvPicPr>
          <p:cNvPr id="22" name="Image 3" descr="preencoded.png">    </p:cNvPr>
          <p:cNvPicPr>
            <a:picLocks noChangeAspect="1"/>
          </p:cNvPicPr>
          <p:nvPr/>
        </p:nvPicPr>
        <p:blipFill>
          <a:blip r:embed="rId4"/>
          <a:stretch>
            <a:fillRect/>
          </a:stretch>
        </p:blipFill>
        <p:spPr>
          <a:xfrm>
            <a:off x="7562088" y="2350008"/>
            <a:ext cx="420624" cy="420624"/>
          </a:xfrm>
          <a:prstGeom prst="rect">
            <a:avLst/>
          </a:prstGeom>
        </p:spPr>
      </p:pic>
      <p:sp>
        <p:nvSpPr>
          <p:cNvPr id="23" name="Text 17"/>
          <p:cNvSpPr/>
          <p:nvPr/>
        </p:nvSpPr>
        <p:spPr>
          <a:xfrm>
            <a:off x="6903720" y="2944368"/>
            <a:ext cx="1737360" cy="320040"/>
          </a:xfrm>
          <a:prstGeom prst="rect">
            <a:avLst/>
          </a:prstGeom>
          <a:noFill/>
          <a:ln/>
        </p:spPr>
        <p:txBody>
          <a:bodyPr wrap="square" lIns="0" tIns="0" rIns="0" bIns="0" rtlCol="0" anchor="ctr"/>
          <a:lstStyle/>
          <a:p>
            <a:pPr algn="ctr" indent="0" marL="0">
              <a:buNone/>
            </a:pPr>
            <a:r>
              <a:rPr lang="en-US" sz="1100" b="1" dirty="0">
                <a:solidFill>
                  <a:srgbClr val="FFFFFF"/>
                </a:solidFill>
              </a:rPr>
              <a:t>40+ Analytics</a:t>
            </a:r>
            <a:endParaRPr lang="en-US" sz="1100" dirty="0"/>
          </a:p>
        </p:txBody>
      </p:sp>
      <p:sp>
        <p:nvSpPr>
          <p:cNvPr id="24" name="Text 18"/>
          <p:cNvSpPr/>
          <p:nvPr/>
        </p:nvSpPr>
        <p:spPr>
          <a:xfrm>
            <a:off x="6903720" y="3291840"/>
            <a:ext cx="1737360" cy="822960"/>
          </a:xfrm>
          <a:prstGeom prst="rect">
            <a:avLst/>
          </a:prstGeom>
          <a:noFill/>
          <a:ln/>
        </p:spPr>
        <p:txBody>
          <a:bodyPr wrap="square" lIns="0" tIns="0" rIns="0" bIns="0" rtlCol="0" anchor="ctr"/>
          <a:lstStyle/>
          <a:p>
            <a:pPr algn="ctr" indent="0" marL="0">
              <a:buNone/>
            </a:pPr>
            <a:r>
              <a:rPr lang="en-US" sz="900" dirty="0">
                <a:solidFill>
                  <a:srgbClr val="64748B"/>
                </a:solidFill>
              </a:rPr>
              <a:t>Custom date ranges, labelled periods, category trends, savings opportunities, forecasting.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256032"/>
            <a:ext cx="1371600" cy="256032"/>
          </a:xfrm>
          <a:prstGeom prst="rect">
            <a:avLst/>
          </a:prstGeom>
          <a:solidFill>
            <a:srgbClr val="6366F1"/>
          </a:solidFill>
          <a:ln w="12700">
            <a:solidFill>
              <a:srgbClr val="6366F1"/>
            </a:solidFill>
            <a:prstDash val="solid"/>
          </a:ln>
        </p:spPr>
      </p:sp>
      <p:sp>
        <p:nvSpPr>
          <p:cNvPr id="3" name="Text 1"/>
          <p:cNvSpPr/>
          <p:nvPr/>
        </p:nvSpPr>
        <p:spPr>
          <a:xfrm>
            <a:off x="502920" y="256032"/>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rPr>
              <a:t>MARKET</a:t>
            </a:r>
            <a:endParaRPr lang="en-US" sz="800" dirty="0"/>
          </a:p>
        </p:txBody>
      </p:sp>
      <p:sp>
        <p:nvSpPr>
          <p:cNvPr id="4" name="Text 2"/>
          <p:cNvSpPr/>
          <p:nvPr/>
        </p:nvSpPr>
        <p:spPr>
          <a:xfrm>
            <a:off x="502920" y="594360"/>
            <a:ext cx="813816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No existing app covers the full picture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8138160" cy="914400"/>
        </p:xfrm>
        <a:graphic>
          <a:graphicData uri="http://schemas.openxmlformats.org/drawingml/2006/table">
            <a:tbl>
              <a:tblPr/>
              <a:tblGrid>
                <a:gridCol w="1645920"/>
                <a:gridCol w="1280160"/>
                <a:gridCol w="1188720"/>
                <a:gridCol w="1188720"/>
                <a:gridCol w="1188720"/>
                <a:gridCol w="1188720"/>
              </a:tblGrid>
              <a:tr h="0">
                <a:tc>
                  <a:txBody>
                    <a:bodyPr/>
                    <a:lstStyle/>
                    <a:p>
                      <a:pPr algn="l" indent="0" marL="0">
                        <a:buNone/>
                      </a:pPr>
                      <a:r>
                        <a:rPr lang="en-US" sz="900" b="1" dirty="0">
                          <a:solidFill>
                            <a:srgbClr val="FFFFFF"/>
                          </a:solidFill>
                        </a:rPr>
                        <a:t>App</a:t>
                      </a:r>
                      <a:endParaRPr lang="en-US" sz="9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Category Tracking</a:t>
                      </a:r>
                      <a:endParaRPr lang="en-US" sz="9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Auto-Ingestion</a:t>
                      </a:r>
                      <a:endParaRPr lang="en-US" sz="9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Price Compare</a:t>
                      </a:r>
                      <a:endParaRPr lang="en-US" sz="9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Bills &amp; Checks</a:t>
                      </a:r>
                      <a:endParaRPr lang="en-US" sz="9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Custom Reports</a:t>
                      </a:r>
                      <a:endParaRPr lang="en-US" sz="9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0">
                <a:tc>
                  <a:txBody>
                    <a:bodyPr/>
                    <a:lstStyle/>
                    <a:p>
                      <a:pPr algn="l" indent="0" marL="0">
                        <a:buNone/>
                      </a:pPr>
                      <a:r>
                        <a:rPr lang="en-US" sz="1000" dirty="0">
                          <a:solidFill>
                            <a:srgbClr val="0F172A"/>
                          </a:solidFill>
                        </a:rPr>
                        <a:t>Groceries Tracker</a:t>
                      </a:r>
                      <a:endParaRPr lang="en-US" sz="10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rPr>
                        <a:t>Grocery only</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172A"/>
                          </a:solidFill>
                        </a:rPr>
                        <a:t>Store only</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0F172A"/>
                          </a:solidFill>
                        </a:rPr>
                        <a:t>Expensify</a:t>
                      </a:r>
                      <a:endParaRPr lang="en-US" sz="10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0F172A"/>
                          </a:solidFill>
                        </a:rPr>
                        <a:t>Business only</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EF4444"/>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EF4444"/>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EF4444"/>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EF4444"/>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0">
                <a:tc>
                  <a:txBody>
                    <a:bodyPr/>
                    <a:lstStyle/>
                    <a:p>
                      <a:pPr algn="l" indent="0" marL="0">
                        <a:buNone/>
                      </a:pPr>
                      <a:r>
                        <a:rPr lang="en-US" sz="1000" dirty="0">
                          <a:solidFill>
                            <a:srgbClr val="0F172A"/>
                          </a:solidFill>
                        </a:rPr>
                        <a:t>Fetch Rewards</a:t>
                      </a:r>
                      <a:endParaRPr lang="en-US" sz="10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0F172A"/>
                          </a:solidFill>
                        </a:rPr>
                        <a:t>Mint / YNAB</a:t>
                      </a:r>
                      <a:endParaRPr lang="en-US" sz="10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0F172A"/>
                          </a:solidFill>
                        </a:rPr>
                        <a:t>All categories</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EF4444"/>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EF4444"/>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EF4444"/>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0F172A"/>
                          </a:solidFill>
                        </a:rPr>
                        <a:t>Basic</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0">
                <a:tc>
                  <a:txBody>
                    <a:bodyPr/>
                    <a:lstStyle/>
                    <a:p>
                      <a:pPr algn="l" indent="0" marL="0">
                        <a:buNone/>
                      </a:pPr>
                      <a:r>
                        <a:rPr lang="en-US" sz="1000" b="1" dirty="0">
                          <a:solidFill>
                            <a:srgbClr val="6366F1"/>
                          </a:solidFill>
                        </a:rPr>
                        <a:t>ReceiptIQ</a:t>
                      </a:r>
                      <a:endParaRPr lang="en-US" sz="10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F"/>
                    </a:solidFill>
                  </a:tcPr>
                </a:tc>
                <a:tc>
                  <a:txBody>
                    <a:bodyPr/>
                    <a:lstStyle/>
                    <a:p>
                      <a:pPr algn="ctr" indent="0" marL="0">
                        <a:buNone/>
                      </a:pPr>
                      <a:r>
                        <a:rPr lang="en-US" sz="1100" b="1" dirty="0">
                          <a:solidFill>
                            <a:srgbClr val="6366F1"/>
                          </a:solidFill>
                        </a:rPr>
                        <a:t>All categories</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F"/>
                    </a:solidFill>
                  </a:tcPr>
                </a:tc>
                <a:tc>
                  <a:txBody>
                    <a:bodyPr/>
                    <a:lstStyle/>
                    <a:p>
                      <a:pPr algn="ctr" indent="0" marL="0">
                        <a:buNone/>
                      </a:pPr>
                      <a:r>
                        <a:rPr lang="en-US" sz="1100" b="1" dirty="0">
                          <a:solidFill>
                            <a:srgbClr val="10B981"/>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F"/>
                    </a:solidFill>
                  </a:tcPr>
                </a:tc>
                <a:tc>
                  <a:txBody>
                    <a:bodyPr/>
                    <a:lstStyle/>
                    <a:p>
                      <a:pPr algn="ctr" indent="0" marL="0">
                        <a:buNone/>
                      </a:pPr>
                      <a:r>
                        <a:rPr lang="en-US" sz="1100" b="1" dirty="0">
                          <a:solidFill>
                            <a:srgbClr val="10B981"/>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F"/>
                    </a:solidFill>
                  </a:tcPr>
                </a:tc>
                <a:tc>
                  <a:txBody>
                    <a:bodyPr/>
                    <a:lstStyle/>
                    <a:p>
                      <a:pPr algn="ctr" indent="0" marL="0">
                        <a:buNone/>
                      </a:pPr>
                      <a:r>
                        <a:rPr lang="en-US" sz="1100" b="1" dirty="0">
                          <a:solidFill>
                            <a:srgbClr val="10B981"/>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F"/>
                    </a:solidFill>
                  </a:tcPr>
                </a:tc>
                <a:tc>
                  <a:txBody>
                    <a:bodyPr/>
                    <a:lstStyle/>
                    <a:p>
                      <a:pPr algn="ctr" indent="0" marL="0">
                        <a:buNone/>
                      </a:pPr>
                      <a:r>
                        <a:rPr lang="en-US" sz="1100" b="1" dirty="0">
                          <a:solidFill>
                            <a:srgbClr val="10B981"/>
                          </a:solidFill>
                        </a:rPr>
                        <a:t>✓</a:t>
                      </a:r>
                      <a:endParaRPr lang="en-US" sz="1100" dirty="0"/>
                    </a:p>
                  </a:txBody>
                  <a:tcPr marL="0" marR="50800" marT="38100" marB="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F"/>
                    </a:solidFill>
                  </a:tcPr>
                </a:tc>
              </a:tr>
            </a:tbl>
          </a:graphicData>
        </a:graphic>
      </p:graphicFrame>
      <p:sp>
        <p:nvSpPr>
          <p:cNvPr id="6" name="Shape 3"/>
          <p:cNvSpPr/>
          <p:nvPr/>
        </p:nvSpPr>
        <p:spPr>
          <a:xfrm>
            <a:off x="502920" y="4389120"/>
            <a:ext cx="8138160" cy="347472"/>
          </a:xfrm>
          <a:prstGeom prst="rect">
            <a:avLst/>
          </a:prstGeom>
          <a:solidFill>
            <a:srgbClr val="EEF2FF"/>
          </a:solidFill>
          <a:ln w="12700">
            <a:solidFill>
              <a:srgbClr val="C7D2FE"/>
            </a:solidFill>
            <a:prstDash val="solid"/>
          </a:ln>
        </p:spPr>
      </p:sp>
      <p:sp>
        <p:nvSpPr>
          <p:cNvPr id="7" name="Text 4"/>
          <p:cNvSpPr/>
          <p:nvPr/>
        </p:nvSpPr>
        <p:spPr>
          <a:xfrm>
            <a:off x="640080" y="4416552"/>
            <a:ext cx="7863840" cy="292608"/>
          </a:xfrm>
          <a:prstGeom prst="rect">
            <a:avLst/>
          </a:prstGeom>
          <a:noFill/>
          <a:ln/>
        </p:spPr>
        <p:txBody>
          <a:bodyPr wrap="square" lIns="0" tIns="0" rIns="0" bIns="0" rtlCol="0" anchor="ctr"/>
          <a:lstStyle/>
          <a:p>
            <a:pPr indent="0" marL="0">
              <a:buNone/>
            </a:pPr>
            <a:r>
              <a:rPr lang="en-US" sz="1000" b="1" dirty="0">
                <a:solidFill>
                  <a:srgbClr val="6366F1"/>
                </a:solidFill>
              </a:rPr>
              <a:t>ReceiptIQ is the only app that combines all five capabilities in one place.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256032"/>
            <a:ext cx="1371600" cy="256032"/>
          </a:xfrm>
          <a:prstGeom prst="rect">
            <a:avLst/>
          </a:prstGeom>
          <a:solidFill>
            <a:srgbClr val="6366F1"/>
          </a:solidFill>
          <a:ln w="12700">
            <a:solidFill>
              <a:srgbClr val="6366F1"/>
            </a:solidFill>
            <a:prstDash val="solid"/>
          </a:ln>
        </p:spPr>
      </p:sp>
      <p:sp>
        <p:nvSpPr>
          <p:cNvPr id="3" name="Text 1"/>
          <p:cNvSpPr/>
          <p:nvPr/>
        </p:nvSpPr>
        <p:spPr>
          <a:xfrm>
            <a:off x="502920" y="256032"/>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rPr>
              <a:t>AUTO-INGESTION</a:t>
            </a:r>
            <a:endParaRPr lang="en-US" sz="800" dirty="0"/>
          </a:p>
        </p:txBody>
      </p:sp>
      <p:sp>
        <p:nvSpPr>
          <p:cNvPr id="4" name="Text 2"/>
          <p:cNvSpPr/>
          <p:nvPr/>
        </p:nvSpPr>
        <p:spPr>
          <a:xfrm>
            <a:off x="502920" y="594360"/>
            <a:ext cx="813816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Receipts flow in automatically — no scanning needed</a:t>
            </a:r>
            <a:endParaRPr lang="en-US" sz="2800" dirty="0"/>
          </a:p>
        </p:txBody>
      </p:sp>
      <p:sp>
        <p:nvSpPr>
          <p:cNvPr id="5" name="Shape 3"/>
          <p:cNvSpPr/>
          <p:nvPr/>
        </p:nvSpPr>
        <p:spPr>
          <a:xfrm>
            <a:off x="502920" y="1463040"/>
            <a:ext cx="4023360" cy="1280160"/>
          </a:xfrm>
          <a:prstGeom prst="rect">
            <a:avLst/>
          </a:prstGeom>
          <a:solidFill>
            <a:srgbClr val="EEF2FF"/>
          </a:solidFill>
          <a:ln w="12700">
            <a:solidFill>
              <a:srgbClr val="C7D2FE"/>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667512" y="1783080"/>
            <a:ext cx="594360" cy="594360"/>
          </a:xfrm>
          <a:prstGeom prst="ellipse">
            <a:avLst/>
          </a:prstGeom>
          <a:solidFill>
            <a:srgbClr val="6366F1"/>
          </a:solidFill>
          <a:ln w="12700">
            <a:solidFill>
              <a:srgbClr val="6366F1"/>
            </a:solidFill>
            <a:prstDash val="solid"/>
          </a:ln>
        </p:spPr>
      </p:sp>
      <p:pic>
        <p:nvPicPr>
          <p:cNvPr id="7" name="Image 0" descr="preencoded.png">    </p:cNvPr>
          <p:cNvPicPr>
            <a:picLocks noChangeAspect="1"/>
          </p:cNvPicPr>
          <p:nvPr/>
        </p:nvPicPr>
        <p:blipFill>
          <a:blip r:embed="rId1"/>
          <a:stretch>
            <a:fillRect/>
          </a:stretch>
        </p:blipFill>
        <p:spPr>
          <a:xfrm>
            <a:off x="740664" y="1856232"/>
            <a:ext cx="448056" cy="448056"/>
          </a:xfrm>
          <a:prstGeom prst="rect">
            <a:avLst/>
          </a:prstGeom>
        </p:spPr>
      </p:pic>
      <p:sp>
        <p:nvSpPr>
          <p:cNvPr id="8" name="Text 5"/>
          <p:cNvSpPr/>
          <p:nvPr/>
        </p:nvSpPr>
        <p:spPr>
          <a:xfrm>
            <a:off x="1417320" y="1600200"/>
            <a:ext cx="2926080" cy="256032"/>
          </a:xfrm>
          <a:prstGeom prst="rect">
            <a:avLst/>
          </a:prstGeom>
          <a:noFill/>
          <a:ln/>
        </p:spPr>
        <p:txBody>
          <a:bodyPr wrap="square" lIns="0" tIns="0" rIns="0" bIns="0" rtlCol="0" anchor="ctr"/>
          <a:lstStyle/>
          <a:p>
            <a:pPr indent="0" marL="0">
              <a:buNone/>
            </a:pPr>
            <a:r>
              <a:rPr lang="en-US" sz="1200" b="1" dirty="0">
                <a:solidFill>
                  <a:srgbClr val="0F172A"/>
                </a:solidFill>
              </a:rPr>
              <a:t>Gmail / Outlook</a:t>
            </a:r>
            <a:endParaRPr lang="en-US" sz="1200" dirty="0"/>
          </a:p>
        </p:txBody>
      </p:sp>
      <p:sp>
        <p:nvSpPr>
          <p:cNvPr id="9" name="Text 6"/>
          <p:cNvSpPr/>
          <p:nvPr/>
        </p:nvSpPr>
        <p:spPr>
          <a:xfrm>
            <a:off x="1417320" y="1874520"/>
            <a:ext cx="2926080" cy="685800"/>
          </a:xfrm>
          <a:prstGeom prst="rect">
            <a:avLst/>
          </a:prstGeom>
          <a:noFill/>
          <a:ln/>
        </p:spPr>
        <p:txBody>
          <a:bodyPr wrap="square" lIns="0" tIns="0" rIns="0" bIns="0" rtlCol="0" anchor="ctr"/>
          <a:lstStyle/>
          <a:p>
            <a:pPr indent="0" marL="0">
              <a:buNone/>
            </a:pPr>
            <a:r>
              <a:rPr lang="en-US" sz="1000" dirty="0">
                <a:solidFill>
                  <a:srgbClr val="64748B"/>
                </a:solidFill>
              </a:rPr>
              <a:t>Connect once. AI watches for receipts from 20+ retailers and ingests them in the background.</a:t>
            </a:r>
            <a:endParaRPr lang="en-US" sz="1000" dirty="0"/>
          </a:p>
        </p:txBody>
      </p:sp>
      <p:sp>
        <p:nvSpPr>
          <p:cNvPr id="10" name="Shape 7"/>
          <p:cNvSpPr/>
          <p:nvPr/>
        </p:nvSpPr>
        <p:spPr>
          <a:xfrm>
            <a:off x="4846320" y="1463040"/>
            <a:ext cx="4023360" cy="1280160"/>
          </a:xfrm>
          <a:prstGeom prst="rect">
            <a:avLst/>
          </a:prstGeom>
          <a:solidFill>
            <a:srgbClr val="EEF2FF"/>
          </a:solidFill>
          <a:ln w="12700">
            <a:solidFill>
              <a:srgbClr val="C7D2FE"/>
            </a:solidFill>
            <a:prstDash val="solid"/>
          </a:ln>
          <a:effectLst>
            <a:outerShdw sx="100000" sy="100000" kx="0" ky="0" algn="bl" rotWithShape="0" blurRad="101600" dist="38100" dir="8100000">
              <a:srgbClr val="000000">
                <a:alpha val="10000"/>
              </a:srgbClr>
            </a:outerShdw>
          </a:effectLst>
        </p:spPr>
      </p:sp>
      <p:sp>
        <p:nvSpPr>
          <p:cNvPr id="11" name="Shape 8"/>
          <p:cNvSpPr/>
          <p:nvPr/>
        </p:nvSpPr>
        <p:spPr>
          <a:xfrm>
            <a:off x="5010912" y="1783080"/>
            <a:ext cx="594360" cy="594360"/>
          </a:xfrm>
          <a:prstGeom prst="ellipse">
            <a:avLst/>
          </a:prstGeom>
          <a:solidFill>
            <a:srgbClr val="6366F1"/>
          </a:solidFill>
          <a:ln w="12700">
            <a:solidFill>
              <a:srgbClr val="6366F1"/>
            </a:solidFill>
            <a:prstDash val="solid"/>
          </a:ln>
        </p:spPr>
      </p:sp>
      <p:pic>
        <p:nvPicPr>
          <p:cNvPr id="12" name="Image 1" descr="preencoded.png">    </p:cNvPr>
          <p:cNvPicPr>
            <a:picLocks noChangeAspect="1"/>
          </p:cNvPicPr>
          <p:nvPr/>
        </p:nvPicPr>
        <p:blipFill>
          <a:blip r:embed="rId2"/>
          <a:stretch>
            <a:fillRect/>
          </a:stretch>
        </p:blipFill>
        <p:spPr>
          <a:xfrm>
            <a:off x="5084064" y="1856232"/>
            <a:ext cx="448056" cy="448056"/>
          </a:xfrm>
          <a:prstGeom prst="rect">
            <a:avLst/>
          </a:prstGeom>
        </p:spPr>
      </p:pic>
      <p:sp>
        <p:nvSpPr>
          <p:cNvPr id="13" name="Text 9"/>
          <p:cNvSpPr/>
          <p:nvPr/>
        </p:nvSpPr>
        <p:spPr>
          <a:xfrm>
            <a:off x="5760720" y="1600200"/>
            <a:ext cx="2926080" cy="256032"/>
          </a:xfrm>
          <a:prstGeom prst="rect">
            <a:avLst/>
          </a:prstGeom>
          <a:noFill/>
          <a:ln/>
        </p:spPr>
        <p:txBody>
          <a:bodyPr wrap="square" lIns="0" tIns="0" rIns="0" bIns="0" rtlCol="0" anchor="ctr"/>
          <a:lstStyle/>
          <a:p>
            <a:pPr indent="0" marL="0">
              <a:buNone/>
            </a:pPr>
            <a:r>
              <a:rPr lang="en-US" sz="1200" b="1" dirty="0">
                <a:solidFill>
                  <a:srgbClr val="0F172A"/>
                </a:solidFill>
              </a:rPr>
              <a:t>Camera Scan</a:t>
            </a:r>
            <a:endParaRPr lang="en-US" sz="1200" dirty="0"/>
          </a:p>
        </p:txBody>
      </p:sp>
      <p:sp>
        <p:nvSpPr>
          <p:cNvPr id="14" name="Text 10"/>
          <p:cNvSpPr/>
          <p:nvPr/>
        </p:nvSpPr>
        <p:spPr>
          <a:xfrm>
            <a:off x="5760720" y="1874520"/>
            <a:ext cx="2926080" cy="685800"/>
          </a:xfrm>
          <a:prstGeom prst="rect">
            <a:avLst/>
          </a:prstGeom>
          <a:noFill/>
          <a:ln/>
        </p:spPr>
        <p:txBody>
          <a:bodyPr wrap="square" lIns="0" tIns="0" rIns="0" bIns="0" rtlCol="0" anchor="ctr"/>
          <a:lstStyle/>
          <a:p>
            <a:pPr indent="0" marL="0">
              <a:buNone/>
            </a:pPr>
            <a:r>
              <a:rPr lang="en-US" sz="1000" dirty="0">
                <a:solidFill>
                  <a:srgbClr val="64748B"/>
                </a:solidFill>
              </a:rPr>
              <a:t>Snap any paper receipt. AI extracts every line item — store, date, items, prices.</a:t>
            </a:r>
            <a:endParaRPr lang="en-US" sz="1000" dirty="0"/>
          </a:p>
        </p:txBody>
      </p:sp>
      <p:sp>
        <p:nvSpPr>
          <p:cNvPr id="15" name="Shape 11"/>
          <p:cNvSpPr/>
          <p:nvPr/>
        </p:nvSpPr>
        <p:spPr>
          <a:xfrm>
            <a:off x="502920" y="2926080"/>
            <a:ext cx="4023360" cy="1280160"/>
          </a:xfrm>
          <a:prstGeom prst="rect">
            <a:avLst/>
          </a:prstGeom>
          <a:solidFill>
            <a:srgbClr val="EEF2FF"/>
          </a:solidFill>
          <a:ln w="12700">
            <a:solidFill>
              <a:srgbClr val="C7D2FE"/>
            </a:solidFill>
            <a:prstDash val="solid"/>
          </a:ln>
          <a:effectLst>
            <a:outerShdw sx="100000" sy="100000" kx="0" ky="0" algn="bl" rotWithShape="0" blurRad="101600" dist="38100" dir="8100000">
              <a:srgbClr val="000000">
                <a:alpha val="10000"/>
              </a:srgbClr>
            </a:outerShdw>
          </a:effectLst>
        </p:spPr>
      </p:sp>
      <p:sp>
        <p:nvSpPr>
          <p:cNvPr id="16" name="Shape 12"/>
          <p:cNvSpPr/>
          <p:nvPr/>
        </p:nvSpPr>
        <p:spPr>
          <a:xfrm>
            <a:off x="667512" y="3246120"/>
            <a:ext cx="594360" cy="594360"/>
          </a:xfrm>
          <a:prstGeom prst="ellipse">
            <a:avLst/>
          </a:prstGeom>
          <a:solidFill>
            <a:srgbClr val="6366F1"/>
          </a:solidFill>
          <a:ln w="12700">
            <a:solidFill>
              <a:srgbClr val="6366F1"/>
            </a:solidFill>
            <a:prstDash val="solid"/>
          </a:ln>
        </p:spPr>
      </p:sp>
      <p:pic>
        <p:nvPicPr>
          <p:cNvPr id="17" name="Image 2" descr="preencoded.png">    </p:cNvPr>
          <p:cNvPicPr>
            <a:picLocks noChangeAspect="1"/>
          </p:cNvPicPr>
          <p:nvPr/>
        </p:nvPicPr>
        <p:blipFill>
          <a:blip r:embed="rId3"/>
          <a:stretch>
            <a:fillRect/>
          </a:stretch>
        </p:blipFill>
        <p:spPr>
          <a:xfrm>
            <a:off x="740664" y="3319272"/>
            <a:ext cx="448056" cy="448056"/>
          </a:xfrm>
          <a:prstGeom prst="rect">
            <a:avLst/>
          </a:prstGeom>
        </p:spPr>
      </p:pic>
      <p:sp>
        <p:nvSpPr>
          <p:cNvPr id="18" name="Text 13"/>
          <p:cNvSpPr/>
          <p:nvPr/>
        </p:nvSpPr>
        <p:spPr>
          <a:xfrm>
            <a:off x="1417320" y="3063240"/>
            <a:ext cx="2926080" cy="256032"/>
          </a:xfrm>
          <a:prstGeom prst="rect">
            <a:avLst/>
          </a:prstGeom>
          <a:noFill/>
          <a:ln/>
        </p:spPr>
        <p:txBody>
          <a:bodyPr wrap="square" lIns="0" tIns="0" rIns="0" bIns="0" rtlCol="0" anchor="ctr"/>
          <a:lstStyle/>
          <a:p>
            <a:pPr indent="0" marL="0">
              <a:buNone/>
            </a:pPr>
            <a:r>
              <a:rPr lang="en-US" sz="1200" b="1" dirty="0">
                <a:solidFill>
                  <a:srgbClr val="0F172A"/>
                </a:solidFill>
              </a:rPr>
              <a:t>Browser Extension</a:t>
            </a:r>
            <a:endParaRPr lang="en-US" sz="1200" dirty="0"/>
          </a:p>
        </p:txBody>
      </p:sp>
      <p:sp>
        <p:nvSpPr>
          <p:cNvPr id="19" name="Text 14"/>
          <p:cNvSpPr/>
          <p:nvPr/>
        </p:nvSpPr>
        <p:spPr>
          <a:xfrm>
            <a:off x="1417320" y="3337560"/>
            <a:ext cx="2926080" cy="685800"/>
          </a:xfrm>
          <a:prstGeom prst="rect">
            <a:avLst/>
          </a:prstGeom>
          <a:noFill/>
          <a:ln/>
        </p:spPr>
        <p:txBody>
          <a:bodyPr wrap="square" lIns="0" tIns="0" rIns="0" bIns="0" rtlCol="0" anchor="ctr"/>
          <a:lstStyle/>
          <a:p>
            <a:pPr indent="0" marL="0">
              <a:buNone/>
            </a:pPr>
            <a:r>
              <a:rPr lang="en-US" sz="1000" dirty="0">
                <a:solidFill>
                  <a:srgbClr val="64748B"/>
                </a:solidFill>
              </a:rPr>
              <a:t>Pulls full order history from Amazon, Costco, Walmart on demand.</a:t>
            </a:r>
            <a:endParaRPr lang="en-US" sz="1000" dirty="0"/>
          </a:p>
        </p:txBody>
      </p:sp>
      <p:sp>
        <p:nvSpPr>
          <p:cNvPr id="20" name="Shape 15"/>
          <p:cNvSpPr/>
          <p:nvPr/>
        </p:nvSpPr>
        <p:spPr>
          <a:xfrm>
            <a:off x="4846320" y="2926080"/>
            <a:ext cx="4023360" cy="1280160"/>
          </a:xfrm>
          <a:prstGeom prst="rect">
            <a:avLst/>
          </a:prstGeom>
          <a:solidFill>
            <a:srgbClr val="EEF2FF"/>
          </a:solidFill>
          <a:ln w="12700">
            <a:solidFill>
              <a:srgbClr val="C7D2FE"/>
            </a:solidFill>
            <a:prstDash val="solid"/>
          </a:ln>
          <a:effectLst>
            <a:outerShdw sx="100000" sy="100000" kx="0" ky="0" algn="bl" rotWithShape="0" blurRad="101600" dist="38100" dir="8100000">
              <a:srgbClr val="000000">
                <a:alpha val="10000"/>
              </a:srgbClr>
            </a:outerShdw>
          </a:effectLst>
        </p:spPr>
      </p:sp>
      <p:sp>
        <p:nvSpPr>
          <p:cNvPr id="21" name="Shape 16"/>
          <p:cNvSpPr/>
          <p:nvPr/>
        </p:nvSpPr>
        <p:spPr>
          <a:xfrm>
            <a:off x="5010912" y="3246120"/>
            <a:ext cx="594360" cy="594360"/>
          </a:xfrm>
          <a:prstGeom prst="ellipse">
            <a:avLst/>
          </a:prstGeom>
          <a:solidFill>
            <a:srgbClr val="6366F1"/>
          </a:solidFill>
          <a:ln w="12700">
            <a:solidFill>
              <a:srgbClr val="6366F1"/>
            </a:solidFill>
            <a:prstDash val="solid"/>
          </a:ln>
        </p:spPr>
      </p:sp>
      <p:pic>
        <p:nvPicPr>
          <p:cNvPr id="22" name="Image 3" descr="preencoded.png">    </p:cNvPr>
          <p:cNvPicPr>
            <a:picLocks noChangeAspect="1"/>
          </p:cNvPicPr>
          <p:nvPr/>
        </p:nvPicPr>
        <p:blipFill>
          <a:blip r:embed="rId4"/>
          <a:stretch>
            <a:fillRect/>
          </a:stretch>
        </p:blipFill>
        <p:spPr>
          <a:xfrm>
            <a:off x="5084064" y="3319272"/>
            <a:ext cx="448056" cy="448056"/>
          </a:xfrm>
          <a:prstGeom prst="rect">
            <a:avLst/>
          </a:prstGeom>
        </p:spPr>
      </p:pic>
      <p:sp>
        <p:nvSpPr>
          <p:cNvPr id="23" name="Text 17"/>
          <p:cNvSpPr/>
          <p:nvPr/>
        </p:nvSpPr>
        <p:spPr>
          <a:xfrm>
            <a:off x="5760720" y="3063240"/>
            <a:ext cx="2926080" cy="256032"/>
          </a:xfrm>
          <a:prstGeom prst="rect">
            <a:avLst/>
          </a:prstGeom>
          <a:noFill/>
          <a:ln/>
        </p:spPr>
        <p:txBody>
          <a:bodyPr wrap="square" lIns="0" tIns="0" rIns="0" bIns="0" rtlCol="0" anchor="ctr"/>
          <a:lstStyle/>
          <a:p>
            <a:pPr indent="0" marL="0">
              <a:buNone/>
            </a:pPr>
            <a:r>
              <a:rPr lang="en-US" sz="1200" b="1" dirty="0">
                <a:solidFill>
                  <a:srgbClr val="0F172A"/>
                </a:solidFill>
              </a:rPr>
              <a:t>Forward-to-Email</a:t>
            </a:r>
            <a:endParaRPr lang="en-US" sz="1200" dirty="0"/>
          </a:p>
        </p:txBody>
      </p:sp>
      <p:sp>
        <p:nvSpPr>
          <p:cNvPr id="24" name="Text 18"/>
          <p:cNvSpPr/>
          <p:nvPr/>
        </p:nvSpPr>
        <p:spPr>
          <a:xfrm>
            <a:off x="5760720" y="3337560"/>
            <a:ext cx="2926080" cy="685800"/>
          </a:xfrm>
          <a:prstGeom prst="rect">
            <a:avLst/>
          </a:prstGeom>
          <a:noFill/>
          <a:ln/>
        </p:spPr>
        <p:txBody>
          <a:bodyPr wrap="square" lIns="0" tIns="0" rIns="0" bIns="0" rtlCol="0" anchor="ctr"/>
          <a:lstStyle/>
          <a:p>
            <a:pPr indent="0" marL="0">
              <a:buNone/>
            </a:pPr>
            <a:r>
              <a:rPr lang="en-US" sz="1000" dirty="0">
                <a:solidFill>
                  <a:srgbClr val="64748B"/>
                </a:solidFill>
              </a:rPr>
              <a:t>Get a personal address (you@receipts.receiptiq.app). Forward anything to it.</a:t>
            </a:r>
            <a:endParaRPr lang="en-US" sz="1000" dirty="0"/>
          </a:p>
        </p:txBody>
      </p:sp>
      <p:sp>
        <p:nvSpPr>
          <p:cNvPr id="25" name="Text 19"/>
          <p:cNvSpPr/>
          <p:nvPr/>
        </p:nvSpPr>
        <p:spPr>
          <a:xfrm>
            <a:off x="502920" y="4553712"/>
            <a:ext cx="8138160" cy="320040"/>
          </a:xfrm>
          <a:prstGeom prst="rect">
            <a:avLst/>
          </a:prstGeom>
          <a:noFill/>
          <a:ln/>
        </p:spPr>
        <p:txBody>
          <a:bodyPr wrap="square" lIns="0" tIns="0" rIns="0" bIns="0" rtlCol="0" anchor="ctr"/>
          <a:lstStyle/>
          <a:p>
            <a:pPr indent="0" marL="0">
              <a:buNone/>
            </a:pPr>
            <a:r>
              <a:rPr lang="en-US" sz="900" i="1" dirty="0">
                <a:solidFill>
                  <a:srgbClr val="64748B"/>
                </a:solidFill>
              </a:rPr>
              <a:t>📧 Once connected, receipts from Amazon, Walmart, Costco, Target, Whole Foods, DoorDash, Instacart, Uber Eats, Netflix, Spotify, Airbnb and 10+ more flow in automatically.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256032"/>
            <a:ext cx="1371600" cy="256032"/>
          </a:xfrm>
          <a:prstGeom prst="rect">
            <a:avLst/>
          </a:prstGeom>
          <a:solidFill>
            <a:srgbClr val="10B981"/>
          </a:solidFill>
          <a:ln w="12700">
            <a:solidFill>
              <a:srgbClr val="10B981"/>
            </a:solidFill>
            <a:prstDash val="solid"/>
          </a:ln>
        </p:spPr>
      </p:sp>
      <p:sp>
        <p:nvSpPr>
          <p:cNvPr id="3" name="Text 1"/>
          <p:cNvSpPr/>
          <p:nvPr/>
        </p:nvSpPr>
        <p:spPr>
          <a:xfrm>
            <a:off x="502920" y="256032"/>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rPr>
              <a:t>BILLS &amp; CHECKS</a:t>
            </a:r>
            <a:endParaRPr lang="en-US" sz="800" dirty="0"/>
          </a:p>
        </p:txBody>
      </p:sp>
      <p:sp>
        <p:nvSpPr>
          <p:cNvPr id="4" name="Text 2"/>
          <p:cNvSpPr/>
          <p:nvPr/>
        </p:nvSpPr>
        <p:spPr>
          <a:xfrm>
            <a:off x="502920" y="594360"/>
            <a:ext cx="813816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Beyond retail — the full picture of your spend</a:t>
            </a:r>
            <a:endParaRPr lang="en-US" sz="2800" dirty="0"/>
          </a:p>
        </p:txBody>
      </p:sp>
      <p:sp>
        <p:nvSpPr>
          <p:cNvPr id="5" name="Shape 3"/>
          <p:cNvSpPr/>
          <p:nvPr/>
        </p:nvSpPr>
        <p:spPr>
          <a:xfrm>
            <a:off x="502920" y="1417320"/>
            <a:ext cx="3840480" cy="3200400"/>
          </a:xfrm>
          <a:prstGeom prst="rect">
            <a:avLst/>
          </a:prstGeom>
          <a:solidFill>
            <a:srgbClr val="FEF2F2"/>
          </a:solidFill>
          <a:ln w="12700">
            <a:solidFill>
              <a:srgbClr val="FECACA"/>
            </a:solidFill>
            <a:prstDash val="solid"/>
          </a:ln>
          <a:effectLst>
            <a:outerShdw sx="100000" sy="100000" kx="0" ky="0" algn="bl" rotWithShape="0" blurRad="101600" dist="38100" dir="8100000">
              <a:srgbClr val="000000">
                <a:alpha val="10000"/>
              </a:srgbClr>
            </a:outerShdw>
          </a:effectLst>
        </p:spPr>
      </p:sp>
      <p:sp>
        <p:nvSpPr>
          <p:cNvPr id="6" name="Text 4"/>
          <p:cNvSpPr/>
          <p:nvPr/>
        </p:nvSpPr>
        <p:spPr>
          <a:xfrm>
            <a:off x="640080" y="1508760"/>
            <a:ext cx="3566160" cy="274320"/>
          </a:xfrm>
          <a:prstGeom prst="rect">
            <a:avLst/>
          </a:prstGeom>
          <a:noFill/>
          <a:ln/>
        </p:spPr>
        <p:txBody>
          <a:bodyPr wrap="square" lIns="0" tIns="0" rIns="0" bIns="0" rtlCol="0" anchor="ctr"/>
          <a:lstStyle/>
          <a:p>
            <a:pPr indent="0" marL="0">
              <a:buNone/>
            </a:pPr>
            <a:r>
              <a:rPr lang="en-US" sz="1200" b="1" dirty="0">
                <a:solidFill>
                  <a:srgbClr val="DC2626"/>
                </a:solidFill>
              </a:rPr>
              <a:t>What apps miss today</a:t>
            </a:r>
            <a:endParaRPr lang="en-US" sz="1200" dirty="0"/>
          </a:p>
        </p:txBody>
      </p:sp>
      <p:pic>
        <p:nvPicPr>
          <p:cNvPr id="7" name="Image 0" descr="preencoded.png">    </p:cNvPr>
          <p:cNvPicPr>
            <a:picLocks noChangeAspect="1"/>
          </p:cNvPicPr>
          <p:nvPr/>
        </p:nvPicPr>
        <p:blipFill>
          <a:blip r:embed="rId1"/>
          <a:stretch>
            <a:fillRect/>
          </a:stretch>
        </p:blipFill>
        <p:spPr>
          <a:xfrm>
            <a:off x="658368" y="1874520"/>
            <a:ext cx="201168" cy="201168"/>
          </a:xfrm>
          <a:prstGeom prst="rect">
            <a:avLst/>
          </a:prstGeom>
        </p:spPr>
      </p:pic>
      <p:sp>
        <p:nvSpPr>
          <p:cNvPr id="8" name="Text 5"/>
          <p:cNvSpPr/>
          <p:nvPr/>
        </p:nvSpPr>
        <p:spPr>
          <a:xfrm>
            <a:off x="932688" y="1856232"/>
            <a:ext cx="3200400" cy="256032"/>
          </a:xfrm>
          <a:prstGeom prst="rect">
            <a:avLst/>
          </a:prstGeom>
          <a:noFill/>
          <a:ln/>
        </p:spPr>
        <p:txBody>
          <a:bodyPr wrap="square" lIns="0" tIns="0" rIns="0" bIns="0" rtlCol="0" anchor="ctr"/>
          <a:lstStyle/>
          <a:p>
            <a:pPr indent="0" marL="0">
              <a:buNone/>
            </a:pPr>
            <a:r>
              <a:rPr lang="en-US" sz="1000" dirty="0">
                <a:solidFill>
                  <a:srgbClr val="DC2626"/>
                </a:solidFill>
              </a:rPr>
              <a:t>Utility bills (electric, gas, water)</a:t>
            </a:r>
            <a:endParaRPr lang="en-US" sz="1000" dirty="0"/>
          </a:p>
        </p:txBody>
      </p:sp>
      <p:pic>
        <p:nvPicPr>
          <p:cNvPr id="9" name="Image 1" descr="preencoded.png">    </p:cNvPr>
          <p:cNvPicPr>
            <a:picLocks noChangeAspect="1"/>
          </p:cNvPicPr>
          <p:nvPr/>
        </p:nvPicPr>
        <p:blipFill>
          <a:blip r:embed="rId2"/>
          <a:stretch>
            <a:fillRect/>
          </a:stretch>
        </p:blipFill>
        <p:spPr>
          <a:xfrm>
            <a:off x="658368" y="2212848"/>
            <a:ext cx="201168" cy="201168"/>
          </a:xfrm>
          <a:prstGeom prst="rect">
            <a:avLst/>
          </a:prstGeom>
        </p:spPr>
      </p:pic>
      <p:sp>
        <p:nvSpPr>
          <p:cNvPr id="10" name="Text 6"/>
          <p:cNvSpPr/>
          <p:nvPr/>
        </p:nvSpPr>
        <p:spPr>
          <a:xfrm>
            <a:off x="932688" y="2194560"/>
            <a:ext cx="3200400" cy="256032"/>
          </a:xfrm>
          <a:prstGeom prst="rect">
            <a:avLst/>
          </a:prstGeom>
          <a:noFill/>
          <a:ln/>
        </p:spPr>
        <p:txBody>
          <a:bodyPr wrap="square" lIns="0" tIns="0" rIns="0" bIns="0" rtlCol="0" anchor="ctr"/>
          <a:lstStyle/>
          <a:p>
            <a:pPr indent="0" marL="0">
              <a:buNone/>
            </a:pPr>
            <a:r>
              <a:rPr lang="en-US" sz="1000" dirty="0">
                <a:solidFill>
                  <a:srgbClr val="DC2626"/>
                </a:solidFill>
              </a:rPr>
              <a:t>Restaurant &amp; dining checks</a:t>
            </a:r>
            <a:endParaRPr lang="en-US" sz="1000" dirty="0"/>
          </a:p>
        </p:txBody>
      </p:sp>
      <p:pic>
        <p:nvPicPr>
          <p:cNvPr id="11" name="Image 2" descr="preencoded.png">    </p:cNvPr>
          <p:cNvPicPr>
            <a:picLocks noChangeAspect="1"/>
          </p:cNvPicPr>
          <p:nvPr/>
        </p:nvPicPr>
        <p:blipFill>
          <a:blip r:embed="rId3"/>
          <a:stretch>
            <a:fillRect/>
          </a:stretch>
        </p:blipFill>
        <p:spPr>
          <a:xfrm>
            <a:off x="658368" y="2551176"/>
            <a:ext cx="201168" cy="201168"/>
          </a:xfrm>
          <a:prstGeom prst="rect">
            <a:avLst/>
          </a:prstGeom>
        </p:spPr>
      </p:pic>
      <p:sp>
        <p:nvSpPr>
          <p:cNvPr id="12" name="Text 7"/>
          <p:cNvSpPr/>
          <p:nvPr/>
        </p:nvSpPr>
        <p:spPr>
          <a:xfrm>
            <a:off x="932688" y="2532888"/>
            <a:ext cx="3200400" cy="256032"/>
          </a:xfrm>
          <a:prstGeom prst="rect">
            <a:avLst/>
          </a:prstGeom>
          <a:noFill/>
          <a:ln/>
        </p:spPr>
        <p:txBody>
          <a:bodyPr wrap="square" lIns="0" tIns="0" rIns="0" bIns="0" rtlCol="0" anchor="ctr"/>
          <a:lstStyle/>
          <a:p>
            <a:pPr indent="0" marL="0">
              <a:buNone/>
            </a:pPr>
            <a:r>
              <a:rPr lang="en-US" sz="1000" dirty="0">
                <a:solidFill>
                  <a:srgbClr val="DC2626"/>
                </a:solidFill>
              </a:rPr>
              <a:t>Subscriptions (Netflix, Spotify…)</a:t>
            </a:r>
            <a:endParaRPr lang="en-US" sz="1000" dirty="0"/>
          </a:p>
        </p:txBody>
      </p:sp>
      <p:pic>
        <p:nvPicPr>
          <p:cNvPr id="13" name="Image 3" descr="preencoded.png">    </p:cNvPr>
          <p:cNvPicPr>
            <a:picLocks noChangeAspect="1"/>
          </p:cNvPicPr>
          <p:nvPr/>
        </p:nvPicPr>
        <p:blipFill>
          <a:blip r:embed="rId4"/>
          <a:stretch>
            <a:fillRect/>
          </a:stretch>
        </p:blipFill>
        <p:spPr>
          <a:xfrm>
            <a:off x="658368" y="2889504"/>
            <a:ext cx="201168" cy="201168"/>
          </a:xfrm>
          <a:prstGeom prst="rect">
            <a:avLst/>
          </a:prstGeom>
        </p:spPr>
      </p:pic>
      <p:sp>
        <p:nvSpPr>
          <p:cNvPr id="14" name="Text 8"/>
          <p:cNvSpPr/>
          <p:nvPr/>
        </p:nvSpPr>
        <p:spPr>
          <a:xfrm>
            <a:off x="932688" y="2871216"/>
            <a:ext cx="3200400" cy="256032"/>
          </a:xfrm>
          <a:prstGeom prst="rect">
            <a:avLst/>
          </a:prstGeom>
          <a:noFill/>
          <a:ln/>
        </p:spPr>
        <p:txBody>
          <a:bodyPr wrap="square" lIns="0" tIns="0" rIns="0" bIns="0" rtlCol="0" anchor="ctr"/>
          <a:lstStyle/>
          <a:p>
            <a:pPr indent="0" marL="0">
              <a:buNone/>
            </a:pPr>
            <a:r>
              <a:rPr lang="en-US" sz="1000" dirty="0">
                <a:solidFill>
                  <a:srgbClr val="DC2626"/>
                </a:solidFill>
              </a:rPr>
              <a:t>Phone bills &amp; internet</a:t>
            </a:r>
            <a:endParaRPr lang="en-US" sz="1000" dirty="0"/>
          </a:p>
        </p:txBody>
      </p:sp>
      <p:pic>
        <p:nvPicPr>
          <p:cNvPr id="15" name="Image 4" descr="preencoded.png">    </p:cNvPr>
          <p:cNvPicPr>
            <a:picLocks noChangeAspect="1"/>
          </p:cNvPicPr>
          <p:nvPr/>
        </p:nvPicPr>
        <p:blipFill>
          <a:blip r:embed="rId5"/>
          <a:stretch>
            <a:fillRect/>
          </a:stretch>
        </p:blipFill>
        <p:spPr>
          <a:xfrm>
            <a:off x="658368" y="3227832"/>
            <a:ext cx="201168" cy="201168"/>
          </a:xfrm>
          <a:prstGeom prst="rect">
            <a:avLst/>
          </a:prstGeom>
        </p:spPr>
      </p:pic>
      <p:sp>
        <p:nvSpPr>
          <p:cNvPr id="16" name="Text 9"/>
          <p:cNvSpPr/>
          <p:nvPr/>
        </p:nvSpPr>
        <p:spPr>
          <a:xfrm>
            <a:off x="932688" y="3209544"/>
            <a:ext cx="3200400" cy="256032"/>
          </a:xfrm>
          <a:prstGeom prst="rect">
            <a:avLst/>
          </a:prstGeom>
          <a:noFill/>
          <a:ln/>
        </p:spPr>
        <p:txBody>
          <a:bodyPr wrap="square" lIns="0" tIns="0" rIns="0" bIns="0" rtlCol="0" anchor="ctr"/>
          <a:lstStyle/>
          <a:p>
            <a:pPr indent="0" marL="0">
              <a:buNone/>
            </a:pPr>
            <a:r>
              <a:rPr lang="en-US" sz="1000" dirty="0">
                <a:solidFill>
                  <a:srgbClr val="DC2626"/>
                </a:solidFill>
              </a:rPr>
              <a:t>Travel (hotels, flights, Airbnb)</a:t>
            </a:r>
            <a:endParaRPr lang="en-US" sz="1000" dirty="0"/>
          </a:p>
        </p:txBody>
      </p:sp>
      <p:pic>
        <p:nvPicPr>
          <p:cNvPr id="17" name="Image 5" descr="preencoded.png">    </p:cNvPr>
          <p:cNvPicPr>
            <a:picLocks noChangeAspect="1"/>
          </p:cNvPicPr>
          <p:nvPr/>
        </p:nvPicPr>
        <p:blipFill>
          <a:blip r:embed="rId6"/>
          <a:stretch>
            <a:fillRect/>
          </a:stretch>
        </p:blipFill>
        <p:spPr>
          <a:xfrm>
            <a:off x="658368" y="3566160"/>
            <a:ext cx="201168" cy="201168"/>
          </a:xfrm>
          <a:prstGeom prst="rect">
            <a:avLst/>
          </a:prstGeom>
        </p:spPr>
      </p:pic>
      <p:sp>
        <p:nvSpPr>
          <p:cNvPr id="18" name="Text 10"/>
          <p:cNvSpPr/>
          <p:nvPr/>
        </p:nvSpPr>
        <p:spPr>
          <a:xfrm>
            <a:off x="932688" y="3547872"/>
            <a:ext cx="3200400" cy="256032"/>
          </a:xfrm>
          <a:prstGeom prst="rect">
            <a:avLst/>
          </a:prstGeom>
          <a:noFill/>
          <a:ln/>
        </p:spPr>
        <p:txBody>
          <a:bodyPr wrap="square" lIns="0" tIns="0" rIns="0" bIns="0" rtlCol="0" anchor="ctr"/>
          <a:lstStyle/>
          <a:p>
            <a:pPr indent="0" marL="0">
              <a:buNone/>
            </a:pPr>
            <a:r>
              <a:rPr lang="en-US" sz="1000" dirty="0">
                <a:solidFill>
                  <a:srgbClr val="DC2626"/>
                </a:solidFill>
              </a:rPr>
              <a:t>Rent &amp; HOA payments</a:t>
            </a:r>
            <a:endParaRPr lang="en-US" sz="1000" dirty="0"/>
          </a:p>
        </p:txBody>
      </p:sp>
      <p:pic>
        <p:nvPicPr>
          <p:cNvPr id="19" name="Image 6" descr="preencoded.png">    </p:cNvPr>
          <p:cNvPicPr>
            <a:picLocks noChangeAspect="1"/>
          </p:cNvPicPr>
          <p:nvPr/>
        </p:nvPicPr>
        <p:blipFill>
          <a:blip r:embed="rId7"/>
          <a:stretch>
            <a:fillRect/>
          </a:stretch>
        </p:blipFill>
        <p:spPr>
          <a:xfrm>
            <a:off x="658368" y="3904488"/>
            <a:ext cx="201168" cy="201168"/>
          </a:xfrm>
          <a:prstGeom prst="rect">
            <a:avLst/>
          </a:prstGeom>
        </p:spPr>
      </p:pic>
      <p:sp>
        <p:nvSpPr>
          <p:cNvPr id="20" name="Text 11"/>
          <p:cNvSpPr/>
          <p:nvPr/>
        </p:nvSpPr>
        <p:spPr>
          <a:xfrm>
            <a:off x="932688" y="3886200"/>
            <a:ext cx="3200400" cy="256032"/>
          </a:xfrm>
          <a:prstGeom prst="rect">
            <a:avLst/>
          </a:prstGeom>
          <a:noFill/>
          <a:ln/>
        </p:spPr>
        <p:txBody>
          <a:bodyPr wrap="square" lIns="0" tIns="0" rIns="0" bIns="0" rtlCol="0" anchor="ctr"/>
          <a:lstStyle/>
          <a:p>
            <a:pPr indent="0" marL="0">
              <a:buNone/>
            </a:pPr>
            <a:r>
              <a:rPr lang="en-US" sz="1000" dirty="0">
                <a:solidFill>
                  <a:srgbClr val="DC2626"/>
                </a:solidFill>
              </a:rPr>
              <a:t>Medical bills &amp; insurance (Phase 5)</a:t>
            </a:r>
            <a:endParaRPr lang="en-US" sz="1000" dirty="0"/>
          </a:p>
        </p:txBody>
      </p:sp>
      <p:sp>
        <p:nvSpPr>
          <p:cNvPr id="21" name="Shape 12"/>
          <p:cNvSpPr/>
          <p:nvPr/>
        </p:nvSpPr>
        <p:spPr>
          <a:xfrm>
            <a:off x="4800600" y="1417320"/>
            <a:ext cx="3840480" cy="3200400"/>
          </a:xfrm>
          <a:prstGeom prst="rect">
            <a:avLst/>
          </a:prstGeom>
          <a:solidFill>
            <a:srgbClr val="F0FDF4"/>
          </a:solidFill>
          <a:ln w="12700">
            <a:solidFill>
              <a:srgbClr val="BBF7D0"/>
            </a:solidFill>
            <a:prstDash val="solid"/>
          </a:ln>
          <a:effectLst>
            <a:outerShdw sx="100000" sy="100000" kx="0" ky="0" algn="bl" rotWithShape="0" blurRad="101600" dist="38100" dir="8100000">
              <a:srgbClr val="000000">
                <a:alpha val="10000"/>
              </a:srgbClr>
            </a:outerShdw>
          </a:effectLst>
        </p:spPr>
      </p:sp>
      <p:sp>
        <p:nvSpPr>
          <p:cNvPr id="22" name="Text 13"/>
          <p:cNvSpPr/>
          <p:nvPr/>
        </p:nvSpPr>
        <p:spPr>
          <a:xfrm>
            <a:off x="4937760" y="1508760"/>
            <a:ext cx="3566160" cy="274320"/>
          </a:xfrm>
          <a:prstGeom prst="rect">
            <a:avLst/>
          </a:prstGeom>
          <a:noFill/>
          <a:ln/>
        </p:spPr>
        <p:txBody>
          <a:bodyPr wrap="square" lIns="0" tIns="0" rIns="0" bIns="0" rtlCol="0" anchor="ctr"/>
          <a:lstStyle/>
          <a:p>
            <a:pPr indent="0" marL="0">
              <a:buNone/>
            </a:pPr>
            <a:r>
              <a:rPr lang="en-US" sz="1200" b="1" dirty="0">
                <a:solidFill>
                  <a:srgbClr val="166534"/>
                </a:solidFill>
              </a:rPr>
              <a:t>What ReceiptIQ captures</a:t>
            </a:r>
            <a:endParaRPr lang="en-US" sz="1200" dirty="0"/>
          </a:p>
        </p:txBody>
      </p:sp>
      <p:pic>
        <p:nvPicPr>
          <p:cNvPr id="23" name="Image 7" descr="preencoded.png">    </p:cNvPr>
          <p:cNvPicPr>
            <a:picLocks noChangeAspect="1"/>
          </p:cNvPicPr>
          <p:nvPr/>
        </p:nvPicPr>
        <p:blipFill>
          <a:blip r:embed="rId8"/>
          <a:stretch>
            <a:fillRect/>
          </a:stretch>
        </p:blipFill>
        <p:spPr>
          <a:xfrm>
            <a:off x="4956048" y="1874520"/>
            <a:ext cx="201168" cy="201168"/>
          </a:xfrm>
          <a:prstGeom prst="rect">
            <a:avLst/>
          </a:prstGeom>
        </p:spPr>
      </p:pic>
      <p:sp>
        <p:nvSpPr>
          <p:cNvPr id="24" name="Text 14"/>
          <p:cNvSpPr/>
          <p:nvPr/>
        </p:nvSpPr>
        <p:spPr>
          <a:xfrm>
            <a:off x="5230368" y="1856232"/>
            <a:ext cx="3200400" cy="256032"/>
          </a:xfrm>
          <a:prstGeom prst="rect">
            <a:avLst/>
          </a:prstGeom>
          <a:noFill/>
          <a:ln/>
        </p:spPr>
        <p:txBody>
          <a:bodyPr wrap="square" lIns="0" tIns="0" rIns="0" bIns="0" rtlCol="0" anchor="ctr"/>
          <a:lstStyle/>
          <a:p>
            <a:pPr indent="0" marL="0">
              <a:buNone/>
            </a:pPr>
            <a:r>
              <a:rPr lang="en-US" sz="1000" dirty="0">
                <a:solidFill>
                  <a:srgbClr val="166534"/>
                </a:solidFill>
              </a:rPr>
              <a:t>Retail receipts (all categories)</a:t>
            </a:r>
            <a:endParaRPr lang="en-US" sz="1000" dirty="0"/>
          </a:p>
        </p:txBody>
      </p:sp>
      <p:pic>
        <p:nvPicPr>
          <p:cNvPr id="25" name="Image 8" descr="preencoded.png">    </p:cNvPr>
          <p:cNvPicPr>
            <a:picLocks noChangeAspect="1"/>
          </p:cNvPicPr>
          <p:nvPr/>
        </p:nvPicPr>
        <p:blipFill>
          <a:blip r:embed="rId9"/>
          <a:stretch>
            <a:fillRect/>
          </a:stretch>
        </p:blipFill>
        <p:spPr>
          <a:xfrm>
            <a:off x="4956048" y="2212848"/>
            <a:ext cx="201168" cy="201168"/>
          </a:xfrm>
          <a:prstGeom prst="rect">
            <a:avLst/>
          </a:prstGeom>
        </p:spPr>
      </p:pic>
      <p:sp>
        <p:nvSpPr>
          <p:cNvPr id="26" name="Text 15"/>
          <p:cNvSpPr/>
          <p:nvPr/>
        </p:nvSpPr>
        <p:spPr>
          <a:xfrm>
            <a:off x="5230368" y="2194560"/>
            <a:ext cx="3200400" cy="256032"/>
          </a:xfrm>
          <a:prstGeom prst="rect">
            <a:avLst/>
          </a:prstGeom>
          <a:noFill/>
          <a:ln/>
        </p:spPr>
        <p:txBody>
          <a:bodyPr wrap="square" lIns="0" tIns="0" rIns="0" bIns="0" rtlCol="0" anchor="ctr"/>
          <a:lstStyle/>
          <a:p>
            <a:pPr indent="0" marL="0">
              <a:buNone/>
            </a:pPr>
            <a:r>
              <a:rPr lang="en-US" sz="1000" dirty="0">
                <a:solidFill>
                  <a:srgbClr val="166534"/>
                </a:solidFill>
              </a:rPr>
              <a:t>Utility bills auto-ingested from email</a:t>
            </a:r>
            <a:endParaRPr lang="en-US" sz="1000" dirty="0"/>
          </a:p>
        </p:txBody>
      </p:sp>
      <p:pic>
        <p:nvPicPr>
          <p:cNvPr id="27" name="Image 9" descr="preencoded.png">    </p:cNvPr>
          <p:cNvPicPr>
            <a:picLocks noChangeAspect="1"/>
          </p:cNvPicPr>
          <p:nvPr/>
        </p:nvPicPr>
        <p:blipFill>
          <a:blip r:embed="rId10"/>
          <a:stretch>
            <a:fillRect/>
          </a:stretch>
        </p:blipFill>
        <p:spPr>
          <a:xfrm>
            <a:off x="4956048" y="2551176"/>
            <a:ext cx="201168" cy="201168"/>
          </a:xfrm>
          <a:prstGeom prst="rect">
            <a:avLst/>
          </a:prstGeom>
        </p:spPr>
      </p:pic>
      <p:sp>
        <p:nvSpPr>
          <p:cNvPr id="28" name="Text 16"/>
          <p:cNvSpPr/>
          <p:nvPr/>
        </p:nvSpPr>
        <p:spPr>
          <a:xfrm>
            <a:off x="5230368" y="2532888"/>
            <a:ext cx="3200400" cy="256032"/>
          </a:xfrm>
          <a:prstGeom prst="rect">
            <a:avLst/>
          </a:prstGeom>
          <a:noFill/>
          <a:ln/>
        </p:spPr>
        <p:txBody>
          <a:bodyPr wrap="square" lIns="0" tIns="0" rIns="0" bIns="0" rtlCol="0" anchor="ctr"/>
          <a:lstStyle/>
          <a:p>
            <a:pPr indent="0" marL="0">
              <a:buNone/>
            </a:pPr>
            <a:r>
              <a:rPr lang="en-US" sz="1000" dirty="0">
                <a:solidFill>
                  <a:srgbClr val="166534"/>
                </a:solidFill>
              </a:rPr>
              <a:t>Dining checks from Square, Toast, Resy</a:t>
            </a:r>
            <a:endParaRPr lang="en-US" sz="1000" dirty="0"/>
          </a:p>
        </p:txBody>
      </p:sp>
      <p:pic>
        <p:nvPicPr>
          <p:cNvPr id="29" name="Image 10" descr="preencoded.png">    </p:cNvPr>
          <p:cNvPicPr>
            <a:picLocks noChangeAspect="1"/>
          </p:cNvPicPr>
          <p:nvPr/>
        </p:nvPicPr>
        <p:blipFill>
          <a:blip r:embed="rId11"/>
          <a:stretch>
            <a:fillRect/>
          </a:stretch>
        </p:blipFill>
        <p:spPr>
          <a:xfrm>
            <a:off x="4956048" y="2889504"/>
            <a:ext cx="201168" cy="201168"/>
          </a:xfrm>
          <a:prstGeom prst="rect">
            <a:avLst/>
          </a:prstGeom>
        </p:spPr>
      </p:pic>
      <p:sp>
        <p:nvSpPr>
          <p:cNvPr id="30" name="Text 17"/>
          <p:cNvSpPr/>
          <p:nvPr/>
        </p:nvSpPr>
        <p:spPr>
          <a:xfrm>
            <a:off x="5230368" y="2871216"/>
            <a:ext cx="3200400" cy="256032"/>
          </a:xfrm>
          <a:prstGeom prst="rect">
            <a:avLst/>
          </a:prstGeom>
          <a:noFill/>
          <a:ln/>
        </p:spPr>
        <p:txBody>
          <a:bodyPr wrap="square" lIns="0" tIns="0" rIns="0" bIns="0" rtlCol="0" anchor="ctr"/>
          <a:lstStyle/>
          <a:p>
            <a:pPr indent="0" marL="0">
              <a:buNone/>
            </a:pPr>
            <a:r>
              <a:rPr lang="en-US" sz="1000" dirty="0">
                <a:solidFill>
                  <a:srgbClr val="166534"/>
                </a:solidFill>
              </a:rPr>
              <a:t>All subscriptions tracked automatically</a:t>
            </a:r>
            <a:endParaRPr lang="en-US" sz="1000" dirty="0"/>
          </a:p>
        </p:txBody>
      </p:sp>
      <p:pic>
        <p:nvPicPr>
          <p:cNvPr id="31" name="Image 11" descr="preencoded.png">    </p:cNvPr>
          <p:cNvPicPr>
            <a:picLocks noChangeAspect="1"/>
          </p:cNvPicPr>
          <p:nvPr/>
        </p:nvPicPr>
        <p:blipFill>
          <a:blip r:embed="rId12"/>
          <a:stretch>
            <a:fillRect/>
          </a:stretch>
        </p:blipFill>
        <p:spPr>
          <a:xfrm>
            <a:off x="4956048" y="3227832"/>
            <a:ext cx="201168" cy="201168"/>
          </a:xfrm>
          <a:prstGeom prst="rect">
            <a:avLst/>
          </a:prstGeom>
        </p:spPr>
      </p:pic>
      <p:sp>
        <p:nvSpPr>
          <p:cNvPr id="32" name="Text 18"/>
          <p:cNvSpPr/>
          <p:nvPr/>
        </p:nvSpPr>
        <p:spPr>
          <a:xfrm>
            <a:off x="5230368" y="3209544"/>
            <a:ext cx="3200400" cy="256032"/>
          </a:xfrm>
          <a:prstGeom prst="rect">
            <a:avLst/>
          </a:prstGeom>
          <a:noFill/>
          <a:ln/>
        </p:spPr>
        <p:txBody>
          <a:bodyPr wrap="square" lIns="0" tIns="0" rIns="0" bIns="0" rtlCol="0" anchor="ctr"/>
          <a:lstStyle/>
          <a:p>
            <a:pPr indent="0" marL="0">
              <a:buNone/>
            </a:pPr>
            <a:r>
              <a:rPr lang="en-US" sz="1000" dirty="0">
                <a:solidFill>
                  <a:srgbClr val="166534"/>
                </a:solidFill>
              </a:rPr>
              <a:t>Travel from Airbnb, booking.com, airlines</a:t>
            </a:r>
            <a:endParaRPr lang="en-US" sz="1000" dirty="0"/>
          </a:p>
        </p:txBody>
      </p:sp>
      <p:pic>
        <p:nvPicPr>
          <p:cNvPr id="33" name="Image 12" descr="preencoded.png">    </p:cNvPr>
          <p:cNvPicPr>
            <a:picLocks noChangeAspect="1"/>
          </p:cNvPicPr>
          <p:nvPr/>
        </p:nvPicPr>
        <p:blipFill>
          <a:blip r:embed="rId13"/>
          <a:stretch>
            <a:fillRect/>
          </a:stretch>
        </p:blipFill>
        <p:spPr>
          <a:xfrm>
            <a:off x="4956048" y="3566160"/>
            <a:ext cx="201168" cy="201168"/>
          </a:xfrm>
          <a:prstGeom prst="rect">
            <a:avLst/>
          </a:prstGeom>
        </p:spPr>
      </p:pic>
      <p:sp>
        <p:nvSpPr>
          <p:cNvPr id="34" name="Text 19"/>
          <p:cNvSpPr/>
          <p:nvPr/>
        </p:nvSpPr>
        <p:spPr>
          <a:xfrm>
            <a:off x="5230368" y="3547872"/>
            <a:ext cx="3200400" cy="256032"/>
          </a:xfrm>
          <a:prstGeom prst="rect">
            <a:avLst/>
          </a:prstGeom>
          <a:noFill/>
          <a:ln/>
        </p:spPr>
        <p:txBody>
          <a:bodyPr wrap="square" lIns="0" tIns="0" rIns="0" bIns="0" rtlCol="0" anchor="ctr"/>
          <a:lstStyle/>
          <a:p>
            <a:pPr indent="0" marL="0">
              <a:buNone/>
            </a:pPr>
            <a:r>
              <a:rPr lang="en-US" sz="1000" dirty="0">
                <a:solidFill>
                  <a:srgbClr val="166534"/>
                </a:solidFill>
              </a:rPr>
              <a:t>Rent from property management emails</a:t>
            </a:r>
            <a:endParaRPr lang="en-US" sz="1000" dirty="0"/>
          </a:p>
        </p:txBody>
      </p:sp>
      <p:pic>
        <p:nvPicPr>
          <p:cNvPr id="35" name="Image 13" descr="preencoded.png">    </p:cNvPr>
          <p:cNvPicPr>
            <a:picLocks noChangeAspect="1"/>
          </p:cNvPicPr>
          <p:nvPr/>
        </p:nvPicPr>
        <p:blipFill>
          <a:blip r:embed="rId14"/>
          <a:stretch>
            <a:fillRect/>
          </a:stretch>
        </p:blipFill>
        <p:spPr>
          <a:xfrm>
            <a:off x="4956048" y="3904488"/>
            <a:ext cx="201168" cy="201168"/>
          </a:xfrm>
          <a:prstGeom prst="rect">
            <a:avLst/>
          </a:prstGeom>
        </p:spPr>
      </p:pic>
      <p:sp>
        <p:nvSpPr>
          <p:cNvPr id="36" name="Text 20"/>
          <p:cNvSpPr/>
          <p:nvPr/>
        </p:nvSpPr>
        <p:spPr>
          <a:xfrm>
            <a:off x="5230368" y="3886200"/>
            <a:ext cx="3200400" cy="256032"/>
          </a:xfrm>
          <a:prstGeom prst="rect">
            <a:avLst/>
          </a:prstGeom>
          <a:noFill/>
          <a:ln/>
        </p:spPr>
        <p:txBody>
          <a:bodyPr wrap="square" lIns="0" tIns="0" rIns="0" bIns="0" rtlCol="0" anchor="ctr"/>
          <a:lstStyle/>
          <a:p>
            <a:pPr indent="0" marL="0">
              <a:buNone/>
            </a:pPr>
            <a:r>
              <a:rPr lang="en-US" sz="1000" dirty="0">
                <a:solidFill>
                  <a:srgbClr val="166534"/>
                </a:solidFill>
              </a:rPr>
              <a:t>Medical (Phase 5, with privacy controls)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256032"/>
            <a:ext cx="1371600" cy="256032"/>
          </a:xfrm>
          <a:prstGeom prst="rect">
            <a:avLst/>
          </a:prstGeom>
          <a:solidFill>
            <a:srgbClr val="6366F1"/>
          </a:solidFill>
          <a:ln w="12700">
            <a:solidFill>
              <a:srgbClr val="6366F1"/>
            </a:solidFill>
            <a:prstDash val="solid"/>
          </a:ln>
        </p:spPr>
      </p:sp>
      <p:sp>
        <p:nvSpPr>
          <p:cNvPr id="3" name="Text 1"/>
          <p:cNvSpPr/>
          <p:nvPr/>
        </p:nvSpPr>
        <p:spPr>
          <a:xfrm>
            <a:off x="502920" y="256032"/>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rPr>
              <a:t>PRICE INTELLIGENCE</a:t>
            </a:r>
            <a:endParaRPr lang="en-US" sz="800" dirty="0"/>
          </a:p>
        </p:txBody>
      </p:sp>
      <p:sp>
        <p:nvSpPr>
          <p:cNvPr id="4" name="Text 2"/>
          <p:cNvSpPr/>
          <p:nvPr/>
        </p:nvSpPr>
        <p:spPr>
          <a:xfrm>
            <a:off x="502920" y="594360"/>
            <a:ext cx="813816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Know what things actually cost — and where to buy them</a:t>
            </a:r>
            <a:endParaRPr lang="en-US" sz="2800" dirty="0"/>
          </a:p>
        </p:txBody>
      </p:sp>
      <p:sp>
        <p:nvSpPr>
          <p:cNvPr id="5" name="Shape 3"/>
          <p:cNvSpPr/>
          <p:nvPr/>
        </p:nvSpPr>
        <p:spPr>
          <a:xfrm>
            <a:off x="502920" y="1444752"/>
            <a:ext cx="4114800" cy="777240"/>
          </a:xfrm>
          <a:prstGeom prst="rect">
            <a:avLst/>
          </a:prstGeom>
          <a:solidFill>
            <a:srgbClr val="EEF2FF"/>
          </a:solidFill>
          <a:ln w="12700">
            <a:solidFill>
              <a:srgbClr val="C7D2FE"/>
            </a:solidFill>
            <a:prstDash val="solid"/>
          </a:ln>
        </p:spPr>
      </p:sp>
      <p:pic>
        <p:nvPicPr>
          <p:cNvPr id="6" name="Image 0" descr="preencoded.png">    </p:cNvPr>
          <p:cNvPicPr>
            <a:picLocks noChangeAspect="1"/>
          </p:cNvPicPr>
          <p:nvPr/>
        </p:nvPicPr>
        <p:blipFill>
          <a:blip r:embed="rId1"/>
          <a:stretch>
            <a:fillRect/>
          </a:stretch>
        </p:blipFill>
        <p:spPr>
          <a:xfrm>
            <a:off x="658368" y="1645920"/>
            <a:ext cx="347472" cy="347472"/>
          </a:xfrm>
          <a:prstGeom prst="rect">
            <a:avLst/>
          </a:prstGeom>
        </p:spPr>
      </p:pic>
      <p:sp>
        <p:nvSpPr>
          <p:cNvPr id="7" name="Text 4"/>
          <p:cNvSpPr/>
          <p:nvPr/>
        </p:nvSpPr>
        <p:spPr>
          <a:xfrm>
            <a:off x="1143000" y="1517904"/>
            <a:ext cx="3337560" cy="228600"/>
          </a:xfrm>
          <a:prstGeom prst="rect">
            <a:avLst/>
          </a:prstGeom>
          <a:noFill/>
          <a:ln/>
        </p:spPr>
        <p:txBody>
          <a:bodyPr wrap="square" lIns="0" tIns="0" rIns="0" bIns="0" rtlCol="0" anchor="ctr"/>
          <a:lstStyle/>
          <a:p>
            <a:pPr indent="0" marL="0">
              <a:buNone/>
            </a:pPr>
            <a:r>
              <a:rPr lang="en-US" sz="1100" b="1" dirty="0">
                <a:solidFill>
                  <a:srgbClr val="0F172A"/>
                </a:solidFill>
              </a:rPr>
              <a:t>Price History</a:t>
            </a:r>
            <a:endParaRPr lang="en-US" sz="1100" dirty="0"/>
          </a:p>
        </p:txBody>
      </p:sp>
      <p:sp>
        <p:nvSpPr>
          <p:cNvPr id="8" name="Text 5"/>
          <p:cNvSpPr/>
          <p:nvPr/>
        </p:nvSpPr>
        <p:spPr>
          <a:xfrm>
            <a:off x="1143000" y="1764792"/>
            <a:ext cx="3337560" cy="384048"/>
          </a:xfrm>
          <a:prstGeom prst="rect">
            <a:avLst/>
          </a:prstGeom>
          <a:noFill/>
          <a:ln/>
        </p:spPr>
        <p:txBody>
          <a:bodyPr wrap="square" lIns="0" tIns="0" rIns="0" bIns="0" rtlCol="0" anchor="ctr"/>
          <a:lstStyle/>
          <a:p>
            <a:pPr indent="0" marL="0">
              <a:buNone/>
            </a:pPr>
            <a:r>
              <a:rPr lang="en-US" sz="900" dirty="0">
                <a:solidFill>
                  <a:srgbClr val="64748B"/>
                </a:solidFill>
              </a:rPr>
              <a:t>Every item you've bought, at every store, at every price — charted over time.</a:t>
            </a:r>
            <a:endParaRPr lang="en-US" sz="900" dirty="0"/>
          </a:p>
        </p:txBody>
      </p:sp>
      <p:sp>
        <p:nvSpPr>
          <p:cNvPr id="9" name="Shape 6"/>
          <p:cNvSpPr/>
          <p:nvPr/>
        </p:nvSpPr>
        <p:spPr>
          <a:xfrm>
            <a:off x="502920" y="2359152"/>
            <a:ext cx="4114800" cy="777240"/>
          </a:xfrm>
          <a:prstGeom prst="rect">
            <a:avLst/>
          </a:prstGeom>
          <a:solidFill>
            <a:srgbClr val="EEF2FF"/>
          </a:solidFill>
          <a:ln w="12700">
            <a:solidFill>
              <a:srgbClr val="C7D2FE"/>
            </a:solidFill>
            <a:prstDash val="solid"/>
          </a:ln>
        </p:spPr>
      </p:sp>
      <p:pic>
        <p:nvPicPr>
          <p:cNvPr id="10" name="Image 1" descr="preencoded.png">    </p:cNvPr>
          <p:cNvPicPr>
            <a:picLocks noChangeAspect="1"/>
          </p:cNvPicPr>
          <p:nvPr/>
        </p:nvPicPr>
        <p:blipFill>
          <a:blip r:embed="rId2"/>
          <a:stretch>
            <a:fillRect/>
          </a:stretch>
        </p:blipFill>
        <p:spPr>
          <a:xfrm>
            <a:off x="658368" y="2560320"/>
            <a:ext cx="347472" cy="347472"/>
          </a:xfrm>
          <a:prstGeom prst="rect">
            <a:avLst/>
          </a:prstGeom>
        </p:spPr>
      </p:pic>
      <p:sp>
        <p:nvSpPr>
          <p:cNvPr id="11" name="Text 7"/>
          <p:cNvSpPr/>
          <p:nvPr/>
        </p:nvSpPr>
        <p:spPr>
          <a:xfrm>
            <a:off x="1143000" y="2432304"/>
            <a:ext cx="3337560" cy="228600"/>
          </a:xfrm>
          <a:prstGeom prst="rect">
            <a:avLst/>
          </a:prstGeom>
          <a:noFill/>
          <a:ln/>
        </p:spPr>
        <p:txBody>
          <a:bodyPr wrap="square" lIns="0" tIns="0" rIns="0" bIns="0" rtlCol="0" anchor="ctr"/>
          <a:lstStyle/>
          <a:p>
            <a:pPr indent="0" marL="0">
              <a:buNone/>
            </a:pPr>
            <a:r>
              <a:rPr lang="en-US" sz="1100" b="1" dirty="0">
                <a:solidFill>
                  <a:srgbClr val="0F172A"/>
                </a:solidFill>
              </a:rPr>
              <a:t>Vendor Comparison</a:t>
            </a:r>
            <a:endParaRPr lang="en-US" sz="1100" dirty="0"/>
          </a:p>
        </p:txBody>
      </p:sp>
      <p:sp>
        <p:nvSpPr>
          <p:cNvPr id="12" name="Text 8"/>
          <p:cNvSpPr/>
          <p:nvPr/>
        </p:nvSpPr>
        <p:spPr>
          <a:xfrm>
            <a:off x="1143000" y="2679192"/>
            <a:ext cx="3337560" cy="384048"/>
          </a:xfrm>
          <a:prstGeom prst="rect">
            <a:avLst/>
          </a:prstGeom>
          <a:noFill/>
          <a:ln/>
        </p:spPr>
        <p:txBody>
          <a:bodyPr wrap="square" lIns="0" tIns="0" rIns="0" bIns="0" rtlCol="0" anchor="ctr"/>
          <a:lstStyle/>
          <a:p>
            <a:pPr indent="0" marL="0">
              <a:buNone/>
            </a:pPr>
            <a:r>
              <a:rPr lang="en-US" sz="900" dirty="0">
                <a:solidFill>
                  <a:srgbClr val="64748B"/>
                </a:solidFill>
              </a:rPr>
              <a:t>AI checks today's price for the same item at Walmart, Target, Costco, Amazon, Whole Foods simultaneously.</a:t>
            </a:r>
            <a:endParaRPr lang="en-US" sz="900" dirty="0"/>
          </a:p>
        </p:txBody>
      </p:sp>
      <p:sp>
        <p:nvSpPr>
          <p:cNvPr id="13" name="Shape 9"/>
          <p:cNvSpPr/>
          <p:nvPr/>
        </p:nvSpPr>
        <p:spPr>
          <a:xfrm>
            <a:off x="502920" y="3273552"/>
            <a:ext cx="4114800" cy="777240"/>
          </a:xfrm>
          <a:prstGeom prst="rect">
            <a:avLst/>
          </a:prstGeom>
          <a:solidFill>
            <a:srgbClr val="EEF2FF"/>
          </a:solidFill>
          <a:ln w="12700">
            <a:solidFill>
              <a:srgbClr val="C7D2FE"/>
            </a:solidFill>
            <a:prstDash val="solid"/>
          </a:ln>
        </p:spPr>
      </p:sp>
      <p:pic>
        <p:nvPicPr>
          <p:cNvPr id="14" name="Image 2" descr="preencoded.png">    </p:cNvPr>
          <p:cNvPicPr>
            <a:picLocks noChangeAspect="1"/>
          </p:cNvPicPr>
          <p:nvPr/>
        </p:nvPicPr>
        <p:blipFill>
          <a:blip r:embed="rId3"/>
          <a:stretch>
            <a:fillRect/>
          </a:stretch>
        </p:blipFill>
        <p:spPr>
          <a:xfrm>
            <a:off x="658368" y="3474720"/>
            <a:ext cx="347472" cy="347472"/>
          </a:xfrm>
          <a:prstGeom prst="rect">
            <a:avLst/>
          </a:prstGeom>
        </p:spPr>
      </p:pic>
      <p:sp>
        <p:nvSpPr>
          <p:cNvPr id="15" name="Text 10"/>
          <p:cNvSpPr/>
          <p:nvPr/>
        </p:nvSpPr>
        <p:spPr>
          <a:xfrm>
            <a:off x="1143000" y="3346704"/>
            <a:ext cx="3337560" cy="228600"/>
          </a:xfrm>
          <a:prstGeom prst="rect">
            <a:avLst/>
          </a:prstGeom>
          <a:noFill/>
          <a:ln/>
        </p:spPr>
        <p:txBody>
          <a:bodyPr wrap="square" lIns="0" tIns="0" rIns="0" bIns="0" rtlCol="0" anchor="ctr"/>
          <a:lstStyle/>
          <a:p>
            <a:pPr indent="0" marL="0">
              <a:buNone/>
            </a:pPr>
            <a:r>
              <a:rPr lang="en-US" sz="1100" b="1" dirty="0">
                <a:solidFill>
                  <a:srgbClr val="0F172A"/>
                </a:solidFill>
              </a:rPr>
              <a:t>Inflation Tracker</a:t>
            </a:r>
            <a:endParaRPr lang="en-US" sz="1100" dirty="0"/>
          </a:p>
        </p:txBody>
      </p:sp>
      <p:sp>
        <p:nvSpPr>
          <p:cNvPr id="16" name="Text 11"/>
          <p:cNvSpPr/>
          <p:nvPr/>
        </p:nvSpPr>
        <p:spPr>
          <a:xfrm>
            <a:off x="1143000" y="3593592"/>
            <a:ext cx="3337560" cy="384048"/>
          </a:xfrm>
          <a:prstGeom prst="rect">
            <a:avLst/>
          </a:prstGeom>
          <a:noFill/>
          <a:ln/>
        </p:spPr>
        <p:txBody>
          <a:bodyPr wrap="square" lIns="0" tIns="0" rIns="0" bIns="0" rtlCol="0" anchor="ctr"/>
          <a:lstStyle/>
          <a:p>
            <a:pPr indent="0" marL="0">
              <a:buNone/>
            </a:pPr>
            <a:r>
              <a:rPr lang="en-US" sz="900" dirty="0">
                <a:solidFill>
                  <a:srgbClr val="64748B"/>
                </a:solidFill>
              </a:rPr>
              <a:t>See your personal inflation rate vs. CPI. Know which items are rising fastest in your basket.</a:t>
            </a:r>
            <a:endParaRPr lang="en-US" sz="900" dirty="0"/>
          </a:p>
        </p:txBody>
      </p:sp>
      <p:sp>
        <p:nvSpPr>
          <p:cNvPr id="17" name="Shape 12"/>
          <p:cNvSpPr/>
          <p:nvPr/>
        </p:nvSpPr>
        <p:spPr>
          <a:xfrm>
            <a:off x="502920" y="4187952"/>
            <a:ext cx="4114800" cy="777240"/>
          </a:xfrm>
          <a:prstGeom prst="rect">
            <a:avLst/>
          </a:prstGeom>
          <a:solidFill>
            <a:srgbClr val="EEF2FF"/>
          </a:solidFill>
          <a:ln w="12700">
            <a:solidFill>
              <a:srgbClr val="C7D2FE"/>
            </a:solidFill>
            <a:prstDash val="solid"/>
          </a:ln>
        </p:spPr>
      </p:sp>
      <p:pic>
        <p:nvPicPr>
          <p:cNvPr id="18" name="Image 3" descr="preencoded.png">    </p:cNvPr>
          <p:cNvPicPr>
            <a:picLocks noChangeAspect="1"/>
          </p:cNvPicPr>
          <p:nvPr/>
        </p:nvPicPr>
        <p:blipFill>
          <a:blip r:embed="rId4"/>
          <a:stretch>
            <a:fillRect/>
          </a:stretch>
        </p:blipFill>
        <p:spPr>
          <a:xfrm>
            <a:off x="658368" y="4389120"/>
            <a:ext cx="347472" cy="347472"/>
          </a:xfrm>
          <a:prstGeom prst="rect">
            <a:avLst/>
          </a:prstGeom>
        </p:spPr>
      </p:pic>
      <p:sp>
        <p:nvSpPr>
          <p:cNvPr id="19" name="Text 13"/>
          <p:cNvSpPr/>
          <p:nvPr/>
        </p:nvSpPr>
        <p:spPr>
          <a:xfrm>
            <a:off x="1143000" y="4261104"/>
            <a:ext cx="3337560" cy="228600"/>
          </a:xfrm>
          <a:prstGeom prst="rect">
            <a:avLst/>
          </a:prstGeom>
          <a:noFill/>
          <a:ln/>
        </p:spPr>
        <p:txBody>
          <a:bodyPr wrap="square" lIns="0" tIns="0" rIns="0" bIns="0" rtlCol="0" anchor="ctr"/>
          <a:lstStyle/>
          <a:p>
            <a:pPr indent="0" marL="0">
              <a:buNone/>
            </a:pPr>
            <a:r>
              <a:rPr lang="en-US" sz="1100" b="1" dirty="0">
                <a:solidFill>
                  <a:srgbClr val="0F172A"/>
                </a:solidFill>
              </a:rPr>
              <a:t>Savings Alerts</a:t>
            </a:r>
            <a:endParaRPr lang="en-US" sz="1100" dirty="0"/>
          </a:p>
        </p:txBody>
      </p:sp>
      <p:sp>
        <p:nvSpPr>
          <p:cNvPr id="20" name="Text 14"/>
          <p:cNvSpPr/>
          <p:nvPr/>
        </p:nvSpPr>
        <p:spPr>
          <a:xfrm>
            <a:off x="1143000" y="4507992"/>
            <a:ext cx="3337560" cy="384048"/>
          </a:xfrm>
          <a:prstGeom prst="rect">
            <a:avLst/>
          </a:prstGeom>
          <a:noFill/>
          <a:ln/>
        </p:spPr>
        <p:txBody>
          <a:bodyPr wrap="square" lIns="0" tIns="0" rIns="0" bIns="0" rtlCol="0" anchor="ctr"/>
          <a:lstStyle/>
          <a:p>
            <a:pPr indent="0" marL="0">
              <a:buNone/>
            </a:pPr>
            <a:r>
              <a:rPr lang="en-US" sz="900" dirty="0">
                <a:solidFill>
                  <a:srgbClr val="64748B"/>
                </a:solidFill>
              </a:rPr>
              <a:t>Get notified when an item you regularly buy spikes more than 10% above your historical price.</a:t>
            </a:r>
            <a:endParaRPr lang="en-US" sz="900" dirty="0"/>
          </a:p>
        </p:txBody>
      </p:sp>
      <p:sp>
        <p:nvSpPr>
          <p:cNvPr id="21" name="Shape 15"/>
          <p:cNvSpPr/>
          <p:nvPr/>
        </p:nvSpPr>
        <p:spPr>
          <a:xfrm>
            <a:off x="4937760" y="1417320"/>
            <a:ext cx="3703320" cy="32004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2" name="Text 16"/>
          <p:cNvSpPr/>
          <p:nvPr/>
        </p:nvSpPr>
        <p:spPr>
          <a:xfrm>
            <a:off x="5074920" y="1508760"/>
            <a:ext cx="3429000" cy="228600"/>
          </a:xfrm>
          <a:prstGeom prst="rect">
            <a:avLst/>
          </a:prstGeom>
          <a:noFill/>
          <a:ln/>
        </p:spPr>
        <p:txBody>
          <a:bodyPr wrap="square" lIns="0" tIns="0" rIns="0" bIns="0" rtlCol="0" anchor="ctr"/>
          <a:lstStyle/>
          <a:p>
            <a:pPr indent="0" marL="0">
              <a:buNone/>
            </a:pPr>
            <a:r>
              <a:rPr lang="en-US" sz="900" b="1" dirty="0">
                <a:solidFill>
                  <a:srgbClr val="0F172A"/>
                </a:solidFill>
              </a:rPr>
              <a:t>Organic Whole Milk 1gal — Price History</a:t>
            </a:r>
            <a:endParaRPr lang="en-US" sz="900" dirty="0"/>
          </a:p>
        </p:txBody>
      </p:sp>
      <p:sp>
        <p:nvSpPr>
          <p:cNvPr id="23" name="Text 17"/>
          <p:cNvSpPr/>
          <p:nvPr/>
        </p:nvSpPr>
        <p:spPr>
          <a:xfrm>
            <a:off x="5074920" y="1755648"/>
            <a:ext cx="3429000" cy="164592"/>
          </a:xfrm>
          <a:prstGeom prst="rect">
            <a:avLst/>
          </a:prstGeom>
          <a:noFill/>
          <a:ln/>
        </p:spPr>
        <p:txBody>
          <a:bodyPr wrap="square" lIns="0" tIns="0" rIns="0" bIns="0" rtlCol="0" anchor="ctr"/>
          <a:lstStyle/>
          <a:p>
            <a:pPr indent="0" marL="0">
              <a:buNone/>
            </a:pPr>
            <a:r>
              <a:rPr lang="en-US" sz="800" dirty="0">
                <a:solidFill>
                  <a:srgbClr val="64748B"/>
                </a:solidFill>
              </a:rPr>
              <a:t>You paid vs. market</a:t>
            </a:r>
            <a:endParaRPr lang="en-US" sz="800" dirty="0"/>
          </a:p>
        </p:txBody>
      </p:sp>
      <p:graphicFrame>
        <p:nvGraphicFramePr>
          <p:cNvPr id="24" name="Chart 0" descr=""/>
          <p:cNvGraphicFramePr/>
          <p:nvPr/>
        </p:nvGraphicFramePr>
        <p:xfrm>
          <a:off x="4937760" y="1965960"/>
          <a:ext cx="3703320" cy="2331720"/>
        </p:xfrm>
        <a:graphic xmlns:a="http://schemas.openxmlformats.org/drawingml/2006/main">
          <a:graphicData uri="http://schemas.openxmlformats.org/drawingml/2006/chart">
            <c:chart xmlns:c="http://schemas.openxmlformats.org/drawingml/2006/chart" r:id="rId5"/>
          </a:graphicData>
        </a:graphic>
      </p:graphicFrame>
      <p:sp>
        <p:nvSpPr>
          <p:cNvPr id="25" name="Text 18"/>
          <p:cNvSpPr/>
          <p:nvPr/>
        </p:nvSpPr>
        <p:spPr>
          <a:xfrm>
            <a:off x="5074920" y="4462272"/>
            <a:ext cx="3429000" cy="201168"/>
          </a:xfrm>
          <a:prstGeom prst="rect">
            <a:avLst/>
          </a:prstGeom>
          <a:noFill/>
          <a:ln/>
        </p:spPr>
        <p:txBody>
          <a:bodyPr wrap="square" lIns="0" tIns="0" rIns="0" bIns="0" rtlCol="0" anchor="ctr"/>
          <a:lstStyle/>
          <a:p>
            <a:pPr indent="0" marL="0">
              <a:buNone/>
            </a:pPr>
            <a:r>
              <a:rPr lang="en-US" sz="800" b="1" dirty="0">
                <a:solidFill>
                  <a:srgbClr val="10B981"/>
                </a:solidFill>
              </a:rPr>
              <a:t>+15.9% since first purchase  ·  Save $5.20/mo at Costco</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256032"/>
            <a:ext cx="1371600" cy="256032"/>
          </a:xfrm>
          <a:prstGeom prst="rect">
            <a:avLst/>
          </a:prstGeom>
          <a:solidFill>
            <a:srgbClr val="F59E0B"/>
          </a:solidFill>
          <a:ln w="12700">
            <a:solidFill>
              <a:srgbClr val="F59E0B"/>
            </a:solidFill>
            <a:prstDash val="solid"/>
          </a:ln>
        </p:spPr>
      </p:sp>
      <p:sp>
        <p:nvSpPr>
          <p:cNvPr id="3" name="Text 1"/>
          <p:cNvSpPr/>
          <p:nvPr/>
        </p:nvSpPr>
        <p:spPr>
          <a:xfrm>
            <a:off x="502920" y="256032"/>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rPr>
              <a:t>SMART SHOPPING</a:t>
            </a:r>
            <a:endParaRPr lang="en-US" sz="800" dirty="0"/>
          </a:p>
        </p:txBody>
      </p:sp>
      <p:sp>
        <p:nvSpPr>
          <p:cNvPr id="4" name="Text 2"/>
          <p:cNvSpPr/>
          <p:nvPr/>
        </p:nvSpPr>
        <p:spPr>
          <a:xfrm>
            <a:off x="502920" y="594360"/>
            <a:ext cx="813816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Type or upload your list — AI does the rest</a:t>
            </a:r>
            <a:endParaRPr lang="en-US" sz="2800" dirty="0"/>
          </a:p>
        </p:txBody>
      </p:sp>
      <p:sp>
        <p:nvSpPr>
          <p:cNvPr id="5" name="Shape 3"/>
          <p:cNvSpPr/>
          <p:nvPr/>
        </p:nvSpPr>
        <p:spPr>
          <a:xfrm>
            <a:off x="1143000" y="1417320"/>
            <a:ext cx="594360" cy="594360"/>
          </a:xfrm>
          <a:prstGeom prst="ellipse">
            <a:avLst/>
          </a:prstGeom>
          <a:solidFill>
            <a:srgbClr val="F59E0B"/>
          </a:solidFill>
          <a:ln w="12700">
            <a:solidFill>
              <a:srgbClr val="F59E0B"/>
            </a:solidFill>
            <a:prstDash val="solid"/>
          </a:ln>
        </p:spPr>
      </p:sp>
      <p:sp>
        <p:nvSpPr>
          <p:cNvPr id="6" name="Text 4"/>
          <p:cNvSpPr/>
          <p:nvPr/>
        </p:nvSpPr>
        <p:spPr>
          <a:xfrm>
            <a:off x="1143000" y="14173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Shape 5"/>
          <p:cNvSpPr/>
          <p:nvPr/>
        </p:nvSpPr>
        <p:spPr>
          <a:xfrm>
            <a:off x="2468880" y="1714500"/>
            <a:ext cx="502920" cy="0"/>
          </a:xfrm>
          <a:prstGeom prst="line">
            <a:avLst/>
          </a:prstGeom>
          <a:noFill/>
          <a:ln w="19050">
            <a:solidFill>
              <a:srgbClr val="F59E0B"/>
            </a:solidFill>
            <a:prstDash val="dash"/>
          </a:ln>
        </p:spPr>
      </p:sp>
      <p:sp>
        <p:nvSpPr>
          <p:cNvPr id="8" name="Shape 6"/>
          <p:cNvSpPr/>
          <p:nvPr/>
        </p:nvSpPr>
        <p:spPr>
          <a:xfrm>
            <a:off x="502920" y="2148840"/>
            <a:ext cx="1920240" cy="2103120"/>
          </a:xfrm>
          <a:prstGeom prst="rect">
            <a:avLst/>
          </a:prstGeom>
          <a:solidFill>
            <a:srgbClr val="FFFBEB"/>
          </a:solidFill>
          <a:ln w="12700">
            <a:solidFill>
              <a:srgbClr val="FDE68A"/>
            </a:solidFill>
            <a:prstDash val="solid"/>
          </a:ln>
          <a:effectLst>
            <a:outerShdw sx="100000" sy="100000" kx="0" ky="0" algn="bl" rotWithShape="0" blurRad="101600" dist="38100" dir="8100000">
              <a:srgbClr val="000000">
                <a:alpha val="10000"/>
              </a:srgbClr>
            </a:outerShdw>
          </a:effectLst>
        </p:spPr>
      </p:sp>
      <p:sp>
        <p:nvSpPr>
          <p:cNvPr id="9" name="Text 7"/>
          <p:cNvSpPr/>
          <p:nvPr/>
        </p:nvSpPr>
        <p:spPr>
          <a:xfrm>
            <a:off x="594360" y="2240280"/>
            <a:ext cx="1737360" cy="274320"/>
          </a:xfrm>
          <a:prstGeom prst="rect">
            <a:avLst/>
          </a:prstGeom>
          <a:noFill/>
          <a:ln/>
        </p:spPr>
        <p:txBody>
          <a:bodyPr wrap="square" lIns="0" tIns="0" rIns="0" bIns="0" rtlCol="0" anchor="ctr"/>
          <a:lstStyle/>
          <a:p>
            <a:pPr algn="ctr" indent="0" marL="0">
              <a:buNone/>
            </a:pPr>
            <a:r>
              <a:rPr lang="en-US" sz="1100" b="1" dirty="0">
                <a:solidFill>
                  <a:srgbClr val="0F172A"/>
                </a:solidFill>
              </a:rPr>
              <a:t>Input List</a:t>
            </a:r>
            <a:endParaRPr lang="en-US" sz="1100" dirty="0"/>
          </a:p>
        </p:txBody>
      </p:sp>
      <p:sp>
        <p:nvSpPr>
          <p:cNvPr id="10" name="Text 8"/>
          <p:cNvSpPr/>
          <p:nvPr/>
        </p:nvSpPr>
        <p:spPr>
          <a:xfrm>
            <a:off x="594360" y="2606040"/>
            <a:ext cx="1737360" cy="1508760"/>
          </a:xfrm>
          <a:prstGeom prst="rect">
            <a:avLst/>
          </a:prstGeom>
          <a:noFill/>
          <a:ln/>
        </p:spPr>
        <p:txBody>
          <a:bodyPr wrap="square" lIns="0" tIns="0" rIns="0" bIns="0" rtlCol="0" anchor="ctr"/>
          <a:lstStyle/>
          <a:p>
            <a:pPr algn="ctr" indent="0" marL="0">
              <a:buNone/>
            </a:pPr>
            <a:r>
              <a:rPr lang="en-US" sz="900" dirty="0">
                <a:solidFill>
                  <a:srgbClr val="64748B"/>
                </a:solidFill>
              </a:rPr>
              <a:t>Type or upload your shopping list — any format, any items</a:t>
            </a:r>
            <a:endParaRPr lang="en-US" sz="900" dirty="0"/>
          </a:p>
        </p:txBody>
      </p:sp>
      <p:sp>
        <p:nvSpPr>
          <p:cNvPr id="11" name="Shape 9"/>
          <p:cNvSpPr/>
          <p:nvPr/>
        </p:nvSpPr>
        <p:spPr>
          <a:xfrm>
            <a:off x="3291840" y="1417320"/>
            <a:ext cx="594360" cy="594360"/>
          </a:xfrm>
          <a:prstGeom prst="ellipse">
            <a:avLst/>
          </a:prstGeom>
          <a:solidFill>
            <a:srgbClr val="F59E0B"/>
          </a:solidFill>
          <a:ln w="12700">
            <a:solidFill>
              <a:srgbClr val="F59E0B"/>
            </a:solidFill>
            <a:prstDash val="solid"/>
          </a:ln>
        </p:spPr>
      </p:sp>
      <p:sp>
        <p:nvSpPr>
          <p:cNvPr id="12" name="Text 10"/>
          <p:cNvSpPr/>
          <p:nvPr/>
        </p:nvSpPr>
        <p:spPr>
          <a:xfrm>
            <a:off x="3291840" y="14173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3" name="Shape 11"/>
          <p:cNvSpPr/>
          <p:nvPr/>
        </p:nvSpPr>
        <p:spPr>
          <a:xfrm>
            <a:off x="4617720" y="1714500"/>
            <a:ext cx="502920" cy="0"/>
          </a:xfrm>
          <a:prstGeom prst="line">
            <a:avLst/>
          </a:prstGeom>
          <a:noFill/>
          <a:ln w="19050">
            <a:solidFill>
              <a:srgbClr val="F59E0B"/>
            </a:solidFill>
            <a:prstDash val="dash"/>
          </a:ln>
        </p:spPr>
      </p:sp>
      <p:sp>
        <p:nvSpPr>
          <p:cNvPr id="14" name="Shape 12"/>
          <p:cNvSpPr/>
          <p:nvPr/>
        </p:nvSpPr>
        <p:spPr>
          <a:xfrm>
            <a:off x="2651760" y="2148840"/>
            <a:ext cx="1920240" cy="2103120"/>
          </a:xfrm>
          <a:prstGeom prst="rect">
            <a:avLst/>
          </a:prstGeom>
          <a:solidFill>
            <a:srgbClr val="FFFBEB"/>
          </a:solidFill>
          <a:ln w="12700">
            <a:solidFill>
              <a:srgbClr val="FDE68A"/>
            </a:solidFill>
            <a:prstDash val="solid"/>
          </a:ln>
          <a:effectLst>
            <a:outerShdw sx="100000" sy="100000" kx="0" ky="0" algn="bl" rotWithShape="0" blurRad="101600" dist="38100" dir="8100000">
              <a:srgbClr val="000000">
                <a:alpha val="10000"/>
              </a:srgbClr>
            </a:outerShdw>
          </a:effectLst>
        </p:spPr>
      </p:sp>
      <p:sp>
        <p:nvSpPr>
          <p:cNvPr id="15" name="Text 13"/>
          <p:cNvSpPr/>
          <p:nvPr/>
        </p:nvSpPr>
        <p:spPr>
          <a:xfrm>
            <a:off x="2743200" y="2240280"/>
            <a:ext cx="1737360" cy="274320"/>
          </a:xfrm>
          <a:prstGeom prst="rect">
            <a:avLst/>
          </a:prstGeom>
          <a:noFill/>
          <a:ln/>
        </p:spPr>
        <p:txBody>
          <a:bodyPr wrap="square" lIns="0" tIns="0" rIns="0" bIns="0" rtlCol="0" anchor="ctr"/>
          <a:lstStyle/>
          <a:p>
            <a:pPr algn="ctr" indent="0" marL="0">
              <a:buNone/>
            </a:pPr>
            <a:r>
              <a:rPr lang="en-US" sz="1100" b="1" dirty="0">
                <a:solidFill>
                  <a:srgbClr val="0F172A"/>
                </a:solidFill>
              </a:rPr>
              <a:t>AI Estimates</a:t>
            </a:r>
            <a:endParaRPr lang="en-US" sz="1100" dirty="0"/>
          </a:p>
        </p:txBody>
      </p:sp>
      <p:sp>
        <p:nvSpPr>
          <p:cNvPr id="16" name="Text 14"/>
          <p:cNvSpPr/>
          <p:nvPr/>
        </p:nvSpPr>
        <p:spPr>
          <a:xfrm>
            <a:off x="2743200" y="2606040"/>
            <a:ext cx="1737360" cy="1508760"/>
          </a:xfrm>
          <a:prstGeom prst="rect">
            <a:avLst/>
          </a:prstGeom>
          <a:noFill/>
          <a:ln/>
        </p:spPr>
        <p:txBody>
          <a:bodyPr wrap="square" lIns="0" tIns="0" rIns="0" bIns="0" rtlCol="0" anchor="ctr"/>
          <a:lstStyle/>
          <a:p>
            <a:pPr algn="ctr" indent="0" marL="0">
              <a:buNone/>
            </a:pPr>
            <a:r>
              <a:rPr lang="en-US" sz="900" dirty="0">
                <a:solidFill>
                  <a:srgbClr val="64748B"/>
                </a:solidFill>
              </a:rPr>
              <a:t>AI uses your price history + live market data to estimate cost per item at each nearby store</a:t>
            </a:r>
            <a:endParaRPr lang="en-US" sz="900" dirty="0"/>
          </a:p>
        </p:txBody>
      </p:sp>
      <p:sp>
        <p:nvSpPr>
          <p:cNvPr id="17" name="Shape 15"/>
          <p:cNvSpPr/>
          <p:nvPr/>
        </p:nvSpPr>
        <p:spPr>
          <a:xfrm>
            <a:off x="5440680" y="1417320"/>
            <a:ext cx="594360" cy="594360"/>
          </a:xfrm>
          <a:prstGeom prst="ellipse">
            <a:avLst/>
          </a:prstGeom>
          <a:solidFill>
            <a:srgbClr val="F59E0B"/>
          </a:solidFill>
          <a:ln w="12700">
            <a:solidFill>
              <a:srgbClr val="F59E0B"/>
            </a:solidFill>
            <a:prstDash val="solid"/>
          </a:ln>
        </p:spPr>
      </p:sp>
      <p:sp>
        <p:nvSpPr>
          <p:cNvPr id="18" name="Text 16"/>
          <p:cNvSpPr/>
          <p:nvPr/>
        </p:nvSpPr>
        <p:spPr>
          <a:xfrm>
            <a:off x="5440680" y="14173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9" name="Shape 17"/>
          <p:cNvSpPr/>
          <p:nvPr/>
        </p:nvSpPr>
        <p:spPr>
          <a:xfrm>
            <a:off x="6766560" y="1714500"/>
            <a:ext cx="502920" cy="0"/>
          </a:xfrm>
          <a:prstGeom prst="line">
            <a:avLst/>
          </a:prstGeom>
          <a:noFill/>
          <a:ln w="19050">
            <a:solidFill>
              <a:srgbClr val="F59E0B"/>
            </a:solidFill>
            <a:prstDash val="dash"/>
          </a:ln>
        </p:spPr>
      </p:sp>
      <p:sp>
        <p:nvSpPr>
          <p:cNvPr id="20" name="Shape 18"/>
          <p:cNvSpPr/>
          <p:nvPr/>
        </p:nvSpPr>
        <p:spPr>
          <a:xfrm>
            <a:off x="4800600" y="2148840"/>
            <a:ext cx="1920240" cy="2103120"/>
          </a:xfrm>
          <a:prstGeom prst="rect">
            <a:avLst/>
          </a:prstGeom>
          <a:solidFill>
            <a:srgbClr val="FFFBEB"/>
          </a:solidFill>
          <a:ln w="12700">
            <a:solidFill>
              <a:srgbClr val="FDE68A"/>
            </a:solidFill>
            <a:prstDash val="solid"/>
          </a:ln>
          <a:effectLst>
            <a:outerShdw sx="100000" sy="100000" kx="0" ky="0" algn="bl" rotWithShape="0" blurRad="101600" dist="38100" dir="8100000">
              <a:srgbClr val="000000">
                <a:alpha val="10000"/>
              </a:srgbClr>
            </a:outerShdw>
          </a:effectLst>
        </p:spPr>
      </p:sp>
      <p:sp>
        <p:nvSpPr>
          <p:cNvPr id="21" name="Text 19"/>
          <p:cNvSpPr/>
          <p:nvPr/>
        </p:nvSpPr>
        <p:spPr>
          <a:xfrm>
            <a:off x="4892040" y="2240280"/>
            <a:ext cx="1737360" cy="274320"/>
          </a:xfrm>
          <a:prstGeom prst="rect">
            <a:avLst/>
          </a:prstGeom>
          <a:noFill/>
          <a:ln/>
        </p:spPr>
        <p:txBody>
          <a:bodyPr wrap="square" lIns="0" tIns="0" rIns="0" bIns="0" rtlCol="0" anchor="ctr"/>
          <a:lstStyle/>
          <a:p>
            <a:pPr algn="ctr" indent="0" marL="0">
              <a:buNone/>
            </a:pPr>
            <a:r>
              <a:rPr lang="en-US" sz="1100" b="1" dirty="0">
                <a:solidFill>
                  <a:srgbClr val="0F172A"/>
                </a:solidFill>
              </a:rPr>
              <a:t>Store Split</a:t>
            </a:r>
            <a:endParaRPr lang="en-US" sz="1100" dirty="0"/>
          </a:p>
        </p:txBody>
      </p:sp>
      <p:sp>
        <p:nvSpPr>
          <p:cNvPr id="22" name="Text 20"/>
          <p:cNvSpPr/>
          <p:nvPr/>
        </p:nvSpPr>
        <p:spPr>
          <a:xfrm>
            <a:off x="4892040" y="2606040"/>
            <a:ext cx="1737360" cy="1508760"/>
          </a:xfrm>
          <a:prstGeom prst="rect">
            <a:avLst/>
          </a:prstGeom>
          <a:noFill/>
          <a:ln/>
        </p:spPr>
        <p:txBody>
          <a:bodyPr wrap="square" lIns="0" tIns="0" rIns="0" bIns="0" rtlCol="0" anchor="ctr"/>
          <a:lstStyle/>
          <a:p>
            <a:pPr algn="ctr" indent="0" marL="0">
              <a:buNone/>
            </a:pPr>
            <a:r>
              <a:rPr lang="en-US" sz="900" dirty="0">
                <a:solidFill>
                  <a:srgbClr val="64748B"/>
                </a:solidFill>
              </a:rPr>
              <a:t>Recommends which items to buy where to minimize your total spend, accounting for travel</a:t>
            </a:r>
            <a:endParaRPr lang="en-US" sz="900" dirty="0"/>
          </a:p>
        </p:txBody>
      </p:sp>
      <p:sp>
        <p:nvSpPr>
          <p:cNvPr id="23" name="Shape 21"/>
          <p:cNvSpPr/>
          <p:nvPr/>
        </p:nvSpPr>
        <p:spPr>
          <a:xfrm>
            <a:off x="7589520" y="1417320"/>
            <a:ext cx="594360" cy="594360"/>
          </a:xfrm>
          <a:prstGeom prst="ellipse">
            <a:avLst/>
          </a:prstGeom>
          <a:solidFill>
            <a:srgbClr val="F59E0B"/>
          </a:solidFill>
          <a:ln w="12700">
            <a:solidFill>
              <a:srgbClr val="F59E0B"/>
            </a:solidFill>
            <a:prstDash val="solid"/>
          </a:ln>
        </p:spPr>
      </p:sp>
      <p:sp>
        <p:nvSpPr>
          <p:cNvPr id="24" name="Text 22"/>
          <p:cNvSpPr/>
          <p:nvPr/>
        </p:nvSpPr>
        <p:spPr>
          <a:xfrm>
            <a:off x="7589520" y="14173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5" name="Shape 23"/>
          <p:cNvSpPr/>
          <p:nvPr/>
        </p:nvSpPr>
        <p:spPr>
          <a:xfrm>
            <a:off x="6949440" y="2148840"/>
            <a:ext cx="1920240" cy="2103120"/>
          </a:xfrm>
          <a:prstGeom prst="rect">
            <a:avLst/>
          </a:prstGeom>
          <a:solidFill>
            <a:srgbClr val="FFFBEB"/>
          </a:solidFill>
          <a:ln w="12700">
            <a:solidFill>
              <a:srgbClr val="FDE68A"/>
            </a:solidFill>
            <a:prstDash val="solid"/>
          </a:ln>
          <a:effectLst>
            <a:outerShdw sx="100000" sy="100000" kx="0" ky="0" algn="bl" rotWithShape="0" blurRad="101600" dist="38100" dir="8100000">
              <a:srgbClr val="000000">
                <a:alpha val="10000"/>
              </a:srgbClr>
            </a:outerShdw>
          </a:effectLst>
        </p:spPr>
      </p:sp>
      <p:sp>
        <p:nvSpPr>
          <p:cNvPr id="26" name="Text 24"/>
          <p:cNvSpPr/>
          <p:nvPr/>
        </p:nvSpPr>
        <p:spPr>
          <a:xfrm>
            <a:off x="7040880" y="2240280"/>
            <a:ext cx="1737360" cy="274320"/>
          </a:xfrm>
          <a:prstGeom prst="rect">
            <a:avLst/>
          </a:prstGeom>
          <a:noFill/>
          <a:ln/>
        </p:spPr>
        <p:txBody>
          <a:bodyPr wrap="square" lIns="0" tIns="0" rIns="0" bIns="0" rtlCol="0" anchor="ctr"/>
          <a:lstStyle/>
          <a:p>
            <a:pPr algn="ctr" indent="0" marL="0">
              <a:buNone/>
            </a:pPr>
            <a:r>
              <a:rPr lang="en-US" sz="1100" b="1" dirty="0">
                <a:solidFill>
                  <a:srgbClr val="0F172A"/>
                </a:solidFill>
              </a:rPr>
              <a:t>Budget Alerts</a:t>
            </a:r>
            <a:endParaRPr lang="en-US" sz="1100" dirty="0"/>
          </a:p>
        </p:txBody>
      </p:sp>
      <p:sp>
        <p:nvSpPr>
          <p:cNvPr id="27" name="Text 25"/>
          <p:cNvSpPr/>
          <p:nvPr/>
        </p:nvSpPr>
        <p:spPr>
          <a:xfrm>
            <a:off x="7040880" y="2606040"/>
            <a:ext cx="1737360" cy="1508760"/>
          </a:xfrm>
          <a:prstGeom prst="rect">
            <a:avLst/>
          </a:prstGeom>
          <a:noFill/>
          <a:ln/>
        </p:spPr>
        <p:txBody>
          <a:bodyPr wrap="square" lIns="0" tIns="0" rIns="0" bIns="0" rtlCol="0" anchor="ctr"/>
          <a:lstStyle/>
          <a:p>
            <a:pPr algn="ctr" indent="0" marL="0">
              <a:buNone/>
            </a:pPr>
            <a:r>
              <a:rPr lang="en-US" sz="900" dirty="0">
                <a:solidFill>
                  <a:srgbClr val="64748B"/>
                </a:solidFill>
              </a:rPr>
              <a:t>Set monthly limits per category — get alerted before you overspend, not after</a:t>
            </a:r>
            <a:endParaRPr lang="en-US" sz="900" dirty="0"/>
          </a:p>
        </p:txBody>
      </p:sp>
      <p:sp>
        <p:nvSpPr>
          <p:cNvPr id="28" name="Text 26"/>
          <p:cNvSpPr/>
          <p:nvPr/>
        </p:nvSpPr>
        <p:spPr>
          <a:xfrm>
            <a:off x="502920" y="4526280"/>
            <a:ext cx="8138160" cy="274320"/>
          </a:xfrm>
          <a:prstGeom prst="rect">
            <a:avLst/>
          </a:prstGeom>
          <a:noFill/>
          <a:ln/>
        </p:spPr>
        <p:txBody>
          <a:bodyPr wrap="square" lIns="0" tIns="0" rIns="0" bIns="0" rtlCol="0" anchor="ctr"/>
          <a:lstStyle/>
          <a:p>
            <a:pPr algn="ctr" indent="0" marL="0">
              <a:buNone/>
            </a:pPr>
            <a:r>
              <a:rPr lang="en-US" sz="1000" i="1" dirty="0">
                <a:solidFill>
                  <a:srgbClr val="64748B"/>
                </a:solidFill>
              </a:rPr>
              <a:t>Average user saves $40–80/month by following the store recommendations.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256032"/>
            <a:ext cx="1371600" cy="256032"/>
          </a:xfrm>
          <a:prstGeom prst="rect">
            <a:avLst/>
          </a:prstGeom>
          <a:solidFill>
            <a:srgbClr val="6366F1"/>
          </a:solidFill>
          <a:ln w="12700">
            <a:solidFill>
              <a:srgbClr val="6366F1"/>
            </a:solidFill>
            <a:prstDash val="solid"/>
          </a:ln>
        </p:spPr>
      </p:sp>
      <p:sp>
        <p:nvSpPr>
          <p:cNvPr id="3" name="Text 1"/>
          <p:cNvSpPr/>
          <p:nvPr/>
        </p:nvSpPr>
        <p:spPr>
          <a:xfrm>
            <a:off x="502920" y="256032"/>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rPr>
              <a:t>NOTIFICATIONS</a:t>
            </a:r>
            <a:endParaRPr lang="en-US" sz="800" dirty="0"/>
          </a:p>
        </p:txBody>
      </p:sp>
      <p:sp>
        <p:nvSpPr>
          <p:cNvPr id="4" name="Text 2"/>
          <p:cNvSpPr/>
          <p:nvPr/>
        </p:nvSpPr>
        <p:spPr>
          <a:xfrm>
            <a:off x="502920" y="594360"/>
            <a:ext cx="813816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Instant approval — you stay in control</a:t>
            </a:r>
            <a:endParaRPr lang="en-US" sz="2800" dirty="0"/>
          </a:p>
        </p:txBody>
      </p:sp>
      <p:sp>
        <p:nvSpPr>
          <p:cNvPr id="5" name="Shape 3"/>
          <p:cNvSpPr/>
          <p:nvPr/>
        </p:nvSpPr>
        <p:spPr>
          <a:xfrm>
            <a:off x="502920" y="1417320"/>
            <a:ext cx="3840480" cy="3200400"/>
          </a:xfrm>
          <a:prstGeom prst="rect">
            <a:avLst/>
          </a:prstGeom>
          <a:solidFill>
            <a:srgbClr val="0F172A"/>
          </a:solidFill>
          <a:ln w="12700">
            <a:solidFill>
              <a:srgbClr val="1E293B"/>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502920" y="1417320"/>
            <a:ext cx="3840480" cy="320040"/>
          </a:xfrm>
          <a:prstGeom prst="rect">
            <a:avLst/>
          </a:prstGeom>
          <a:solidFill>
            <a:srgbClr val="1E293B"/>
          </a:solidFill>
          <a:ln w="12700">
            <a:solidFill>
              <a:srgbClr val="1E293B"/>
            </a:solidFill>
            <a:prstDash val="solid"/>
          </a:ln>
        </p:spPr>
      </p:sp>
      <p:sp>
        <p:nvSpPr>
          <p:cNvPr id="7" name="Text 5"/>
          <p:cNvSpPr/>
          <p:nvPr/>
        </p:nvSpPr>
        <p:spPr>
          <a:xfrm>
            <a:off x="502920" y="1435608"/>
            <a:ext cx="3840480" cy="274320"/>
          </a:xfrm>
          <a:prstGeom prst="rect">
            <a:avLst/>
          </a:prstGeom>
          <a:noFill/>
          <a:ln/>
        </p:spPr>
        <p:txBody>
          <a:bodyPr wrap="square" lIns="0" tIns="0" rIns="0" bIns="0" rtlCol="0" anchor="ctr"/>
          <a:lstStyle/>
          <a:p>
            <a:pPr algn="ctr" indent="0" marL="0">
              <a:buNone/>
            </a:pPr>
            <a:r>
              <a:rPr lang="en-US" sz="900" b="1" dirty="0">
                <a:solidFill>
                  <a:srgbClr val="FFFFFF"/>
                </a:solidFill>
              </a:rPr>
              <a:t>9:41 AM</a:t>
            </a:r>
            <a:endParaRPr lang="en-US" sz="900" dirty="0"/>
          </a:p>
        </p:txBody>
      </p:sp>
      <p:sp>
        <p:nvSpPr>
          <p:cNvPr id="8" name="Shape 6"/>
          <p:cNvSpPr/>
          <p:nvPr/>
        </p:nvSpPr>
        <p:spPr>
          <a:xfrm>
            <a:off x="685800" y="1874520"/>
            <a:ext cx="3474720" cy="11887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pic>
        <p:nvPicPr>
          <p:cNvPr id="9" name="Image 0" descr="preencoded.png">    </p:cNvPr>
          <p:cNvPicPr>
            <a:picLocks noChangeAspect="1"/>
          </p:cNvPicPr>
          <p:nvPr/>
        </p:nvPicPr>
        <p:blipFill>
          <a:blip r:embed="rId1"/>
          <a:stretch>
            <a:fillRect/>
          </a:stretch>
        </p:blipFill>
        <p:spPr>
          <a:xfrm>
            <a:off x="804672" y="1965960"/>
            <a:ext cx="274320" cy="274320"/>
          </a:xfrm>
          <a:prstGeom prst="rect">
            <a:avLst/>
          </a:prstGeom>
        </p:spPr>
      </p:pic>
      <p:sp>
        <p:nvSpPr>
          <p:cNvPr id="10" name="Text 7"/>
          <p:cNvSpPr/>
          <p:nvPr/>
        </p:nvSpPr>
        <p:spPr>
          <a:xfrm>
            <a:off x="1143000" y="1965960"/>
            <a:ext cx="2286000" cy="182880"/>
          </a:xfrm>
          <a:prstGeom prst="rect">
            <a:avLst/>
          </a:prstGeom>
          <a:noFill/>
          <a:ln/>
        </p:spPr>
        <p:txBody>
          <a:bodyPr wrap="square" lIns="0" tIns="0" rIns="0" bIns="0" rtlCol="0" anchor="ctr"/>
          <a:lstStyle/>
          <a:p>
            <a:pPr indent="0" marL="0">
              <a:buNone/>
            </a:pPr>
            <a:r>
              <a:rPr lang="en-US" sz="900" b="1" dirty="0">
                <a:solidFill>
                  <a:srgbClr val="0F172A"/>
                </a:solidFill>
              </a:rPr>
              <a:t>ReceiptIQ</a:t>
            </a:r>
            <a:endParaRPr lang="en-US" sz="900" dirty="0"/>
          </a:p>
        </p:txBody>
      </p:sp>
      <p:sp>
        <p:nvSpPr>
          <p:cNvPr id="11" name="Text 8"/>
          <p:cNvSpPr/>
          <p:nvPr/>
        </p:nvSpPr>
        <p:spPr>
          <a:xfrm>
            <a:off x="3200400" y="1965960"/>
            <a:ext cx="822960" cy="182880"/>
          </a:xfrm>
          <a:prstGeom prst="rect">
            <a:avLst/>
          </a:prstGeom>
          <a:noFill/>
          <a:ln/>
        </p:spPr>
        <p:txBody>
          <a:bodyPr wrap="square" lIns="0" tIns="0" rIns="0" bIns="0" rtlCol="0" anchor="ctr"/>
          <a:lstStyle/>
          <a:p>
            <a:pPr algn="r" indent="0" marL="0">
              <a:buNone/>
            </a:pPr>
            <a:r>
              <a:rPr lang="en-US" sz="800" dirty="0">
                <a:solidFill>
                  <a:srgbClr val="64748B"/>
                </a:solidFill>
              </a:rPr>
              <a:t>now</a:t>
            </a:r>
            <a:endParaRPr lang="en-US" sz="800" dirty="0"/>
          </a:p>
        </p:txBody>
      </p:sp>
      <p:sp>
        <p:nvSpPr>
          <p:cNvPr id="12" name="Text 9"/>
          <p:cNvSpPr/>
          <p:nvPr/>
        </p:nvSpPr>
        <p:spPr>
          <a:xfrm>
            <a:off x="804672" y="2176272"/>
            <a:ext cx="3200400" cy="201168"/>
          </a:xfrm>
          <a:prstGeom prst="rect">
            <a:avLst/>
          </a:prstGeom>
          <a:noFill/>
          <a:ln/>
        </p:spPr>
        <p:txBody>
          <a:bodyPr wrap="square" lIns="0" tIns="0" rIns="0" bIns="0" rtlCol="0" anchor="ctr"/>
          <a:lstStyle/>
          <a:p>
            <a:pPr indent="0" marL="0">
              <a:buNone/>
            </a:pPr>
            <a:r>
              <a:rPr lang="en-US" sz="1100" b="1" dirty="0">
                <a:solidFill>
                  <a:srgbClr val="0F172A"/>
                </a:solidFill>
              </a:rPr>
              <a:t>Con Edison bill captured</a:t>
            </a:r>
            <a:endParaRPr lang="en-US" sz="1100" dirty="0"/>
          </a:p>
        </p:txBody>
      </p:sp>
      <p:sp>
        <p:nvSpPr>
          <p:cNvPr id="13" name="Text 10"/>
          <p:cNvSpPr/>
          <p:nvPr/>
        </p:nvSpPr>
        <p:spPr>
          <a:xfrm>
            <a:off x="804672" y="2377440"/>
            <a:ext cx="3200400" cy="182880"/>
          </a:xfrm>
          <a:prstGeom prst="rect">
            <a:avLst/>
          </a:prstGeom>
          <a:noFill/>
          <a:ln/>
        </p:spPr>
        <p:txBody>
          <a:bodyPr wrap="square" lIns="0" tIns="0" rIns="0" bIns="0" rtlCol="0" anchor="ctr"/>
          <a:lstStyle/>
          <a:p>
            <a:pPr indent="0" marL="0">
              <a:buNone/>
            </a:pPr>
            <a:r>
              <a:rPr lang="en-US" sz="900" dirty="0">
                <a:solidFill>
                  <a:srgbClr val="64748B"/>
                </a:solidFill>
              </a:rPr>
              <a:t>$127.43  ·  Utility</a:t>
            </a:r>
            <a:endParaRPr lang="en-US" sz="900" dirty="0"/>
          </a:p>
        </p:txBody>
      </p:sp>
      <p:sp>
        <p:nvSpPr>
          <p:cNvPr id="14" name="Shape 11"/>
          <p:cNvSpPr/>
          <p:nvPr/>
        </p:nvSpPr>
        <p:spPr>
          <a:xfrm>
            <a:off x="685800" y="3063240"/>
            <a:ext cx="1691640" cy="347472"/>
          </a:xfrm>
          <a:prstGeom prst="rect">
            <a:avLst/>
          </a:prstGeom>
          <a:solidFill>
            <a:srgbClr val="10B981"/>
          </a:solidFill>
          <a:ln w="12700">
            <a:solidFill>
              <a:srgbClr val="10B981"/>
            </a:solidFill>
            <a:prstDash val="solid"/>
          </a:ln>
        </p:spPr>
      </p:sp>
      <p:sp>
        <p:nvSpPr>
          <p:cNvPr id="15" name="Text 12"/>
          <p:cNvSpPr/>
          <p:nvPr/>
        </p:nvSpPr>
        <p:spPr>
          <a:xfrm>
            <a:off x="685800" y="3063240"/>
            <a:ext cx="1691640" cy="347472"/>
          </a:xfrm>
          <a:prstGeom prst="rect">
            <a:avLst/>
          </a:prstGeom>
          <a:noFill/>
          <a:ln/>
        </p:spPr>
        <p:txBody>
          <a:bodyPr wrap="square" lIns="0" tIns="0" rIns="0" bIns="0" rtlCol="0" anchor="ctr"/>
          <a:lstStyle/>
          <a:p>
            <a:pPr algn="ctr" indent="0" marL="0">
              <a:buNone/>
            </a:pPr>
            <a:r>
              <a:rPr lang="en-US" sz="1100" b="1" dirty="0">
                <a:solidFill>
                  <a:srgbClr val="FFFFFF"/>
                </a:solidFill>
              </a:rPr>
              <a:t>✓  Keep</a:t>
            </a:r>
            <a:endParaRPr lang="en-US" sz="1100" dirty="0"/>
          </a:p>
        </p:txBody>
      </p:sp>
      <p:sp>
        <p:nvSpPr>
          <p:cNvPr id="16" name="Shape 13"/>
          <p:cNvSpPr/>
          <p:nvPr/>
        </p:nvSpPr>
        <p:spPr>
          <a:xfrm>
            <a:off x="2468880" y="3063240"/>
            <a:ext cx="1691640" cy="347472"/>
          </a:xfrm>
          <a:prstGeom prst="rect">
            <a:avLst/>
          </a:prstGeom>
          <a:solidFill>
            <a:srgbClr val="FEF2F2"/>
          </a:solidFill>
          <a:ln w="12700">
            <a:solidFill>
              <a:srgbClr val="FECACA"/>
            </a:solidFill>
            <a:prstDash val="solid"/>
          </a:ln>
        </p:spPr>
      </p:sp>
      <p:sp>
        <p:nvSpPr>
          <p:cNvPr id="17" name="Text 14"/>
          <p:cNvSpPr/>
          <p:nvPr/>
        </p:nvSpPr>
        <p:spPr>
          <a:xfrm>
            <a:off x="2468880" y="3063240"/>
            <a:ext cx="1691640" cy="347472"/>
          </a:xfrm>
          <a:prstGeom prst="rect">
            <a:avLst/>
          </a:prstGeom>
          <a:noFill/>
          <a:ln/>
        </p:spPr>
        <p:txBody>
          <a:bodyPr wrap="square" lIns="0" tIns="0" rIns="0" bIns="0" rtlCol="0" anchor="ctr"/>
          <a:lstStyle/>
          <a:p>
            <a:pPr algn="ctr" indent="0" marL="0">
              <a:buNone/>
            </a:pPr>
            <a:r>
              <a:rPr lang="en-US" sz="1100" b="1" dirty="0">
                <a:solidFill>
                  <a:srgbClr val="DC2626"/>
                </a:solidFill>
              </a:rPr>
              <a:t>✕  Dismiss</a:t>
            </a:r>
            <a:endParaRPr lang="en-US" sz="1100" dirty="0"/>
          </a:p>
        </p:txBody>
      </p:sp>
      <p:sp>
        <p:nvSpPr>
          <p:cNvPr id="18" name="Text 15"/>
          <p:cNvSpPr/>
          <p:nvPr/>
        </p:nvSpPr>
        <p:spPr>
          <a:xfrm>
            <a:off x="685800" y="3520440"/>
            <a:ext cx="3474720" cy="228600"/>
          </a:xfrm>
          <a:prstGeom prst="rect">
            <a:avLst/>
          </a:prstGeom>
          <a:noFill/>
          <a:ln/>
        </p:spPr>
        <p:txBody>
          <a:bodyPr wrap="square" lIns="0" tIns="0" rIns="0" bIns="0" rtlCol="0" anchor="ctr"/>
          <a:lstStyle/>
          <a:p>
            <a:pPr algn="ctr" indent="0" marL="0">
              <a:buNone/>
            </a:pPr>
            <a:r>
              <a:rPr lang="en-US" sz="800" i="1" dirty="0">
                <a:solidFill>
                  <a:srgbClr val="6366F1"/>
                </a:solidFill>
              </a:rPr>
              <a:t>No action in 24hrs → auto-ingested  ·  Silence = keep</a:t>
            </a:r>
            <a:endParaRPr lang="en-US" sz="800" dirty="0"/>
          </a:p>
        </p:txBody>
      </p:sp>
      <p:sp>
        <p:nvSpPr>
          <p:cNvPr id="19" name="Shape 16"/>
          <p:cNvSpPr/>
          <p:nvPr/>
        </p:nvSpPr>
        <p:spPr>
          <a:xfrm>
            <a:off x="685800" y="3840480"/>
            <a:ext cx="3474720" cy="548640"/>
          </a:xfrm>
          <a:prstGeom prst="rect">
            <a:avLst/>
          </a:prstGeom>
          <a:solidFill>
            <a:srgbClr val="1E293B"/>
          </a:solidFill>
          <a:ln w="12700">
            <a:solidFill>
              <a:srgbClr val="334155"/>
            </a:solidFill>
            <a:prstDash val="solid"/>
          </a:ln>
        </p:spPr>
      </p:sp>
      <p:sp>
        <p:nvSpPr>
          <p:cNvPr id="20" name="Text 17"/>
          <p:cNvSpPr/>
          <p:nvPr/>
        </p:nvSpPr>
        <p:spPr>
          <a:xfrm>
            <a:off x="822960" y="3895344"/>
            <a:ext cx="3200400" cy="182880"/>
          </a:xfrm>
          <a:prstGeom prst="rect">
            <a:avLst/>
          </a:prstGeom>
          <a:noFill/>
          <a:ln/>
        </p:spPr>
        <p:txBody>
          <a:bodyPr wrap="square" lIns="0" tIns="0" rIns="0" bIns="0" rtlCol="0" anchor="ctr"/>
          <a:lstStyle/>
          <a:p>
            <a:pPr indent="0" marL="0">
              <a:buNone/>
            </a:pPr>
            <a:r>
              <a:rPr lang="en-US" sz="900" b="1" dirty="0">
                <a:solidFill>
                  <a:srgbClr val="A5B4FC"/>
                </a:solidFill>
              </a:rPr>
              <a:t>📋  Weekly Digest — every Sunday</a:t>
            </a:r>
            <a:endParaRPr lang="en-US" sz="900" dirty="0"/>
          </a:p>
        </p:txBody>
      </p:sp>
      <p:sp>
        <p:nvSpPr>
          <p:cNvPr id="21" name="Text 18"/>
          <p:cNvSpPr/>
          <p:nvPr/>
        </p:nvSpPr>
        <p:spPr>
          <a:xfrm>
            <a:off x="822960" y="4096512"/>
            <a:ext cx="3200400" cy="182880"/>
          </a:xfrm>
          <a:prstGeom prst="rect">
            <a:avLst/>
          </a:prstGeom>
          <a:noFill/>
          <a:ln/>
        </p:spPr>
        <p:txBody>
          <a:bodyPr wrap="square" lIns="0" tIns="0" rIns="0" bIns="0" rtlCol="0" anchor="ctr"/>
          <a:lstStyle/>
          <a:p>
            <a:pPr indent="0" marL="0">
              <a:buNone/>
            </a:pPr>
            <a:r>
              <a:rPr lang="en-US" sz="800" dirty="0">
                <a:solidFill>
                  <a:srgbClr val="64748B"/>
                </a:solidFill>
              </a:rPr>
              <a:t>Summary of all captured + spending patterns for the week</a:t>
            </a:r>
            <a:endParaRPr lang="en-US" sz="800" dirty="0"/>
          </a:p>
        </p:txBody>
      </p:sp>
      <p:sp>
        <p:nvSpPr>
          <p:cNvPr id="22" name="Shape 19"/>
          <p:cNvSpPr/>
          <p:nvPr/>
        </p:nvSpPr>
        <p:spPr>
          <a:xfrm>
            <a:off x="4800600" y="1417320"/>
            <a:ext cx="3840480" cy="3200400"/>
          </a:xfrm>
          <a:prstGeom prst="rect">
            <a:avLst/>
          </a:prstGeom>
          <a:solidFill>
            <a:srgbClr val="EEF2FF"/>
          </a:solidFill>
          <a:ln w="12700">
            <a:solidFill>
              <a:srgbClr val="C7D2FE"/>
            </a:solidFill>
            <a:prstDash val="solid"/>
          </a:ln>
          <a:effectLst>
            <a:outerShdw sx="100000" sy="100000" kx="0" ky="0" algn="bl" rotWithShape="0" blurRad="101600" dist="38100" dir="8100000">
              <a:srgbClr val="000000">
                <a:alpha val="10000"/>
              </a:srgbClr>
            </a:outerShdw>
          </a:effectLst>
        </p:spPr>
      </p:sp>
      <p:sp>
        <p:nvSpPr>
          <p:cNvPr id="23" name="Text 20"/>
          <p:cNvSpPr/>
          <p:nvPr/>
        </p:nvSpPr>
        <p:spPr>
          <a:xfrm>
            <a:off x="4937760" y="1508760"/>
            <a:ext cx="3566160" cy="274320"/>
          </a:xfrm>
          <a:prstGeom prst="rect">
            <a:avLst/>
          </a:prstGeom>
          <a:noFill/>
          <a:ln/>
        </p:spPr>
        <p:txBody>
          <a:bodyPr wrap="square" lIns="0" tIns="0" rIns="0" bIns="0" rtlCol="0" anchor="ctr"/>
          <a:lstStyle/>
          <a:p>
            <a:pPr indent="0" marL="0">
              <a:buNone/>
            </a:pPr>
            <a:r>
              <a:rPr lang="en-US" sz="1300" b="1" dirty="0">
                <a:solidFill>
                  <a:srgbClr val="6366F1"/>
                </a:solidFill>
              </a:rPr>
              <a:t>How it works</a:t>
            </a:r>
            <a:endParaRPr lang="en-US" sz="1300" dirty="0"/>
          </a:p>
        </p:txBody>
      </p:sp>
      <p:sp>
        <p:nvSpPr>
          <p:cNvPr id="24" name="Text 21"/>
          <p:cNvSpPr/>
          <p:nvPr/>
        </p:nvSpPr>
        <p:spPr>
          <a:xfrm>
            <a:off x="4892040" y="1920240"/>
            <a:ext cx="365760" cy="32004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5" name="Text 22"/>
          <p:cNvSpPr/>
          <p:nvPr/>
        </p:nvSpPr>
        <p:spPr>
          <a:xfrm>
            <a:off x="5303520" y="1920240"/>
            <a:ext cx="3200400" cy="201168"/>
          </a:xfrm>
          <a:prstGeom prst="rect">
            <a:avLst/>
          </a:prstGeom>
          <a:noFill/>
          <a:ln/>
        </p:spPr>
        <p:txBody>
          <a:bodyPr wrap="square" lIns="0" tIns="0" rIns="0" bIns="0" rtlCol="0" anchor="ctr"/>
          <a:lstStyle/>
          <a:p>
            <a:pPr indent="0" marL="0">
              <a:buNone/>
            </a:pPr>
            <a:r>
              <a:rPr lang="en-US" sz="1000" b="1" dirty="0">
                <a:solidFill>
                  <a:srgbClr val="0F172A"/>
                </a:solidFill>
              </a:rPr>
              <a:t>Bill or receipt detected</a:t>
            </a:r>
            <a:endParaRPr lang="en-US" sz="1000" dirty="0"/>
          </a:p>
        </p:txBody>
      </p:sp>
      <p:sp>
        <p:nvSpPr>
          <p:cNvPr id="26" name="Text 23"/>
          <p:cNvSpPr/>
          <p:nvPr/>
        </p:nvSpPr>
        <p:spPr>
          <a:xfrm>
            <a:off x="5303520" y="2103120"/>
            <a:ext cx="3200400" cy="201168"/>
          </a:xfrm>
          <a:prstGeom prst="rect">
            <a:avLst/>
          </a:prstGeom>
          <a:noFill/>
          <a:ln/>
        </p:spPr>
        <p:txBody>
          <a:bodyPr wrap="square" lIns="0" tIns="0" rIns="0" bIns="0" rtlCol="0" anchor="ctr"/>
          <a:lstStyle/>
          <a:p>
            <a:pPr indent="0" marL="0">
              <a:buNone/>
            </a:pPr>
            <a:r>
              <a:rPr lang="en-US" sz="900" dirty="0">
                <a:solidFill>
                  <a:srgbClr val="64748B"/>
                </a:solidFill>
              </a:rPr>
              <a:t>AI parses and categorises within seconds</a:t>
            </a:r>
            <a:endParaRPr lang="en-US" sz="900" dirty="0"/>
          </a:p>
        </p:txBody>
      </p:sp>
      <p:sp>
        <p:nvSpPr>
          <p:cNvPr id="27" name="Text 24"/>
          <p:cNvSpPr/>
          <p:nvPr/>
        </p:nvSpPr>
        <p:spPr>
          <a:xfrm>
            <a:off x="4892040" y="2450592"/>
            <a:ext cx="365760" cy="32004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8" name="Text 25"/>
          <p:cNvSpPr/>
          <p:nvPr/>
        </p:nvSpPr>
        <p:spPr>
          <a:xfrm>
            <a:off x="5303520" y="2450592"/>
            <a:ext cx="3200400" cy="201168"/>
          </a:xfrm>
          <a:prstGeom prst="rect">
            <a:avLst/>
          </a:prstGeom>
          <a:noFill/>
          <a:ln/>
        </p:spPr>
        <p:txBody>
          <a:bodyPr wrap="square" lIns="0" tIns="0" rIns="0" bIns="0" rtlCol="0" anchor="ctr"/>
          <a:lstStyle/>
          <a:p>
            <a:pPr indent="0" marL="0">
              <a:buNone/>
            </a:pPr>
            <a:r>
              <a:rPr lang="en-US" sz="1000" b="1" dirty="0">
                <a:solidFill>
                  <a:srgbClr val="0F172A"/>
                </a:solidFill>
              </a:rPr>
              <a:t>Push notification fires</a:t>
            </a:r>
            <a:endParaRPr lang="en-US" sz="1000" dirty="0"/>
          </a:p>
        </p:txBody>
      </p:sp>
      <p:sp>
        <p:nvSpPr>
          <p:cNvPr id="29" name="Text 26"/>
          <p:cNvSpPr/>
          <p:nvPr/>
        </p:nvSpPr>
        <p:spPr>
          <a:xfrm>
            <a:off x="5303520" y="2633472"/>
            <a:ext cx="3200400" cy="201168"/>
          </a:xfrm>
          <a:prstGeom prst="rect">
            <a:avLst/>
          </a:prstGeom>
          <a:noFill/>
          <a:ln/>
        </p:spPr>
        <p:txBody>
          <a:bodyPr wrap="square" lIns="0" tIns="0" rIns="0" bIns="0" rtlCol="0" anchor="ctr"/>
          <a:lstStyle/>
          <a:p>
            <a:pPr indent="0" marL="0">
              <a:buNone/>
            </a:pPr>
            <a:r>
              <a:rPr lang="en-US" sz="900" dirty="0">
                <a:solidFill>
                  <a:srgbClr val="64748B"/>
                </a:solidFill>
              </a:rPr>
              <a:t>Keep or Dismiss inline — no app open needed</a:t>
            </a:r>
            <a:endParaRPr lang="en-US" sz="900" dirty="0"/>
          </a:p>
        </p:txBody>
      </p:sp>
      <p:sp>
        <p:nvSpPr>
          <p:cNvPr id="30" name="Text 27"/>
          <p:cNvSpPr/>
          <p:nvPr/>
        </p:nvSpPr>
        <p:spPr>
          <a:xfrm>
            <a:off x="4892040" y="2980944"/>
            <a:ext cx="365760" cy="32004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1" name="Text 28"/>
          <p:cNvSpPr/>
          <p:nvPr/>
        </p:nvSpPr>
        <p:spPr>
          <a:xfrm>
            <a:off x="5303520" y="2980944"/>
            <a:ext cx="3200400" cy="201168"/>
          </a:xfrm>
          <a:prstGeom prst="rect">
            <a:avLst/>
          </a:prstGeom>
          <a:noFill/>
          <a:ln/>
        </p:spPr>
        <p:txBody>
          <a:bodyPr wrap="square" lIns="0" tIns="0" rIns="0" bIns="0" rtlCol="0" anchor="ctr"/>
          <a:lstStyle/>
          <a:p>
            <a:pPr indent="0" marL="0">
              <a:buNone/>
            </a:pPr>
            <a:r>
              <a:rPr lang="en-US" sz="1000" b="1" dirty="0">
                <a:solidFill>
                  <a:srgbClr val="0F172A"/>
                </a:solidFill>
              </a:rPr>
              <a:t>24-hour rule</a:t>
            </a:r>
            <a:endParaRPr lang="en-US" sz="1000" dirty="0"/>
          </a:p>
        </p:txBody>
      </p:sp>
      <p:sp>
        <p:nvSpPr>
          <p:cNvPr id="32" name="Text 29"/>
          <p:cNvSpPr/>
          <p:nvPr/>
        </p:nvSpPr>
        <p:spPr>
          <a:xfrm>
            <a:off x="5303520" y="3163824"/>
            <a:ext cx="3200400" cy="201168"/>
          </a:xfrm>
          <a:prstGeom prst="rect">
            <a:avLst/>
          </a:prstGeom>
          <a:noFill/>
          <a:ln/>
        </p:spPr>
        <p:txBody>
          <a:bodyPr wrap="square" lIns="0" tIns="0" rIns="0" bIns="0" rtlCol="0" anchor="ctr"/>
          <a:lstStyle/>
          <a:p>
            <a:pPr indent="0" marL="0">
              <a:buNone/>
            </a:pPr>
            <a:r>
              <a:rPr lang="en-US" sz="900" dirty="0">
                <a:solidFill>
                  <a:srgbClr val="64748B"/>
                </a:solidFill>
              </a:rPr>
              <a:t>No action? Auto-ingested. Silence = keep. Remove it anytime.</a:t>
            </a:r>
            <a:endParaRPr lang="en-US" sz="900" dirty="0"/>
          </a:p>
        </p:txBody>
      </p:sp>
      <p:sp>
        <p:nvSpPr>
          <p:cNvPr id="33" name="Text 30"/>
          <p:cNvSpPr/>
          <p:nvPr/>
        </p:nvSpPr>
        <p:spPr>
          <a:xfrm>
            <a:off x="4892040" y="3511296"/>
            <a:ext cx="365760" cy="32004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4" name="Text 31"/>
          <p:cNvSpPr/>
          <p:nvPr/>
        </p:nvSpPr>
        <p:spPr>
          <a:xfrm>
            <a:off x="5303520" y="3511296"/>
            <a:ext cx="3200400" cy="201168"/>
          </a:xfrm>
          <a:prstGeom prst="rect">
            <a:avLst/>
          </a:prstGeom>
          <a:noFill/>
          <a:ln/>
        </p:spPr>
        <p:txBody>
          <a:bodyPr wrap="square" lIns="0" tIns="0" rIns="0" bIns="0" rtlCol="0" anchor="ctr"/>
          <a:lstStyle/>
          <a:p>
            <a:pPr indent="0" marL="0">
              <a:buNone/>
            </a:pPr>
            <a:r>
              <a:rPr lang="en-US" sz="1000" b="1" dirty="0">
                <a:solidFill>
                  <a:srgbClr val="0F172A"/>
                </a:solidFill>
              </a:rPr>
              <a:t>Smart throttling</a:t>
            </a:r>
            <a:endParaRPr lang="en-US" sz="1000" dirty="0"/>
          </a:p>
        </p:txBody>
      </p:sp>
      <p:sp>
        <p:nvSpPr>
          <p:cNvPr id="35" name="Text 32"/>
          <p:cNvSpPr/>
          <p:nvPr/>
        </p:nvSpPr>
        <p:spPr>
          <a:xfrm>
            <a:off x="5303520" y="3694176"/>
            <a:ext cx="3200400" cy="201168"/>
          </a:xfrm>
          <a:prstGeom prst="rect">
            <a:avLst/>
          </a:prstGeom>
          <a:noFill/>
          <a:ln/>
        </p:spPr>
        <p:txBody>
          <a:bodyPr wrap="square" lIns="0" tIns="0" rIns="0" bIns="0" rtlCol="0" anchor="ctr"/>
          <a:lstStyle/>
          <a:p>
            <a:pPr indent="0" marL="0">
              <a:buNone/>
            </a:pPr>
            <a:r>
              <a:rPr lang="en-US" sz="900" dirty="0">
                <a:solidFill>
                  <a:srgbClr val="64748B"/>
                </a:solidFill>
              </a:rPr>
              <a:t>Max 3 notifications/day. Same-day bills batched. Quiet hours respected.</a:t>
            </a:r>
            <a:endParaRPr lang="en-US" sz="900" dirty="0"/>
          </a:p>
        </p:txBody>
      </p:sp>
      <p:sp>
        <p:nvSpPr>
          <p:cNvPr id="36" name="Text 33"/>
          <p:cNvSpPr/>
          <p:nvPr/>
        </p:nvSpPr>
        <p:spPr>
          <a:xfrm>
            <a:off x="4892040" y="4041648"/>
            <a:ext cx="365760" cy="32004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7" name="Text 34"/>
          <p:cNvSpPr/>
          <p:nvPr/>
        </p:nvSpPr>
        <p:spPr>
          <a:xfrm>
            <a:off x="5303520" y="4041648"/>
            <a:ext cx="3200400" cy="201168"/>
          </a:xfrm>
          <a:prstGeom prst="rect">
            <a:avLst/>
          </a:prstGeom>
          <a:noFill/>
          <a:ln/>
        </p:spPr>
        <p:txBody>
          <a:bodyPr wrap="square" lIns="0" tIns="0" rIns="0" bIns="0" rtlCol="0" anchor="ctr"/>
          <a:lstStyle/>
          <a:p>
            <a:pPr indent="0" marL="0">
              <a:buNone/>
            </a:pPr>
            <a:r>
              <a:rPr lang="en-US" sz="1000" b="1" dirty="0">
                <a:solidFill>
                  <a:srgbClr val="0F172A"/>
                </a:solidFill>
              </a:rPr>
              <a:t>Weekly digest</a:t>
            </a:r>
            <a:endParaRPr lang="en-US" sz="1000" dirty="0"/>
          </a:p>
        </p:txBody>
      </p:sp>
      <p:sp>
        <p:nvSpPr>
          <p:cNvPr id="38" name="Text 35"/>
          <p:cNvSpPr/>
          <p:nvPr/>
        </p:nvSpPr>
        <p:spPr>
          <a:xfrm>
            <a:off x="5303520" y="4224528"/>
            <a:ext cx="3200400" cy="201168"/>
          </a:xfrm>
          <a:prstGeom prst="rect">
            <a:avLst/>
          </a:prstGeom>
          <a:noFill/>
          <a:ln/>
        </p:spPr>
        <p:txBody>
          <a:bodyPr wrap="square" lIns="0" tIns="0" rIns="0" bIns="0" rtlCol="0" anchor="ctr"/>
          <a:lstStyle/>
          <a:p>
            <a:pPr indent="0" marL="0">
              <a:buNone/>
            </a:pPr>
            <a:r>
              <a:rPr lang="en-US" sz="900" dirty="0">
                <a:solidFill>
                  <a:srgbClr val="64748B"/>
                </a:solidFill>
              </a:rPr>
              <a:t>Every Sunday — captured items + spending patterns for the week</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256032"/>
            <a:ext cx="1371600" cy="256032"/>
          </a:xfrm>
          <a:prstGeom prst="rect">
            <a:avLst/>
          </a:prstGeom>
          <a:solidFill>
            <a:srgbClr val="F59E0B"/>
          </a:solidFill>
          <a:ln w="12700">
            <a:solidFill>
              <a:srgbClr val="F59E0B"/>
            </a:solidFill>
            <a:prstDash val="solid"/>
          </a:ln>
        </p:spPr>
      </p:sp>
      <p:sp>
        <p:nvSpPr>
          <p:cNvPr id="3" name="Text 1"/>
          <p:cNvSpPr/>
          <p:nvPr/>
        </p:nvSpPr>
        <p:spPr>
          <a:xfrm>
            <a:off x="502920" y="256032"/>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rPr>
              <a:t>ANALYTICS</a:t>
            </a:r>
            <a:endParaRPr lang="en-US" sz="800" dirty="0"/>
          </a:p>
        </p:txBody>
      </p:sp>
      <p:sp>
        <p:nvSpPr>
          <p:cNvPr id="4" name="Text 2"/>
          <p:cNvSpPr/>
          <p:nvPr/>
        </p:nvSpPr>
        <p:spPr>
          <a:xfrm>
            <a:off x="502920" y="594360"/>
            <a:ext cx="813816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Custom date range reports — any window, any time</a:t>
            </a:r>
            <a:endParaRPr lang="en-US" sz="2800" dirty="0"/>
          </a:p>
        </p:txBody>
      </p:sp>
      <p:sp>
        <p:nvSpPr>
          <p:cNvPr id="5" name="Shape 3"/>
          <p:cNvSpPr/>
          <p:nvPr/>
        </p:nvSpPr>
        <p:spPr>
          <a:xfrm>
            <a:off x="502920" y="1417320"/>
            <a:ext cx="2560320" cy="32004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 name="Text 4"/>
          <p:cNvSpPr/>
          <p:nvPr/>
        </p:nvSpPr>
        <p:spPr>
          <a:xfrm>
            <a:off x="640080" y="1508760"/>
            <a:ext cx="2286000" cy="256032"/>
          </a:xfrm>
          <a:prstGeom prst="rect">
            <a:avLst/>
          </a:prstGeom>
          <a:noFill/>
          <a:ln/>
        </p:spPr>
        <p:txBody>
          <a:bodyPr wrap="square" lIns="0" tIns="0" rIns="0" bIns="0" rtlCol="0" anchor="ctr"/>
          <a:lstStyle/>
          <a:p>
            <a:pPr indent="0" marL="0">
              <a:buNone/>
            </a:pPr>
            <a:r>
              <a:rPr lang="en-US" sz="1100" b="1" dirty="0">
                <a:solidFill>
                  <a:srgbClr val="0F172A"/>
                </a:solidFill>
              </a:rPr>
              <a:t>Smart Presets</a:t>
            </a:r>
            <a:endParaRPr lang="en-US" sz="1100" dirty="0"/>
          </a:p>
        </p:txBody>
      </p:sp>
      <p:sp>
        <p:nvSpPr>
          <p:cNvPr id="7" name="Shape 5"/>
          <p:cNvSpPr/>
          <p:nvPr/>
        </p:nvSpPr>
        <p:spPr>
          <a:xfrm>
            <a:off x="594360" y="1847088"/>
            <a:ext cx="2331720" cy="274320"/>
          </a:xfrm>
          <a:prstGeom prst="rect">
            <a:avLst/>
          </a:prstGeom>
          <a:solidFill>
            <a:srgbClr val="F8FAFC"/>
          </a:solidFill>
          <a:ln w="12700">
            <a:solidFill>
              <a:srgbClr val="E2E8F0"/>
            </a:solidFill>
            <a:prstDash val="solid"/>
          </a:ln>
        </p:spPr>
      </p:sp>
      <p:sp>
        <p:nvSpPr>
          <p:cNvPr id="8" name="Text 6"/>
          <p:cNvSpPr/>
          <p:nvPr/>
        </p:nvSpPr>
        <p:spPr>
          <a:xfrm>
            <a:off x="685800" y="1847088"/>
            <a:ext cx="2148840" cy="274320"/>
          </a:xfrm>
          <a:prstGeom prst="rect">
            <a:avLst/>
          </a:prstGeom>
          <a:noFill/>
          <a:ln/>
        </p:spPr>
        <p:txBody>
          <a:bodyPr wrap="square" lIns="0" tIns="0" rIns="0" bIns="0" rtlCol="0" anchor="ctr"/>
          <a:lstStyle/>
          <a:p>
            <a:pPr indent="0" marL="0">
              <a:buNone/>
            </a:pPr>
            <a:r>
              <a:rPr lang="en-US" sz="900" dirty="0">
                <a:solidFill>
                  <a:srgbClr val="0F172A"/>
                </a:solidFill>
              </a:rPr>
              <a:t>Last 7 days</a:t>
            </a:r>
            <a:endParaRPr lang="en-US" sz="900" dirty="0"/>
          </a:p>
        </p:txBody>
      </p:sp>
      <p:sp>
        <p:nvSpPr>
          <p:cNvPr id="9" name="Shape 7"/>
          <p:cNvSpPr/>
          <p:nvPr/>
        </p:nvSpPr>
        <p:spPr>
          <a:xfrm>
            <a:off x="594360" y="2185416"/>
            <a:ext cx="2331720" cy="274320"/>
          </a:xfrm>
          <a:prstGeom prst="rect">
            <a:avLst/>
          </a:prstGeom>
          <a:solidFill>
            <a:srgbClr val="F8FAFC"/>
          </a:solidFill>
          <a:ln w="12700">
            <a:solidFill>
              <a:srgbClr val="E2E8F0"/>
            </a:solidFill>
            <a:prstDash val="solid"/>
          </a:ln>
        </p:spPr>
      </p:sp>
      <p:sp>
        <p:nvSpPr>
          <p:cNvPr id="10" name="Text 8"/>
          <p:cNvSpPr/>
          <p:nvPr/>
        </p:nvSpPr>
        <p:spPr>
          <a:xfrm>
            <a:off x="685800" y="2185416"/>
            <a:ext cx="2148840" cy="274320"/>
          </a:xfrm>
          <a:prstGeom prst="rect">
            <a:avLst/>
          </a:prstGeom>
          <a:noFill/>
          <a:ln/>
        </p:spPr>
        <p:txBody>
          <a:bodyPr wrap="square" lIns="0" tIns="0" rIns="0" bIns="0" rtlCol="0" anchor="ctr"/>
          <a:lstStyle/>
          <a:p>
            <a:pPr indent="0" marL="0">
              <a:buNone/>
            </a:pPr>
            <a:r>
              <a:rPr lang="en-US" sz="900" dirty="0">
                <a:solidFill>
                  <a:srgbClr val="0F172A"/>
                </a:solidFill>
              </a:rPr>
              <a:t>Last 30 days</a:t>
            </a:r>
            <a:endParaRPr lang="en-US" sz="900" dirty="0"/>
          </a:p>
        </p:txBody>
      </p:sp>
      <p:sp>
        <p:nvSpPr>
          <p:cNvPr id="11" name="Shape 9"/>
          <p:cNvSpPr/>
          <p:nvPr/>
        </p:nvSpPr>
        <p:spPr>
          <a:xfrm>
            <a:off x="594360" y="2523744"/>
            <a:ext cx="2331720" cy="274320"/>
          </a:xfrm>
          <a:prstGeom prst="rect">
            <a:avLst/>
          </a:prstGeom>
          <a:solidFill>
            <a:srgbClr val="F8FAFC"/>
          </a:solidFill>
          <a:ln w="12700">
            <a:solidFill>
              <a:srgbClr val="E2E8F0"/>
            </a:solidFill>
            <a:prstDash val="solid"/>
          </a:ln>
        </p:spPr>
      </p:sp>
      <p:sp>
        <p:nvSpPr>
          <p:cNvPr id="12" name="Text 10"/>
          <p:cNvSpPr/>
          <p:nvPr/>
        </p:nvSpPr>
        <p:spPr>
          <a:xfrm>
            <a:off x="685800" y="2523744"/>
            <a:ext cx="2148840" cy="274320"/>
          </a:xfrm>
          <a:prstGeom prst="rect">
            <a:avLst/>
          </a:prstGeom>
          <a:noFill/>
          <a:ln/>
        </p:spPr>
        <p:txBody>
          <a:bodyPr wrap="square" lIns="0" tIns="0" rIns="0" bIns="0" rtlCol="0" anchor="ctr"/>
          <a:lstStyle/>
          <a:p>
            <a:pPr indent="0" marL="0">
              <a:buNone/>
            </a:pPr>
            <a:r>
              <a:rPr lang="en-US" sz="900" dirty="0">
                <a:solidFill>
                  <a:srgbClr val="0F172A"/>
                </a:solidFill>
              </a:rPr>
              <a:t>Last 90 days</a:t>
            </a:r>
            <a:endParaRPr lang="en-US" sz="900" dirty="0"/>
          </a:p>
        </p:txBody>
      </p:sp>
      <p:sp>
        <p:nvSpPr>
          <p:cNvPr id="13" name="Shape 11"/>
          <p:cNvSpPr/>
          <p:nvPr/>
        </p:nvSpPr>
        <p:spPr>
          <a:xfrm>
            <a:off x="594360" y="2862072"/>
            <a:ext cx="2331720" cy="274320"/>
          </a:xfrm>
          <a:prstGeom prst="rect">
            <a:avLst/>
          </a:prstGeom>
          <a:solidFill>
            <a:srgbClr val="F8FAFC"/>
          </a:solidFill>
          <a:ln w="12700">
            <a:solidFill>
              <a:srgbClr val="E2E8F0"/>
            </a:solidFill>
            <a:prstDash val="solid"/>
          </a:ln>
        </p:spPr>
      </p:sp>
      <p:sp>
        <p:nvSpPr>
          <p:cNvPr id="14" name="Text 12"/>
          <p:cNvSpPr/>
          <p:nvPr/>
        </p:nvSpPr>
        <p:spPr>
          <a:xfrm>
            <a:off x="685800" y="2862072"/>
            <a:ext cx="2148840" cy="274320"/>
          </a:xfrm>
          <a:prstGeom prst="rect">
            <a:avLst/>
          </a:prstGeom>
          <a:noFill/>
          <a:ln/>
        </p:spPr>
        <p:txBody>
          <a:bodyPr wrap="square" lIns="0" tIns="0" rIns="0" bIns="0" rtlCol="0" anchor="ctr"/>
          <a:lstStyle/>
          <a:p>
            <a:pPr indent="0" marL="0">
              <a:buNone/>
            </a:pPr>
            <a:r>
              <a:rPr lang="en-US" sz="900" dirty="0">
                <a:solidFill>
                  <a:srgbClr val="0F172A"/>
                </a:solidFill>
              </a:rPr>
              <a:t>This month</a:t>
            </a:r>
            <a:endParaRPr lang="en-US" sz="900" dirty="0"/>
          </a:p>
        </p:txBody>
      </p:sp>
      <p:sp>
        <p:nvSpPr>
          <p:cNvPr id="15" name="Shape 13"/>
          <p:cNvSpPr/>
          <p:nvPr/>
        </p:nvSpPr>
        <p:spPr>
          <a:xfrm>
            <a:off x="594360" y="3200400"/>
            <a:ext cx="2331720" cy="274320"/>
          </a:xfrm>
          <a:prstGeom prst="rect">
            <a:avLst/>
          </a:prstGeom>
          <a:solidFill>
            <a:srgbClr val="F8FAFC"/>
          </a:solidFill>
          <a:ln w="12700">
            <a:solidFill>
              <a:srgbClr val="E2E8F0"/>
            </a:solidFill>
            <a:prstDash val="solid"/>
          </a:ln>
        </p:spPr>
      </p:sp>
      <p:sp>
        <p:nvSpPr>
          <p:cNvPr id="16" name="Text 14"/>
          <p:cNvSpPr/>
          <p:nvPr/>
        </p:nvSpPr>
        <p:spPr>
          <a:xfrm>
            <a:off x="685800" y="3200400"/>
            <a:ext cx="2148840" cy="274320"/>
          </a:xfrm>
          <a:prstGeom prst="rect">
            <a:avLst/>
          </a:prstGeom>
          <a:noFill/>
          <a:ln/>
        </p:spPr>
        <p:txBody>
          <a:bodyPr wrap="square" lIns="0" tIns="0" rIns="0" bIns="0" rtlCol="0" anchor="ctr"/>
          <a:lstStyle/>
          <a:p>
            <a:pPr indent="0" marL="0">
              <a:buNone/>
            </a:pPr>
            <a:r>
              <a:rPr lang="en-US" sz="900" dirty="0">
                <a:solidFill>
                  <a:srgbClr val="0F172A"/>
                </a:solidFill>
              </a:rPr>
              <a:t>Last month</a:t>
            </a:r>
            <a:endParaRPr lang="en-US" sz="900" dirty="0"/>
          </a:p>
        </p:txBody>
      </p:sp>
      <p:sp>
        <p:nvSpPr>
          <p:cNvPr id="17" name="Shape 15"/>
          <p:cNvSpPr/>
          <p:nvPr/>
        </p:nvSpPr>
        <p:spPr>
          <a:xfrm>
            <a:off x="594360" y="3538728"/>
            <a:ext cx="2331720" cy="274320"/>
          </a:xfrm>
          <a:prstGeom prst="rect">
            <a:avLst/>
          </a:prstGeom>
          <a:solidFill>
            <a:srgbClr val="F8FAFC"/>
          </a:solidFill>
          <a:ln w="12700">
            <a:solidFill>
              <a:srgbClr val="E2E8F0"/>
            </a:solidFill>
            <a:prstDash val="solid"/>
          </a:ln>
        </p:spPr>
      </p:sp>
      <p:sp>
        <p:nvSpPr>
          <p:cNvPr id="18" name="Text 16"/>
          <p:cNvSpPr/>
          <p:nvPr/>
        </p:nvSpPr>
        <p:spPr>
          <a:xfrm>
            <a:off x="685800" y="3538728"/>
            <a:ext cx="2148840" cy="274320"/>
          </a:xfrm>
          <a:prstGeom prst="rect">
            <a:avLst/>
          </a:prstGeom>
          <a:noFill/>
          <a:ln/>
        </p:spPr>
        <p:txBody>
          <a:bodyPr wrap="square" lIns="0" tIns="0" rIns="0" bIns="0" rtlCol="0" anchor="ctr"/>
          <a:lstStyle/>
          <a:p>
            <a:pPr indent="0" marL="0">
              <a:buNone/>
            </a:pPr>
            <a:r>
              <a:rPr lang="en-US" sz="900" dirty="0">
                <a:solidFill>
                  <a:srgbClr val="0F172A"/>
                </a:solidFill>
              </a:rPr>
              <a:t>This quarter</a:t>
            </a:r>
            <a:endParaRPr lang="en-US" sz="900" dirty="0"/>
          </a:p>
        </p:txBody>
      </p:sp>
      <p:sp>
        <p:nvSpPr>
          <p:cNvPr id="19" name="Shape 17"/>
          <p:cNvSpPr/>
          <p:nvPr/>
        </p:nvSpPr>
        <p:spPr>
          <a:xfrm>
            <a:off x="594360" y="3877056"/>
            <a:ext cx="2331720" cy="274320"/>
          </a:xfrm>
          <a:prstGeom prst="rect">
            <a:avLst/>
          </a:prstGeom>
          <a:solidFill>
            <a:srgbClr val="F8FAFC"/>
          </a:solidFill>
          <a:ln w="12700">
            <a:solidFill>
              <a:srgbClr val="E2E8F0"/>
            </a:solidFill>
            <a:prstDash val="solid"/>
          </a:ln>
        </p:spPr>
      </p:sp>
      <p:sp>
        <p:nvSpPr>
          <p:cNvPr id="20" name="Text 18"/>
          <p:cNvSpPr/>
          <p:nvPr/>
        </p:nvSpPr>
        <p:spPr>
          <a:xfrm>
            <a:off x="685800" y="3877056"/>
            <a:ext cx="2148840" cy="274320"/>
          </a:xfrm>
          <a:prstGeom prst="rect">
            <a:avLst/>
          </a:prstGeom>
          <a:noFill/>
          <a:ln/>
        </p:spPr>
        <p:txBody>
          <a:bodyPr wrap="square" lIns="0" tIns="0" rIns="0" bIns="0" rtlCol="0" anchor="ctr"/>
          <a:lstStyle/>
          <a:p>
            <a:pPr indent="0" marL="0">
              <a:buNone/>
            </a:pPr>
            <a:r>
              <a:rPr lang="en-US" sz="900" dirty="0">
                <a:solidFill>
                  <a:srgbClr val="0F172A"/>
                </a:solidFill>
              </a:rPr>
              <a:t>This year</a:t>
            </a:r>
            <a:endParaRPr lang="en-US" sz="900" dirty="0"/>
          </a:p>
        </p:txBody>
      </p:sp>
      <p:sp>
        <p:nvSpPr>
          <p:cNvPr id="21" name="Shape 19"/>
          <p:cNvSpPr/>
          <p:nvPr/>
        </p:nvSpPr>
        <p:spPr>
          <a:xfrm>
            <a:off x="594360" y="4215384"/>
            <a:ext cx="2331720" cy="274320"/>
          </a:xfrm>
          <a:prstGeom prst="rect">
            <a:avLst/>
          </a:prstGeom>
          <a:solidFill>
            <a:srgbClr val="EEF2FF"/>
          </a:solidFill>
          <a:ln w="12700">
            <a:solidFill>
              <a:srgbClr val="C7D2FE"/>
            </a:solidFill>
            <a:prstDash val="solid"/>
          </a:ln>
        </p:spPr>
      </p:sp>
      <p:sp>
        <p:nvSpPr>
          <p:cNvPr id="22" name="Text 20"/>
          <p:cNvSpPr/>
          <p:nvPr/>
        </p:nvSpPr>
        <p:spPr>
          <a:xfrm>
            <a:off x="685800" y="4215384"/>
            <a:ext cx="2148840" cy="274320"/>
          </a:xfrm>
          <a:prstGeom prst="rect">
            <a:avLst/>
          </a:prstGeom>
          <a:noFill/>
          <a:ln/>
        </p:spPr>
        <p:txBody>
          <a:bodyPr wrap="square" lIns="0" tIns="0" rIns="0" bIns="0" rtlCol="0" anchor="ctr"/>
          <a:lstStyle/>
          <a:p>
            <a:pPr indent="0" marL="0">
              <a:buNone/>
            </a:pPr>
            <a:r>
              <a:rPr lang="en-US" sz="900" b="1" dirty="0">
                <a:solidFill>
                  <a:srgbClr val="6366F1"/>
                </a:solidFill>
              </a:rPr>
              <a:t>Custom range…</a:t>
            </a:r>
            <a:endParaRPr lang="en-US" sz="900" dirty="0"/>
          </a:p>
        </p:txBody>
      </p:sp>
      <p:sp>
        <p:nvSpPr>
          <p:cNvPr id="23" name="Text 21"/>
          <p:cNvSpPr/>
          <p:nvPr/>
        </p:nvSpPr>
        <p:spPr>
          <a:xfrm>
            <a:off x="640080" y="4535424"/>
            <a:ext cx="2286000" cy="201168"/>
          </a:xfrm>
          <a:prstGeom prst="rect">
            <a:avLst/>
          </a:prstGeom>
          <a:noFill/>
          <a:ln/>
        </p:spPr>
        <p:txBody>
          <a:bodyPr wrap="square" lIns="0" tIns="0" rIns="0" bIns="0" rtlCol="0" anchor="ctr"/>
          <a:lstStyle/>
          <a:p>
            <a:pPr indent="0" marL="0">
              <a:buNone/>
            </a:pPr>
            <a:r>
              <a:rPr lang="en-US" sz="900" b="1" dirty="0">
                <a:solidFill>
                  <a:srgbClr val="6366F1"/>
                </a:solidFill>
              </a:rPr>
              <a:t>My Periods</a:t>
            </a:r>
            <a:endParaRPr lang="en-US" sz="900" dirty="0"/>
          </a:p>
        </p:txBody>
      </p:sp>
      <p:sp>
        <p:nvSpPr>
          <p:cNvPr id="24" name="Shape 22"/>
          <p:cNvSpPr/>
          <p:nvPr/>
        </p:nvSpPr>
        <p:spPr>
          <a:xfrm>
            <a:off x="3337560" y="1417320"/>
            <a:ext cx="5303520" cy="32004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5" name="Text 23"/>
          <p:cNvSpPr/>
          <p:nvPr/>
        </p:nvSpPr>
        <p:spPr>
          <a:xfrm>
            <a:off x="3474720" y="1508760"/>
            <a:ext cx="5029200" cy="228600"/>
          </a:xfrm>
          <a:prstGeom prst="rect">
            <a:avLst/>
          </a:prstGeom>
          <a:noFill/>
          <a:ln/>
        </p:spPr>
        <p:txBody>
          <a:bodyPr wrap="square" lIns="0" tIns="0" rIns="0" bIns="0" rtlCol="0" anchor="ctr"/>
          <a:lstStyle/>
          <a:p>
            <a:pPr indent="0" marL="0">
              <a:buNone/>
            </a:pPr>
            <a:r>
              <a:rPr lang="en-US" sz="1000" b="1" dirty="0">
                <a:solidFill>
                  <a:srgbClr val="0F172A"/>
                </a:solidFill>
              </a:rPr>
              <a:t>Jan 12 – Feb 12, 2025  (31 days)</a:t>
            </a:r>
            <a:endParaRPr lang="en-US" sz="1000" dirty="0"/>
          </a:p>
        </p:txBody>
      </p:sp>
      <p:sp>
        <p:nvSpPr>
          <p:cNvPr id="26" name="Shape 24"/>
          <p:cNvSpPr/>
          <p:nvPr/>
        </p:nvSpPr>
        <p:spPr>
          <a:xfrm>
            <a:off x="3474720" y="1828800"/>
            <a:ext cx="1097280" cy="548640"/>
          </a:xfrm>
          <a:prstGeom prst="rect">
            <a:avLst/>
          </a:prstGeom>
          <a:solidFill>
            <a:srgbClr val="EEF2FF"/>
          </a:solidFill>
          <a:ln w="12700">
            <a:solidFill>
              <a:srgbClr val="C7D2FE"/>
            </a:solidFill>
            <a:prstDash val="solid"/>
          </a:ln>
        </p:spPr>
      </p:sp>
      <p:sp>
        <p:nvSpPr>
          <p:cNvPr id="27" name="Text 25"/>
          <p:cNvSpPr/>
          <p:nvPr/>
        </p:nvSpPr>
        <p:spPr>
          <a:xfrm>
            <a:off x="3474720" y="1874520"/>
            <a:ext cx="1097280" cy="256032"/>
          </a:xfrm>
          <a:prstGeom prst="rect">
            <a:avLst/>
          </a:prstGeom>
          <a:noFill/>
          <a:ln/>
        </p:spPr>
        <p:txBody>
          <a:bodyPr wrap="square" lIns="0" tIns="0" rIns="0" bIns="0" rtlCol="0" anchor="ctr"/>
          <a:lstStyle/>
          <a:p>
            <a:pPr algn="ctr" indent="0" marL="0">
              <a:buNone/>
            </a:pPr>
            <a:r>
              <a:rPr lang="en-US" sz="1400" b="1" dirty="0">
                <a:solidFill>
                  <a:srgbClr val="6366F1"/>
                </a:solidFill>
                <a:latin typeface="Georgia" pitchFamily="34" charset="0"/>
                <a:ea typeface="Georgia" pitchFamily="34" charset="-122"/>
                <a:cs typeface="Georgia" pitchFamily="34" charset="-120"/>
              </a:rPr>
              <a:t>$3,420</a:t>
            </a:r>
            <a:endParaRPr lang="en-US" sz="1400" dirty="0"/>
          </a:p>
        </p:txBody>
      </p:sp>
      <p:sp>
        <p:nvSpPr>
          <p:cNvPr id="28" name="Text 26"/>
          <p:cNvSpPr/>
          <p:nvPr/>
        </p:nvSpPr>
        <p:spPr>
          <a:xfrm>
            <a:off x="3474720" y="2130552"/>
            <a:ext cx="1097280" cy="182880"/>
          </a:xfrm>
          <a:prstGeom prst="rect">
            <a:avLst/>
          </a:prstGeom>
          <a:noFill/>
          <a:ln/>
        </p:spPr>
        <p:txBody>
          <a:bodyPr wrap="square" lIns="0" tIns="0" rIns="0" bIns="0" rtlCol="0" anchor="ctr"/>
          <a:lstStyle/>
          <a:p>
            <a:pPr algn="ctr" indent="0" marL="0">
              <a:buNone/>
            </a:pPr>
            <a:r>
              <a:rPr lang="en-US" sz="800" dirty="0">
                <a:solidFill>
                  <a:srgbClr val="64748B"/>
                </a:solidFill>
              </a:rPr>
              <a:t>Total</a:t>
            </a:r>
            <a:endParaRPr lang="en-US" sz="800" dirty="0"/>
          </a:p>
        </p:txBody>
      </p:sp>
      <p:sp>
        <p:nvSpPr>
          <p:cNvPr id="29" name="Shape 27"/>
          <p:cNvSpPr/>
          <p:nvPr/>
        </p:nvSpPr>
        <p:spPr>
          <a:xfrm>
            <a:off x="4709160" y="1828800"/>
            <a:ext cx="1097280" cy="548640"/>
          </a:xfrm>
          <a:prstGeom prst="rect">
            <a:avLst/>
          </a:prstGeom>
          <a:solidFill>
            <a:srgbClr val="EEF2FF"/>
          </a:solidFill>
          <a:ln w="12700">
            <a:solidFill>
              <a:srgbClr val="C7D2FE"/>
            </a:solidFill>
            <a:prstDash val="solid"/>
          </a:ln>
        </p:spPr>
      </p:sp>
      <p:sp>
        <p:nvSpPr>
          <p:cNvPr id="30" name="Text 28"/>
          <p:cNvSpPr/>
          <p:nvPr/>
        </p:nvSpPr>
        <p:spPr>
          <a:xfrm>
            <a:off x="4709160" y="1874520"/>
            <a:ext cx="1097280" cy="256032"/>
          </a:xfrm>
          <a:prstGeom prst="rect">
            <a:avLst/>
          </a:prstGeom>
          <a:noFill/>
          <a:ln/>
        </p:spPr>
        <p:txBody>
          <a:bodyPr wrap="square" lIns="0" tIns="0" rIns="0" bIns="0" rtlCol="0" anchor="ctr"/>
          <a:lstStyle/>
          <a:p>
            <a:pPr algn="ctr" indent="0" marL="0">
              <a:buNone/>
            </a:pPr>
            <a:r>
              <a:rPr lang="en-US" sz="1400" b="1" dirty="0">
                <a:solidFill>
                  <a:srgbClr val="6366F1"/>
                </a:solidFill>
                <a:latin typeface="Georgia" pitchFamily="34" charset="0"/>
                <a:ea typeface="Georgia" pitchFamily="34" charset="-122"/>
                <a:cs typeface="Georgia" pitchFamily="34" charset="-120"/>
              </a:rPr>
              <a:t>47</a:t>
            </a:r>
            <a:endParaRPr lang="en-US" sz="1400" dirty="0"/>
          </a:p>
        </p:txBody>
      </p:sp>
      <p:sp>
        <p:nvSpPr>
          <p:cNvPr id="31" name="Text 29"/>
          <p:cNvSpPr/>
          <p:nvPr/>
        </p:nvSpPr>
        <p:spPr>
          <a:xfrm>
            <a:off x="4709160" y="2130552"/>
            <a:ext cx="1097280" cy="182880"/>
          </a:xfrm>
          <a:prstGeom prst="rect">
            <a:avLst/>
          </a:prstGeom>
          <a:noFill/>
          <a:ln/>
        </p:spPr>
        <p:txBody>
          <a:bodyPr wrap="square" lIns="0" tIns="0" rIns="0" bIns="0" rtlCol="0" anchor="ctr"/>
          <a:lstStyle/>
          <a:p>
            <a:pPr algn="ctr" indent="0" marL="0">
              <a:buNone/>
            </a:pPr>
            <a:r>
              <a:rPr lang="en-US" sz="800" dirty="0">
                <a:solidFill>
                  <a:srgbClr val="64748B"/>
                </a:solidFill>
              </a:rPr>
              <a:t>Receipts</a:t>
            </a:r>
            <a:endParaRPr lang="en-US" sz="800" dirty="0"/>
          </a:p>
        </p:txBody>
      </p:sp>
      <p:sp>
        <p:nvSpPr>
          <p:cNvPr id="32" name="Shape 30"/>
          <p:cNvSpPr/>
          <p:nvPr/>
        </p:nvSpPr>
        <p:spPr>
          <a:xfrm>
            <a:off x="5943600" y="1828800"/>
            <a:ext cx="1097280" cy="548640"/>
          </a:xfrm>
          <a:prstGeom prst="rect">
            <a:avLst/>
          </a:prstGeom>
          <a:solidFill>
            <a:srgbClr val="EEF2FF"/>
          </a:solidFill>
          <a:ln w="12700">
            <a:solidFill>
              <a:srgbClr val="C7D2FE"/>
            </a:solidFill>
            <a:prstDash val="solid"/>
          </a:ln>
        </p:spPr>
      </p:sp>
      <p:sp>
        <p:nvSpPr>
          <p:cNvPr id="33" name="Text 31"/>
          <p:cNvSpPr/>
          <p:nvPr/>
        </p:nvSpPr>
        <p:spPr>
          <a:xfrm>
            <a:off x="5943600" y="1874520"/>
            <a:ext cx="1097280" cy="256032"/>
          </a:xfrm>
          <a:prstGeom prst="rect">
            <a:avLst/>
          </a:prstGeom>
          <a:noFill/>
          <a:ln/>
        </p:spPr>
        <p:txBody>
          <a:bodyPr wrap="square" lIns="0" tIns="0" rIns="0" bIns="0" rtlCol="0" anchor="ctr"/>
          <a:lstStyle/>
          <a:p>
            <a:pPr algn="ctr" indent="0" marL="0">
              <a:buNone/>
            </a:pPr>
            <a:r>
              <a:rPr lang="en-US" sz="1400" b="1" dirty="0">
                <a:solidFill>
                  <a:srgbClr val="6366F1"/>
                </a:solidFill>
                <a:latin typeface="Georgia" pitchFamily="34" charset="0"/>
                <a:ea typeface="Georgia" pitchFamily="34" charset="-122"/>
                <a:cs typeface="Georgia" pitchFamily="34" charset="-120"/>
              </a:rPr>
              <a:t>12</a:t>
            </a:r>
            <a:endParaRPr lang="en-US" sz="1400" dirty="0"/>
          </a:p>
        </p:txBody>
      </p:sp>
      <p:sp>
        <p:nvSpPr>
          <p:cNvPr id="34" name="Text 32"/>
          <p:cNvSpPr/>
          <p:nvPr/>
        </p:nvSpPr>
        <p:spPr>
          <a:xfrm>
            <a:off x="5943600" y="2130552"/>
            <a:ext cx="1097280" cy="182880"/>
          </a:xfrm>
          <a:prstGeom prst="rect">
            <a:avLst/>
          </a:prstGeom>
          <a:noFill/>
          <a:ln/>
        </p:spPr>
        <p:txBody>
          <a:bodyPr wrap="square" lIns="0" tIns="0" rIns="0" bIns="0" rtlCol="0" anchor="ctr"/>
          <a:lstStyle/>
          <a:p>
            <a:pPr algn="ctr" indent="0" marL="0">
              <a:buNone/>
            </a:pPr>
            <a:r>
              <a:rPr lang="en-US" sz="800" dirty="0">
                <a:solidFill>
                  <a:srgbClr val="64748B"/>
                </a:solidFill>
              </a:rPr>
              <a:t>Stores</a:t>
            </a:r>
            <a:endParaRPr lang="en-US" sz="800" dirty="0"/>
          </a:p>
        </p:txBody>
      </p:sp>
      <p:sp>
        <p:nvSpPr>
          <p:cNvPr id="35" name="Shape 33"/>
          <p:cNvSpPr/>
          <p:nvPr/>
        </p:nvSpPr>
        <p:spPr>
          <a:xfrm>
            <a:off x="7178040" y="1828800"/>
            <a:ext cx="1097280" cy="548640"/>
          </a:xfrm>
          <a:prstGeom prst="rect">
            <a:avLst/>
          </a:prstGeom>
          <a:solidFill>
            <a:srgbClr val="EEF2FF"/>
          </a:solidFill>
          <a:ln w="12700">
            <a:solidFill>
              <a:srgbClr val="C7D2FE"/>
            </a:solidFill>
            <a:prstDash val="solid"/>
          </a:ln>
        </p:spPr>
      </p:sp>
      <p:sp>
        <p:nvSpPr>
          <p:cNvPr id="36" name="Text 34"/>
          <p:cNvSpPr/>
          <p:nvPr/>
        </p:nvSpPr>
        <p:spPr>
          <a:xfrm>
            <a:off x="7178040" y="1874520"/>
            <a:ext cx="1097280" cy="256032"/>
          </a:xfrm>
          <a:prstGeom prst="rect">
            <a:avLst/>
          </a:prstGeom>
          <a:noFill/>
          <a:ln/>
        </p:spPr>
        <p:txBody>
          <a:bodyPr wrap="square" lIns="0" tIns="0" rIns="0" bIns="0" rtlCol="0" anchor="ctr"/>
          <a:lstStyle/>
          <a:p>
            <a:pPr algn="ctr" indent="0" marL="0">
              <a:buNone/>
            </a:pPr>
            <a:r>
              <a:rPr lang="en-US" sz="1400" b="1" dirty="0">
                <a:solidFill>
                  <a:srgbClr val="6366F1"/>
                </a:solidFill>
                <a:latin typeface="Georgia" pitchFamily="34" charset="0"/>
                <a:ea typeface="Georgia" pitchFamily="34" charset="-122"/>
                <a:cs typeface="Georgia" pitchFamily="34" charset="-120"/>
              </a:rPr>
              <a:t>$110/day</a:t>
            </a:r>
            <a:endParaRPr lang="en-US" sz="1400" dirty="0"/>
          </a:p>
        </p:txBody>
      </p:sp>
      <p:sp>
        <p:nvSpPr>
          <p:cNvPr id="37" name="Text 35"/>
          <p:cNvSpPr/>
          <p:nvPr/>
        </p:nvSpPr>
        <p:spPr>
          <a:xfrm>
            <a:off x="7178040" y="2130552"/>
            <a:ext cx="1097280" cy="182880"/>
          </a:xfrm>
          <a:prstGeom prst="rect">
            <a:avLst/>
          </a:prstGeom>
          <a:noFill/>
          <a:ln/>
        </p:spPr>
        <p:txBody>
          <a:bodyPr wrap="square" lIns="0" tIns="0" rIns="0" bIns="0" rtlCol="0" anchor="ctr"/>
          <a:lstStyle/>
          <a:p>
            <a:pPr algn="ctr" indent="0" marL="0">
              <a:buNone/>
            </a:pPr>
            <a:r>
              <a:rPr lang="en-US" sz="800" dirty="0">
                <a:solidFill>
                  <a:srgbClr val="64748B"/>
                </a:solidFill>
              </a:rPr>
              <a:t>Avg</a:t>
            </a:r>
            <a:endParaRPr lang="en-US" sz="800" dirty="0"/>
          </a:p>
        </p:txBody>
      </p:sp>
      <p:graphicFrame>
        <p:nvGraphicFramePr>
          <p:cNvPr id="38" name="Chart 0" descr=""/>
          <p:cNvGraphicFramePr/>
          <p:nvPr/>
        </p:nvGraphicFramePr>
        <p:xfrm>
          <a:off x="3337560" y="2487168"/>
          <a:ext cx="5303520" cy="1828800"/>
        </p:xfrm>
        <a:graphic xmlns:a="http://schemas.openxmlformats.org/drawingml/2006/main">
          <a:graphicData uri="http://schemas.openxmlformats.org/drawingml/2006/chart">
            <c:chart xmlns:c="http://schemas.openxmlformats.org/drawingml/2006/chart" r:id="rId1"/>
          </a:graphicData>
        </a:graphic>
      </p:graphicFrame>
      <p:sp>
        <p:nvSpPr>
          <p:cNvPr id="39" name="Shape 36"/>
          <p:cNvSpPr/>
          <p:nvPr/>
        </p:nvSpPr>
        <p:spPr>
          <a:xfrm>
            <a:off x="502920" y="4663440"/>
            <a:ext cx="8138160" cy="256032"/>
          </a:xfrm>
          <a:prstGeom prst="rect">
            <a:avLst/>
          </a:prstGeom>
          <a:solidFill>
            <a:srgbClr val="FFFBEB"/>
          </a:solidFill>
          <a:ln w="12700">
            <a:solidFill>
              <a:srgbClr val="FDE68A"/>
            </a:solidFill>
            <a:prstDash val="solid"/>
          </a:ln>
        </p:spPr>
      </p:sp>
      <p:sp>
        <p:nvSpPr>
          <p:cNvPr id="40" name="Text 37"/>
          <p:cNvSpPr/>
          <p:nvPr/>
        </p:nvSpPr>
        <p:spPr>
          <a:xfrm>
            <a:off x="640080" y="4690872"/>
            <a:ext cx="7863840" cy="201168"/>
          </a:xfrm>
          <a:prstGeom prst="rect">
            <a:avLst/>
          </a:prstGeom>
          <a:noFill/>
          <a:ln/>
        </p:spPr>
        <p:txBody>
          <a:bodyPr wrap="square" lIns="0" tIns="0" rIns="0" bIns="0" rtlCol="0" anchor="ctr"/>
          <a:lstStyle/>
          <a:p>
            <a:pPr indent="0" marL="0">
              <a:buNone/>
            </a:pPr>
            <a:r>
              <a:rPr lang="en-US" sz="900" dirty="0">
                <a:solidFill>
                  <a:srgbClr val="92400E"/>
                </a:solidFill>
              </a:rPr>
              <a:t>💡  Label any range: "Italy Trip Sep 3–17" → one-tap recall + period-vs-period comparison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256032"/>
            <a:ext cx="1371600" cy="256032"/>
          </a:xfrm>
          <a:prstGeom prst="rect">
            <a:avLst/>
          </a:prstGeom>
          <a:solidFill>
            <a:srgbClr val="EC4899"/>
          </a:solidFill>
          <a:ln w="12700">
            <a:solidFill>
              <a:srgbClr val="EC4899"/>
            </a:solidFill>
            <a:prstDash val="solid"/>
          </a:ln>
        </p:spPr>
      </p:sp>
      <p:sp>
        <p:nvSpPr>
          <p:cNvPr id="3" name="Text 1"/>
          <p:cNvSpPr/>
          <p:nvPr/>
        </p:nvSpPr>
        <p:spPr>
          <a:xfrm>
            <a:off x="502920" y="256032"/>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rPr>
              <a:t>ANALYTICS</a:t>
            </a:r>
            <a:endParaRPr lang="en-US" sz="800" dirty="0"/>
          </a:p>
        </p:txBody>
      </p:sp>
      <p:sp>
        <p:nvSpPr>
          <p:cNvPr id="4" name="Text 2"/>
          <p:cNvSpPr/>
          <p:nvPr/>
        </p:nvSpPr>
        <p:spPr>
          <a:xfrm>
            <a:off x="502920" y="594360"/>
            <a:ext cx="813816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40+ reports across every dimension of your spend</a:t>
            </a:r>
            <a:endParaRPr lang="en-US" sz="2800" dirty="0"/>
          </a:p>
        </p:txBody>
      </p:sp>
      <p:sp>
        <p:nvSpPr>
          <p:cNvPr id="5" name="Shape 3"/>
          <p:cNvSpPr/>
          <p:nvPr/>
        </p:nvSpPr>
        <p:spPr>
          <a:xfrm>
            <a:off x="502920" y="1417320"/>
            <a:ext cx="4023360" cy="749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502920" y="1417320"/>
            <a:ext cx="54864" cy="749808"/>
          </a:xfrm>
          <a:prstGeom prst="rect">
            <a:avLst/>
          </a:prstGeom>
          <a:solidFill>
            <a:srgbClr val="6366F1"/>
          </a:solidFill>
          <a:ln w="12700">
            <a:solidFill>
              <a:srgbClr val="6366F1"/>
            </a:solidFill>
            <a:prstDash val="solid"/>
          </a:ln>
        </p:spPr>
      </p:sp>
      <p:sp>
        <p:nvSpPr>
          <p:cNvPr id="7" name="Text 5"/>
          <p:cNvSpPr/>
          <p:nvPr/>
        </p:nvSpPr>
        <p:spPr>
          <a:xfrm>
            <a:off x="612648" y="1463040"/>
            <a:ext cx="365760" cy="36576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8" name="Text 6"/>
          <p:cNvSpPr/>
          <p:nvPr/>
        </p:nvSpPr>
        <p:spPr>
          <a:xfrm>
            <a:off x="1051560" y="1472184"/>
            <a:ext cx="3337560" cy="228600"/>
          </a:xfrm>
          <a:prstGeom prst="rect">
            <a:avLst/>
          </a:prstGeom>
          <a:noFill/>
          <a:ln/>
        </p:spPr>
        <p:txBody>
          <a:bodyPr wrap="square" lIns="0" tIns="0" rIns="0" bIns="0" rtlCol="0" anchor="ctr"/>
          <a:lstStyle/>
          <a:p>
            <a:pPr indent="0" marL="0">
              <a:buNone/>
            </a:pPr>
            <a:r>
              <a:rPr lang="en-US" sz="1100" b="1" dirty="0">
                <a:solidFill>
                  <a:srgbClr val="0F172A"/>
                </a:solidFill>
              </a:rPr>
              <a:t>Spending Overview</a:t>
            </a:r>
            <a:endParaRPr lang="en-US" sz="1100" dirty="0"/>
          </a:p>
        </p:txBody>
      </p:sp>
      <p:sp>
        <p:nvSpPr>
          <p:cNvPr id="9" name="Text 7"/>
          <p:cNvSpPr/>
          <p:nvPr/>
        </p:nvSpPr>
        <p:spPr>
          <a:xfrm>
            <a:off x="1051560" y="1719072"/>
            <a:ext cx="3337560" cy="347472"/>
          </a:xfrm>
          <a:prstGeom prst="rect">
            <a:avLst/>
          </a:prstGeom>
          <a:noFill/>
          <a:ln/>
        </p:spPr>
        <p:txBody>
          <a:bodyPr wrap="square" lIns="0" tIns="0" rIns="0" bIns="0" rtlCol="0" anchor="ctr"/>
          <a:lstStyle/>
          <a:p>
            <a:pPr indent="0" marL="0">
              <a:buNone/>
            </a:pPr>
            <a:r>
              <a:rPr lang="en-US" sz="900" dirty="0">
                <a:solidFill>
                  <a:srgbClr val="64748B"/>
                </a:solidFill>
              </a:rPr>
              <a:t>Monthly totals, category breakdown, budget vs. actual, average transaction size</a:t>
            </a:r>
            <a:endParaRPr lang="en-US" sz="900" dirty="0"/>
          </a:p>
        </p:txBody>
      </p:sp>
      <p:sp>
        <p:nvSpPr>
          <p:cNvPr id="10" name="Shape 8"/>
          <p:cNvSpPr/>
          <p:nvPr/>
        </p:nvSpPr>
        <p:spPr>
          <a:xfrm>
            <a:off x="4846320" y="1417320"/>
            <a:ext cx="4023360" cy="749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4846320" y="1417320"/>
            <a:ext cx="54864" cy="749808"/>
          </a:xfrm>
          <a:prstGeom prst="rect">
            <a:avLst/>
          </a:prstGeom>
          <a:solidFill>
            <a:srgbClr val="10B981"/>
          </a:solidFill>
          <a:ln w="12700">
            <a:solidFill>
              <a:srgbClr val="10B981"/>
            </a:solidFill>
            <a:prstDash val="solid"/>
          </a:ln>
        </p:spPr>
      </p:sp>
      <p:sp>
        <p:nvSpPr>
          <p:cNvPr id="12" name="Text 10"/>
          <p:cNvSpPr/>
          <p:nvPr/>
        </p:nvSpPr>
        <p:spPr>
          <a:xfrm>
            <a:off x="4956048" y="1463040"/>
            <a:ext cx="365760" cy="36576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3" name="Text 11"/>
          <p:cNvSpPr/>
          <p:nvPr/>
        </p:nvSpPr>
        <p:spPr>
          <a:xfrm>
            <a:off x="5394960" y="1472184"/>
            <a:ext cx="3337560" cy="228600"/>
          </a:xfrm>
          <a:prstGeom prst="rect">
            <a:avLst/>
          </a:prstGeom>
          <a:noFill/>
          <a:ln/>
        </p:spPr>
        <p:txBody>
          <a:bodyPr wrap="square" lIns="0" tIns="0" rIns="0" bIns="0" rtlCol="0" anchor="ctr"/>
          <a:lstStyle/>
          <a:p>
            <a:pPr indent="0" marL="0">
              <a:buNone/>
            </a:pPr>
            <a:r>
              <a:rPr lang="en-US" sz="1100" b="1" dirty="0">
                <a:solidFill>
                  <a:srgbClr val="0F172A"/>
                </a:solidFill>
              </a:rPr>
              <a:t>Price Intelligence</a:t>
            </a:r>
            <a:endParaRPr lang="en-US" sz="1100" dirty="0"/>
          </a:p>
        </p:txBody>
      </p:sp>
      <p:sp>
        <p:nvSpPr>
          <p:cNvPr id="14" name="Text 12"/>
          <p:cNvSpPr/>
          <p:nvPr/>
        </p:nvSpPr>
        <p:spPr>
          <a:xfrm>
            <a:off x="5394960" y="1719072"/>
            <a:ext cx="3337560" cy="347472"/>
          </a:xfrm>
          <a:prstGeom prst="rect">
            <a:avLst/>
          </a:prstGeom>
          <a:noFill/>
          <a:ln/>
        </p:spPr>
        <p:txBody>
          <a:bodyPr wrap="square" lIns="0" tIns="0" rIns="0" bIns="0" rtlCol="0" anchor="ctr"/>
          <a:lstStyle/>
          <a:p>
            <a:pPr indent="0" marL="0">
              <a:buNone/>
            </a:pPr>
            <a:r>
              <a:rPr lang="en-US" sz="900" dirty="0">
                <a:solidFill>
                  <a:srgbClr val="64748B"/>
                </a:solidFill>
              </a:rPr>
              <a:t>Item price history, personal inflation, vendor price matrix, savings opportunities</a:t>
            </a:r>
            <a:endParaRPr lang="en-US" sz="900" dirty="0"/>
          </a:p>
        </p:txBody>
      </p:sp>
      <p:sp>
        <p:nvSpPr>
          <p:cNvPr id="15" name="Shape 13"/>
          <p:cNvSpPr/>
          <p:nvPr/>
        </p:nvSpPr>
        <p:spPr>
          <a:xfrm>
            <a:off x="502920" y="2331720"/>
            <a:ext cx="4023360" cy="749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502920" y="2331720"/>
            <a:ext cx="54864" cy="749808"/>
          </a:xfrm>
          <a:prstGeom prst="rect">
            <a:avLst/>
          </a:prstGeom>
          <a:solidFill>
            <a:srgbClr val="F59E0B"/>
          </a:solidFill>
          <a:ln w="12700">
            <a:solidFill>
              <a:srgbClr val="F59E0B"/>
            </a:solidFill>
            <a:prstDash val="solid"/>
          </a:ln>
        </p:spPr>
      </p:sp>
      <p:sp>
        <p:nvSpPr>
          <p:cNvPr id="17" name="Text 15"/>
          <p:cNvSpPr/>
          <p:nvPr/>
        </p:nvSpPr>
        <p:spPr>
          <a:xfrm>
            <a:off x="612648" y="2377440"/>
            <a:ext cx="365760" cy="36576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8" name="Text 16"/>
          <p:cNvSpPr/>
          <p:nvPr/>
        </p:nvSpPr>
        <p:spPr>
          <a:xfrm>
            <a:off x="1051560" y="2386584"/>
            <a:ext cx="3337560" cy="228600"/>
          </a:xfrm>
          <a:prstGeom prst="rect">
            <a:avLst/>
          </a:prstGeom>
          <a:noFill/>
          <a:ln/>
        </p:spPr>
        <p:txBody>
          <a:bodyPr wrap="square" lIns="0" tIns="0" rIns="0" bIns="0" rtlCol="0" anchor="ctr"/>
          <a:lstStyle/>
          <a:p>
            <a:pPr indent="0" marL="0">
              <a:buNone/>
            </a:pPr>
            <a:r>
              <a:rPr lang="en-US" sz="1100" b="1" dirty="0">
                <a:solidFill>
                  <a:srgbClr val="0F172A"/>
                </a:solidFill>
              </a:rPr>
              <a:t>Purchasing Behavior</a:t>
            </a:r>
            <a:endParaRPr lang="en-US" sz="1100" dirty="0"/>
          </a:p>
        </p:txBody>
      </p:sp>
      <p:sp>
        <p:nvSpPr>
          <p:cNvPr id="19" name="Text 17"/>
          <p:cNvSpPr/>
          <p:nvPr/>
        </p:nvSpPr>
        <p:spPr>
          <a:xfrm>
            <a:off x="1051560" y="2633472"/>
            <a:ext cx="3337560" cy="347472"/>
          </a:xfrm>
          <a:prstGeom prst="rect">
            <a:avLst/>
          </a:prstGeom>
          <a:noFill/>
          <a:ln/>
        </p:spPr>
        <p:txBody>
          <a:bodyPr wrap="square" lIns="0" tIns="0" rIns="0" bIns="0" rtlCol="0" anchor="ctr"/>
          <a:lstStyle/>
          <a:p>
            <a:pPr indent="0" marL="0">
              <a:buNone/>
            </a:pPr>
            <a:r>
              <a:rPr lang="en-US" sz="900" dirty="0">
                <a:solidFill>
                  <a:srgbClr val="64748B"/>
                </a:solidFill>
              </a:rPr>
              <a:t>Purchase frequency, store visit analysis, seasonal patterns, brand preferences</a:t>
            </a:r>
            <a:endParaRPr lang="en-US" sz="900" dirty="0"/>
          </a:p>
        </p:txBody>
      </p:sp>
      <p:sp>
        <p:nvSpPr>
          <p:cNvPr id="20" name="Shape 18"/>
          <p:cNvSpPr/>
          <p:nvPr/>
        </p:nvSpPr>
        <p:spPr>
          <a:xfrm>
            <a:off x="4846320" y="2331720"/>
            <a:ext cx="4023360" cy="749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4846320" y="2331720"/>
            <a:ext cx="54864" cy="749808"/>
          </a:xfrm>
          <a:prstGeom prst="rect">
            <a:avLst/>
          </a:prstGeom>
          <a:solidFill>
            <a:srgbClr val="EC4899"/>
          </a:solidFill>
          <a:ln w="12700">
            <a:solidFill>
              <a:srgbClr val="EC4899"/>
            </a:solidFill>
            <a:prstDash val="solid"/>
          </a:ln>
        </p:spPr>
      </p:sp>
      <p:sp>
        <p:nvSpPr>
          <p:cNvPr id="22" name="Text 20"/>
          <p:cNvSpPr/>
          <p:nvPr/>
        </p:nvSpPr>
        <p:spPr>
          <a:xfrm>
            <a:off x="4956048" y="2377440"/>
            <a:ext cx="365760" cy="36576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3" name="Text 21"/>
          <p:cNvSpPr/>
          <p:nvPr/>
        </p:nvSpPr>
        <p:spPr>
          <a:xfrm>
            <a:off x="5394960" y="2386584"/>
            <a:ext cx="3337560" cy="228600"/>
          </a:xfrm>
          <a:prstGeom prst="rect">
            <a:avLst/>
          </a:prstGeom>
          <a:noFill/>
          <a:ln/>
        </p:spPr>
        <p:txBody>
          <a:bodyPr wrap="square" lIns="0" tIns="0" rIns="0" bIns="0" rtlCol="0" anchor="ctr"/>
          <a:lstStyle/>
          <a:p>
            <a:pPr indent="0" marL="0">
              <a:buNone/>
            </a:pPr>
            <a:r>
              <a:rPr lang="en-US" sz="1100" b="1" dirty="0">
                <a:solidFill>
                  <a:srgbClr val="0F172A"/>
                </a:solidFill>
              </a:rPr>
              <a:t>Health &amp; Wellness</a:t>
            </a:r>
            <a:endParaRPr lang="en-US" sz="1100" dirty="0"/>
          </a:p>
        </p:txBody>
      </p:sp>
      <p:sp>
        <p:nvSpPr>
          <p:cNvPr id="24" name="Text 22"/>
          <p:cNvSpPr/>
          <p:nvPr/>
        </p:nvSpPr>
        <p:spPr>
          <a:xfrm>
            <a:off x="5394960" y="2633472"/>
            <a:ext cx="3337560" cy="347472"/>
          </a:xfrm>
          <a:prstGeom prst="rect">
            <a:avLst/>
          </a:prstGeom>
          <a:noFill/>
          <a:ln/>
        </p:spPr>
        <p:txBody>
          <a:bodyPr wrap="square" lIns="0" tIns="0" rIns="0" bIns="0" rtlCol="0" anchor="ctr"/>
          <a:lstStyle/>
          <a:p>
            <a:pPr indent="0" marL="0">
              <a:buNone/>
            </a:pPr>
            <a:r>
              <a:rPr lang="en-US" sz="900" dirty="0">
                <a:solidFill>
                  <a:srgbClr val="64748B"/>
                </a:solidFill>
              </a:rPr>
              <a:t>Medical spend, FSA/HSA eligible items, personal care trends</a:t>
            </a:r>
            <a:endParaRPr lang="en-US" sz="900" dirty="0"/>
          </a:p>
        </p:txBody>
      </p:sp>
      <p:sp>
        <p:nvSpPr>
          <p:cNvPr id="25" name="Shape 23"/>
          <p:cNvSpPr/>
          <p:nvPr/>
        </p:nvSpPr>
        <p:spPr>
          <a:xfrm>
            <a:off x="502920" y="3246120"/>
            <a:ext cx="4023360" cy="749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6" name="Shape 24"/>
          <p:cNvSpPr/>
          <p:nvPr/>
        </p:nvSpPr>
        <p:spPr>
          <a:xfrm>
            <a:off x="502920" y="3246120"/>
            <a:ext cx="54864" cy="749808"/>
          </a:xfrm>
          <a:prstGeom prst="rect">
            <a:avLst/>
          </a:prstGeom>
          <a:solidFill>
            <a:srgbClr val="F97316"/>
          </a:solidFill>
          <a:ln w="12700">
            <a:solidFill>
              <a:srgbClr val="F97316"/>
            </a:solidFill>
            <a:prstDash val="solid"/>
          </a:ln>
        </p:spPr>
      </p:sp>
      <p:sp>
        <p:nvSpPr>
          <p:cNvPr id="27" name="Text 25"/>
          <p:cNvSpPr/>
          <p:nvPr/>
        </p:nvSpPr>
        <p:spPr>
          <a:xfrm>
            <a:off x="612648" y="3291840"/>
            <a:ext cx="365760" cy="36576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8" name="Text 26"/>
          <p:cNvSpPr/>
          <p:nvPr/>
        </p:nvSpPr>
        <p:spPr>
          <a:xfrm>
            <a:off x="1051560" y="3300984"/>
            <a:ext cx="3337560" cy="228600"/>
          </a:xfrm>
          <a:prstGeom prst="rect">
            <a:avLst/>
          </a:prstGeom>
          <a:noFill/>
          <a:ln/>
        </p:spPr>
        <p:txBody>
          <a:bodyPr wrap="square" lIns="0" tIns="0" rIns="0" bIns="0" rtlCol="0" anchor="ctr"/>
          <a:lstStyle/>
          <a:p>
            <a:pPr indent="0" marL="0">
              <a:buNone/>
            </a:pPr>
            <a:r>
              <a:rPr lang="en-US" sz="1100" b="1" dirty="0">
                <a:solidFill>
                  <a:srgbClr val="0F172A"/>
                </a:solidFill>
              </a:rPr>
              <a:t>Savings &amp; Optimization</a:t>
            </a:r>
            <a:endParaRPr lang="en-US" sz="1100" dirty="0"/>
          </a:p>
        </p:txBody>
      </p:sp>
      <p:sp>
        <p:nvSpPr>
          <p:cNvPr id="29" name="Text 27"/>
          <p:cNvSpPr/>
          <p:nvPr/>
        </p:nvSpPr>
        <p:spPr>
          <a:xfrm>
            <a:off x="1051560" y="3547872"/>
            <a:ext cx="3337560" cy="347472"/>
          </a:xfrm>
          <a:prstGeom prst="rect">
            <a:avLst/>
          </a:prstGeom>
          <a:noFill/>
          <a:ln/>
        </p:spPr>
        <p:txBody>
          <a:bodyPr wrap="square" lIns="0" tIns="0" rIns="0" bIns="0" rtlCol="0" anchor="ctr"/>
          <a:lstStyle/>
          <a:p>
            <a:pPr indent="0" marL="0">
              <a:buNone/>
            </a:pPr>
            <a:r>
              <a:rPr lang="en-US" sz="900" dirty="0">
                <a:solidFill>
                  <a:srgbClr val="64748B"/>
                </a:solidFill>
              </a:rPr>
              <a:t>Store-switch savings, bulk buy ROI, duplicate purchase detection</a:t>
            </a:r>
            <a:endParaRPr lang="en-US" sz="900" dirty="0"/>
          </a:p>
        </p:txBody>
      </p:sp>
      <p:sp>
        <p:nvSpPr>
          <p:cNvPr id="30" name="Shape 28"/>
          <p:cNvSpPr/>
          <p:nvPr/>
        </p:nvSpPr>
        <p:spPr>
          <a:xfrm>
            <a:off x="4846320" y="3246120"/>
            <a:ext cx="4023360" cy="749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1" name="Shape 29"/>
          <p:cNvSpPr/>
          <p:nvPr/>
        </p:nvSpPr>
        <p:spPr>
          <a:xfrm>
            <a:off x="4846320" y="3246120"/>
            <a:ext cx="54864" cy="749808"/>
          </a:xfrm>
          <a:prstGeom prst="rect">
            <a:avLst/>
          </a:prstGeom>
          <a:solidFill>
            <a:srgbClr val="06B6D4"/>
          </a:solidFill>
          <a:ln w="12700">
            <a:solidFill>
              <a:srgbClr val="06B6D4"/>
            </a:solidFill>
            <a:prstDash val="solid"/>
          </a:ln>
        </p:spPr>
      </p:sp>
      <p:sp>
        <p:nvSpPr>
          <p:cNvPr id="32" name="Text 30"/>
          <p:cNvSpPr/>
          <p:nvPr/>
        </p:nvSpPr>
        <p:spPr>
          <a:xfrm>
            <a:off x="4956048" y="3291840"/>
            <a:ext cx="365760" cy="36576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33" name="Text 31"/>
          <p:cNvSpPr/>
          <p:nvPr/>
        </p:nvSpPr>
        <p:spPr>
          <a:xfrm>
            <a:off x="5394960" y="3300984"/>
            <a:ext cx="3337560" cy="228600"/>
          </a:xfrm>
          <a:prstGeom prst="rect">
            <a:avLst/>
          </a:prstGeom>
          <a:noFill/>
          <a:ln/>
        </p:spPr>
        <p:txBody>
          <a:bodyPr wrap="square" lIns="0" tIns="0" rIns="0" bIns="0" rtlCol="0" anchor="ctr"/>
          <a:lstStyle/>
          <a:p>
            <a:pPr indent="0" marL="0">
              <a:buNone/>
            </a:pPr>
            <a:r>
              <a:rPr lang="en-US" sz="1100" b="1" dirty="0">
                <a:solidFill>
                  <a:srgbClr val="0F172A"/>
                </a:solidFill>
              </a:rPr>
              <a:t>Forecasting</a:t>
            </a:r>
            <a:endParaRPr lang="en-US" sz="1100" dirty="0"/>
          </a:p>
        </p:txBody>
      </p:sp>
      <p:sp>
        <p:nvSpPr>
          <p:cNvPr id="34" name="Text 32"/>
          <p:cNvSpPr/>
          <p:nvPr/>
        </p:nvSpPr>
        <p:spPr>
          <a:xfrm>
            <a:off x="5394960" y="3547872"/>
            <a:ext cx="3337560" cy="347472"/>
          </a:xfrm>
          <a:prstGeom prst="rect">
            <a:avLst/>
          </a:prstGeom>
          <a:noFill/>
          <a:ln/>
        </p:spPr>
        <p:txBody>
          <a:bodyPr wrap="square" lIns="0" tIns="0" rIns="0" bIns="0" rtlCol="0" anchor="ctr"/>
          <a:lstStyle/>
          <a:p>
            <a:pPr indent="0" marL="0">
              <a:buNone/>
            </a:pPr>
            <a:r>
              <a:rPr lang="en-US" sz="900" dirty="0">
                <a:solidFill>
                  <a:srgbClr val="64748B"/>
                </a:solidFill>
              </a:rPr>
              <a:t>Next month prediction, annual projection, AI budget recommendations</a:t>
            </a:r>
            <a:endParaRPr lang="en-US" sz="900" dirty="0"/>
          </a:p>
        </p:txBody>
      </p:sp>
      <p:sp>
        <p:nvSpPr>
          <p:cNvPr id="35" name="Shape 33"/>
          <p:cNvSpPr/>
          <p:nvPr/>
        </p:nvSpPr>
        <p:spPr>
          <a:xfrm>
            <a:off x="2606040" y="4681728"/>
            <a:ext cx="4023360" cy="201168"/>
          </a:xfrm>
          <a:prstGeom prst="rect">
            <a:avLst/>
          </a:prstGeom>
          <a:solidFill>
            <a:srgbClr val="FFFBEB"/>
          </a:solidFill>
          <a:ln w="12700">
            <a:solidFill>
              <a:srgbClr val="FDE68A"/>
            </a:solidFill>
            <a:prstDash val="solid"/>
          </a:ln>
        </p:spPr>
      </p:sp>
      <p:sp>
        <p:nvSpPr>
          <p:cNvPr id="36" name="Text 34"/>
          <p:cNvSpPr/>
          <p:nvPr/>
        </p:nvSpPr>
        <p:spPr>
          <a:xfrm>
            <a:off x="2743200" y="4700016"/>
            <a:ext cx="3749040" cy="164592"/>
          </a:xfrm>
          <a:prstGeom prst="rect">
            <a:avLst/>
          </a:prstGeom>
          <a:noFill/>
          <a:ln/>
        </p:spPr>
        <p:txBody>
          <a:bodyPr wrap="square" lIns="0" tIns="0" rIns="0" bIns="0" rtlCol="0" anchor="ctr"/>
          <a:lstStyle/>
          <a:p>
            <a:pPr indent="0" marL="0">
              <a:buNone/>
            </a:pPr>
            <a:r>
              <a:rPr lang="en-US" sz="800" dirty="0">
                <a:solidFill>
                  <a:srgbClr val="92400E"/>
                </a:solidFill>
              </a:rPr>
              <a:t>📋  Bills &amp; Recurring — subscription audit, utility trends, true monthly obligations, bill due date calendar</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256032"/>
            <a:ext cx="1371600" cy="256032"/>
          </a:xfrm>
          <a:prstGeom prst="rect">
            <a:avLst/>
          </a:prstGeom>
          <a:solidFill>
            <a:srgbClr val="6366F1"/>
          </a:solidFill>
          <a:ln w="12700">
            <a:solidFill>
              <a:srgbClr val="6366F1"/>
            </a:solidFill>
            <a:prstDash val="solid"/>
          </a:ln>
        </p:spPr>
      </p:sp>
      <p:sp>
        <p:nvSpPr>
          <p:cNvPr id="3" name="Text 1"/>
          <p:cNvSpPr/>
          <p:nvPr/>
        </p:nvSpPr>
        <p:spPr>
          <a:xfrm>
            <a:off x="502920" y="256032"/>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rPr>
              <a:t>PRIVACY &amp; SECURITY</a:t>
            </a:r>
            <a:endParaRPr lang="en-US" sz="800" dirty="0"/>
          </a:p>
        </p:txBody>
      </p:sp>
      <p:sp>
        <p:nvSpPr>
          <p:cNvPr id="4" name="Text 2"/>
          <p:cNvSpPr/>
          <p:nvPr/>
        </p:nvSpPr>
        <p:spPr>
          <a:xfrm>
            <a:off x="502920" y="594360"/>
            <a:ext cx="813816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Your data stays yours — always</a:t>
            </a:r>
            <a:endParaRPr lang="en-US" sz="2800" dirty="0"/>
          </a:p>
        </p:txBody>
      </p:sp>
      <p:sp>
        <p:nvSpPr>
          <p:cNvPr id="5" name="Shape 3"/>
          <p:cNvSpPr/>
          <p:nvPr/>
        </p:nvSpPr>
        <p:spPr>
          <a:xfrm>
            <a:off x="502920" y="1417320"/>
            <a:ext cx="4023360" cy="98755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640080" y="1618488"/>
            <a:ext cx="548640" cy="548640"/>
          </a:xfrm>
          <a:prstGeom prst="ellipse">
            <a:avLst/>
          </a:prstGeom>
          <a:solidFill>
            <a:srgbClr val="6366F1"/>
          </a:solidFill>
          <a:ln w="12700">
            <a:solidFill>
              <a:srgbClr val="6366F1"/>
            </a:solidFill>
            <a:prstDash val="solid"/>
          </a:ln>
        </p:spPr>
      </p:sp>
      <p:pic>
        <p:nvPicPr>
          <p:cNvPr id="7" name="Image 0" descr="preencoded.png">    </p:cNvPr>
          <p:cNvPicPr>
            <a:picLocks noChangeAspect="1"/>
          </p:cNvPicPr>
          <p:nvPr/>
        </p:nvPicPr>
        <p:blipFill>
          <a:blip r:embed="rId1"/>
          <a:stretch>
            <a:fillRect/>
          </a:stretch>
        </p:blipFill>
        <p:spPr>
          <a:xfrm>
            <a:off x="704088" y="1682496"/>
            <a:ext cx="420624" cy="420624"/>
          </a:xfrm>
          <a:prstGeom prst="rect">
            <a:avLst/>
          </a:prstGeom>
        </p:spPr>
      </p:pic>
      <p:sp>
        <p:nvSpPr>
          <p:cNvPr id="8" name="Text 5"/>
          <p:cNvSpPr/>
          <p:nvPr/>
        </p:nvSpPr>
        <p:spPr>
          <a:xfrm>
            <a:off x="1325880" y="1508760"/>
            <a:ext cx="3063240" cy="256032"/>
          </a:xfrm>
          <a:prstGeom prst="rect">
            <a:avLst/>
          </a:prstGeom>
          <a:noFill/>
          <a:ln/>
        </p:spPr>
        <p:txBody>
          <a:bodyPr wrap="square" lIns="0" tIns="0" rIns="0" bIns="0" rtlCol="0" anchor="ctr"/>
          <a:lstStyle/>
          <a:p>
            <a:pPr indent="0" marL="0">
              <a:buNone/>
            </a:pPr>
            <a:r>
              <a:rPr lang="en-US" sz="1100" b="1" dirty="0">
                <a:solidFill>
                  <a:srgbClr val="0F172A"/>
                </a:solidFill>
              </a:rPr>
              <a:t>Minimal OAuth Scope</a:t>
            </a:r>
            <a:endParaRPr lang="en-US" sz="1100" dirty="0"/>
          </a:p>
        </p:txBody>
      </p:sp>
      <p:sp>
        <p:nvSpPr>
          <p:cNvPr id="9" name="Text 6"/>
          <p:cNvSpPr/>
          <p:nvPr/>
        </p:nvSpPr>
        <p:spPr>
          <a:xfrm>
            <a:off x="1325880" y="1783080"/>
            <a:ext cx="3063240" cy="530352"/>
          </a:xfrm>
          <a:prstGeom prst="rect">
            <a:avLst/>
          </a:prstGeom>
          <a:noFill/>
          <a:ln/>
        </p:spPr>
        <p:txBody>
          <a:bodyPr wrap="square" lIns="0" tIns="0" rIns="0" bIns="0" rtlCol="0" anchor="ctr"/>
          <a:lstStyle/>
          <a:p>
            <a:pPr indent="0" marL="0">
              <a:buNone/>
            </a:pPr>
            <a:r>
              <a:rPr lang="en-US" sz="900" dirty="0">
                <a:solidFill>
                  <a:srgbClr val="64748B"/>
                </a:solidFill>
              </a:rPr>
              <a:t>Email access is read-only, limited to known receipt sender domains only. We never see your full inbox.</a:t>
            </a:r>
            <a:endParaRPr lang="en-US" sz="900" dirty="0"/>
          </a:p>
        </p:txBody>
      </p:sp>
      <p:sp>
        <p:nvSpPr>
          <p:cNvPr id="10" name="Shape 7"/>
          <p:cNvSpPr/>
          <p:nvPr/>
        </p:nvSpPr>
        <p:spPr>
          <a:xfrm>
            <a:off x="4846320" y="1417320"/>
            <a:ext cx="4023360" cy="98755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1" name="Shape 8"/>
          <p:cNvSpPr/>
          <p:nvPr/>
        </p:nvSpPr>
        <p:spPr>
          <a:xfrm>
            <a:off x="4983480" y="1618488"/>
            <a:ext cx="548640" cy="548640"/>
          </a:xfrm>
          <a:prstGeom prst="ellipse">
            <a:avLst/>
          </a:prstGeom>
          <a:solidFill>
            <a:srgbClr val="10B981"/>
          </a:solidFill>
          <a:ln w="12700">
            <a:solidFill>
              <a:srgbClr val="10B981"/>
            </a:solidFill>
            <a:prstDash val="solid"/>
          </a:ln>
        </p:spPr>
      </p:sp>
      <p:pic>
        <p:nvPicPr>
          <p:cNvPr id="12" name="Image 1" descr="preencoded.png">    </p:cNvPr>
          <p:cNvPicPr>
            <a:picLocks noChangeAspect="1"/>
          </p:cNvPicPr>
          <p:nvPr/>
        </p:nvPicPr>
        <p:blipFill>
          <a:blip r:embed="rId2"/>
          <a:stretch>
            <a:fillRect/>
          </a:stretch>
        </p:blipFill>
        <p:spPr>
          <a:xfrm>
            <a:off x="5047488" y="1682496"/>
            <a:ext cx="420624" cy="420624"/>
          </a:xfrm>
          <a:prstGeom prst="rect">
            <a:avLst/>
          </a:prstGeom>
        </p:spPr>
      </p:pic>
      <p:sp>
        <p:nvSpPr>
          <p:cNvPr id="13" name="Text 9"/>
          <p:cNvSpPr/>
          <p:nvPr/>
        </p:nvSpPr>
        <p:spPr>
          <a:xfrm>
            <a:off x="5669280" y="1508760"/>
            <a:ext cx="3063240" cy="256032"/>
          </a:xfrm>
          <a:prstGeom prst="rect">
            <a:avLst/>
          </a:prstGeom>
          <a:noFill/>
          <a:ln/>
        </p:spPr>
        <p:txBody>
          <a:bodyPr wrap="square" lIns="0" tIns="0" rIns="0" bIns="0" rtlCol="0" anchor="ctr"/>
          <a:lstStyle/>
          <a:p>
            <a:pPr indent="0" marL="0">
              <a:buNone/>
            </a:pPr>
            <a:r>
              <a:rPr lang="en-US" sz="1100" b="1" dirty="0">
                <a:solidFill>
                  <a:srgbClr val="0F172A"/>
                </a:solidFill>
              </a:rPr>
              <a:t>Nothing Raw Stored</a:t>
            </a:r>
            <a:endParaRPr lang="en-US" sz="1100" dirty="0"/>
          </a:p>
        </p:txBody>
      </p:sp>
      <p:sp>
        <p:nvSpPr>
          <p:cNvPr id="14" name="Text 10"/>
          <p:cNvSpPr/>
          <p:nvPr/>
        </p:nvSpPr>
        <p:spPr>
          <a:xfrm>
            <a:off x="5669280" y="1783080"/>
            <a:ext cx="3063240" cy="530352"/>
          </a:xfrm>
          <a:prstGeom prst="rect">
            <a:avLst/>
          </a:prstGeom>
          <a:noFill/>
          <a:ln/>
        </p:spPr>
        <p:txBody>
          <a:bodyPr wrap="square" lIns="0" tIns="0" rIns="0" bIns="0" rtlCol="0" anchor="ctr"/>
          <a:lstStyle/>
          <a:p>
            <a:pPr indent="0" marL="0">
              <a:buNone/>
            </a:pPr>
            <a:r>
              <a:rPr lang="en-US" sz="900" dirty="0">
                <a:solidFill>
                  <a:srgbClr val="64748B"/>
                </a:solidFill>
              </a:rPr>
              <a:t>Email HTML is parsed in memory and immediately discarded. Only extracted line-item data is ever stored.</a:t>
            </a:r>
            <a:endParaRPr lang="en-US" sz="900" dirty="0"/>
          </a:p>
        </p:txBody>
      </p:sp>
      <p:sp>
        <p:nvSpPr>
          <p:cNvPr id="15" name="Shape 11"/>
          <p:cNvSpPr/>
          <p:nvPr/>
        </p:nvSpPr>
        <p:spPr>
          <a:xfrm>
            <a:off x="502920" y="2560320"/>
            <a:ext cx="4023360" cy="98755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6" name="Shape 12"/>
          <p:cNvSpPr/>
          <p:nvPr/>
        </p:nvSpPr>
        <p:spPr>
          <a:xfrm>
            <a:off x="640080" y="2761488"/>
            <a:ext cx="548640" cy="548640"/>
          </a:xfrm>
          <a:prstGeom prst="ellipse">
            <a:avLst/>
          </a:prstGeom>
          <a:solidFill>
            <a:srgbClr val="6366F1"/>
          </a:solidFill>
          <a:ln w="12700">
            <a:solidFill>
              <a:srgbClr val="6366F1"/>
            </a:solidFill>
            <a:prstDash val="solid"/>
          </a:ln>
        </p:spPr>
      </p:sp>
      <p:pic>
        <p:nvPicPr>
          <p:cNvPr id="17" name="Image 2" descr="preencoded.png">    </p:cNvPr>
          <p:cNvPicPr>
            <a:picLocks noChangeAspect="1"/>
          </p:cNvPicPr>
          <p:nvPr/>
        </p:nvPicPr>
        <p:blipFill>
          <a:blip r:embed="rId3"/>
          <a:stretch>
            <a:fillRect/>
          </a:stretch>
        </p:blipFill>
        <p:spPr>
          <a:xfrm>
            <a:off x="704088" y="2825496"/>
            <a:ext cx="420624" cy="420624"/>
          </a:xfrm>
          <a:prstGeom prst="rect">
            <a:avLst/>
          </a:prstGeom>
        </p:spPr>
      </p:pic>
      <p:sp>
        <p:nvSpPr>
          <p:cNvPr id="18" name="Text 13"/>
          <p:cNvSpPr/>
          <p:nvPr/>
        </p:nvSpPr>
        <p:spPr>
          <a:xfrm>
            <a:off x="1325880" y="2651760"/>
            <a:ext cx="3063240" cy="256032"/>
          </a:xfrm>
          <a:prstGeom prst="rect">
            <a:avLst/>
          </a:prstGeom>
          <a:noFill/>
          <a:ln/>
        </p:spPr>
        <p:txBody>
          <a:bodyPr wrap="square" lIns="0" tIns="0" rIns="0" bIns="0" rtlCol="0" anchor="ctr"/>
          <a:lstStyle/>
          <a:p>
            <a:pPr indent="0" marL="0">
              <a:buNone/>
            </a:pPr>
            <a:r>
              <a:rPr lang="en-US" sz="1100" b="1" dirty="0">
                <a:solidFill>
                  <a:srgbClr val="0F172A"/>
                </a:solidFill>
              </a:rPr>
              <a:t>One-Tap Revoke</a:t>
            </a:r>
            <a:endParaRPr lang="en-US" sz="1100" dirty="0"/>
          </a:p>
        </p:txBody>
      </p:sp>
      <p:sp>
        <p:nvSpPr>
          <p:cNvPr id="19" name="Text 14"/>
          <p:cNvSpPr/>
          <p:nvPr/>
        </p:nvSpPr>
        <p:spPr>
          <a:xfrm>
            <a:off x="1325880" y="2926080"/>
            <a:ext cx="3063240" cy="530352"/>
          </a:xfrm>
          <a:prstGeom prst="rect">
            <a:avLst/>
          </a:prstGeom>
          <a:noFill/>
          <a:ln/>
        </p:spPr>
        <p:txBody>
          <a:bodyPr wrap="square" lIns="0" tIns="0" rIns="0" bIns="0" rtlCol="0" anchor="ctr"/>
          <a:lstStyle/>
          <a:p>
            <a:pPr indent="0" marL="0">
              <a:buNone/>
            </a:pPr>
            <a:r>
              <a:rPr lang="en-US" sz="900" dirty="0">
                <a:solidFill>
                  <a:srgbClr val="64748B"/>
                </a:solidFill>
              </a:rPr>
              <a:t>Disconnect any source from Settings. Ingestion stops immediately. Optionally delete all auto-ingested data.</a:t>
            </a:r>
            <a:endParaRPr lang="en-US" sz="900" dirty="0"/>
          </a:p>
        </p:txBody>
      </p:sp>
      <p:sp>
        <p:nvSpPr>
          <p:cNvPr id="20" name="Shape 15"/>
          <p:cNvSpPr/>
          <p:nvPr/>
        </p:nvSpPr>
        <p:spPr>
          <a:xfrm>
            <a:off x="4846320" y="2560320"/>
            <a:ext cx="4023360" cy="98755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1" name="Shape 16"/>
          <p:cNvSpPr/>
          <p:nvPr/>
        </p:nvSpPr>
        <p:spPr>
          <a:xfrm>
            <a:off x="4983480" y="2761488"/>
            <a:ext cx="548640" cy="548640"/>
          </a:xfrm>
          <a:prstGeom prst="ellipse">
            <a:avLst/>
          </a:prstGeom>
          <a:solidFill>
            <a:srgbClr val="10B981"/>
          </a:solidFill>
          <a:ln w="12700">
            <a:solidFill>
              <a:srgbClr val="10B981"/>
            </a:solidFill>
            <a:prstDash val="solid"/>
          </a:ln>
        </p:spPr>
      </p:sp>
      <p:pic>
        <p:nvPicPr>
          <p:cNvPr id="22" name="Image 3" descr="preencoded.png">    </p:cNvPr>
          <p:cNvPicPr>
            <a:picLocks noChangeAspect="1"/>
          </p:cNvPicPr>
          <p:nvPr/>
        </p:nvPicPr>
        <p:blipFill>
          <a:blip r:embed="rId4"/>
          <a:stretch>
            <a:fillRect/>
          </a:stretch>
        </p:blipFill>
        <p:spPr>
          <a:xfrm>
            <a:off x="5047488" y="2825496"/>
            <a:ext cx="420624" cy="420624"/>
          </a:xfrm>
          <a:prstGeom prst="rect">
            <a:avLst/>
          </a:prstGeom>
        </p:spPr>
      </p:pic>
      <p:sp>
        <p:nvSpPr>
          <p:cNvPr id="23" name="Text 17"/>
          <p:cNvSpPr/>
          <p:nvPr/>
        </p:nvSpPr>
        <p:spPr>
          <a:xfrm>
            <a:off x="5669280" y="2651760"/>
            <a:ext cx="3063240" cy="256032"/>
          </a:xfrm>
          <a:prstGeom prst="rect">
            <a:avLst/>
          </a:prstGeom>
          <a:noFill/>
          <a:ln/>
        </p:spPr>
        <p:txBody>
          <a:bodyPr wrap="square" lIns="0" tIns="0" rIns="0" bIns="0" rtlCol="0" anchor="ctr"/>
          <a:lstStyle/>
          <a:p>
            <a:pPr indent="0" marL="0">
              <a:buNone/>
            </a:pPr>
            <a:r>
              <a:rPr lang="en-US" sz="1100" b="1" dirty="0">
                <a:solidFill>
                  <a:srgbClr val="0F172A"/>
                </a:solidFill>
              </a:rPr>
              <a:t>Transparent Labeling</a:t>
            </a:r>
            <a:endParaRPr lang="en-US" sz="1100" dirty="0"/>
          </a:p>
        </p:txBody>
      </p:sp>
      <p:sp>
        <p:nvSpPr>
          <p:cNvPr id="24" name="Text 18"/>
          <p:cNvSpPr/>
          <p:nvPr/>
        </p:nvSpPr>
        <p:spPr>
          <a:xfrm>
            <a:off x="5669280" y="2926080"/>
            <a:ext cx="3063240" cy="530352"/>
          </a:xfrm>
          <a:prstGeom prst="rect">
            <a:avLst/>
          </a:prstGeom>
          <a:noFill/>
          <a:ln/>
        </p:spPr>
        <p:txBody>
          <a:bodyPr wrap="square" lIns="0" tIns="0" rIns="0" bIns="0" rtlCol="0" anchor="ctr"/>
          <a:lstStyle/>
          <a:p>
            <a:pPr indent="0" marL="0">
              <a:buNone/>
            </a:pPr>
            <a:r>
              <a:rPr lang="en-US" sz="900" dirty="0">
                <a:solidFill>
                  <a:srgbClr val="64748B"/>
                </a:solidFill>
              </a:rPr>
              <a:t>Every auto-ingested receipt shows its source — Gmail, forwarded, or browser extension. No black box.</a:t>
            </a:r>
            <a:endParaRPr lang="en-US" sz="900" dirty="0"/>
          </a:p>
        </p:txBody>
      </p:sp>
      <p:sp>
        <p:nvSpPr>
          <p:cNvPr id="25" name="Shape 19"/>
          <p:cNvSpPr/>
          <p:nvPr/>
        </p:nvSpPr>
        <p:spPr>
          <a:xfrm>
            <a:off x="502920" y="3703320"/>
            <a:ext cx="4023360" cy="98755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6" name="Shape 20"/>
          <p:cNvSpPr/>
          <p:nvPr/>
        </p:nvSpPr>
        <p:spPr>
          <a:xfrm>
            <a:off x="640080" y="3904488"/>
            <a:ext cx="548640" cy="548640"/>
          </a:xfrm>
          <a:prstGeom prst="ellipse">
            <a:avLst/>
          </a:prstGeom>
          <a:solidFill>
            <a:srgbClr val="F59E0B"/>
          </a:solidFill>
          <a:ln w="12700">
            <a:solidFill>
              <a:srgbClr val="F59E0B"/>
            </a:solidFill>
            <a:prstDash val="solid"/>
          </a:ln>
        </p:spPr>
      </p:sp>
      <p:pic>
        <p:nvPicPr>
          <p:cNvPr id="27" name="Image 4" descr="preencoded.png">    </p:cNvPr>
          <p:cNvPicPr>
            <a:picLocks noChangeAspect="1"/>
          </p:cNvPicPr>
          <p:nvPr/>
        </p:nvPicPr>
        <p:blipFill>
          <a:blip r:embed="rId5"/>
          <a:stretch>
            <a:fillRect/>
          </a:stretch>
        </p:blipFill>
        <p:spPr>
          <a:xfrm>
            <a:off x="704088" y="3968496"/>
            <a:ext cx="420624" cy="420624"/>
          </a:xfrm>
          <a:prstGeom prst="rect">
            <a:avLst/>
          </a:prstGeom>
        </p:spPr>
      </p:pic>
      <p:sp>
        <p:nvSpPr>
          <p:cNvPr id="28" name="Text 21"/>
          <p:cNvSpPr/>
          <p:nvPr/>
        </p:nvSpPr>
        <p:spPr>
          <a:xfrm>
            <a:off x="1325880" y="3794760"/>
            <a:ext cx="3063240" cy="256032"/>
          </a:xfrm>
          <a:prstGeom prst="rect">
            <a:avLst/>
          </a:prstGeom>
          <a:noFill/>
          <a:ln/>
        </p:spPr>
        <p:txBody>
          <a:bodyPr wrap="square" lIns="0" tIns="0" rIns="0" bIns="0" rtlCol="0" anchor="ctr"/>
          <a:lstStyle/>
          <a:p>
            <a:pPr indent="0" marL="0">
              <a:buNone/>
            </a:pPr>
            <a:r>
              <a:rPr lang="en-US" sz="1100" b="1" dirty="0">
                <a:solidFill>
                  <a:srgbClr val="0F172A"/>
                </a:solidFill>
              </a:rPr>
              <a:t>GDPR &amp; CCPA Compliant</a:t>
            </a:r>
            <a:endParaRPr lang="en-US" sz="1100" dirty="0"/>
          </a:p>
        </p:txBody>
      </p:sp>
      <p:sp>
        <p:nvSpPr>
          <p:cNvPr id="29" name="Text 22"/>
          <p:cNvSpPr/>
          <p:nvPr/>
        </p:nvSpPr>
        <p:spPr>
          <a:xfrm>
            <a:off x="1325880" y="4069080"/>
            <a:ext cx="3063240" cy="530352"/>
          </a:xfrm>
          <a:prstGeom prst="rect">
            <a:avLst/>
          </a:prstGeom>
          <a:noFill/>
          <a:ln/>
        </p:spPr>
        <p:txBody>
          <a:bodyPr wrap="square" lIns="0" tIns="0" rIns="0" bIns="0" rtlCol="0" anchor="ctr"/>
          <a:lstStyle/>
          <a:p>
            <a:pPr indent="0" marL="0">
              <a:buNone/>
            </a:pPr>
            <a:r>
              <a:rPr lang="en-US" sz="900" dirty="0">
                <a:solidFill>
                  <a:srgbClr val="64748B"/>
                </a:solidFill>
              </a:rPr>
              <a:t>Full data export and deletion on request. OAuth tokens encrypted at rest. DPA available for EU users.</a:t>
            </a:r>
            <a:endParaRPr lang="en-US" sz="900" dirty="0"/>
          </a:p>
        </p:txBody>
      </p:sp>
      <p:sp>
        <p:nvSpPr>
          <p:cNvPr id="30" name="Shape 23"/>
          <p:cNvSpPr/>
          <p:nvPr/>
        </p:nvSpPr>
        <p:spPr>
          <a:xfrm>
            <a:off x="4846320" y="3703320"/>
            <a:ext cx="4023360" cy="98755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1" name="Shape 24"/>
          <p:cNvSpPr/>
          <p:nvPr/>
        </p:nvSpPr>
        <p:spPr>
          <a:xfrm>
            <a:off x="4983480" y="3904488"/>
            <a:ext cx="548640" cy="548640"/>
          </a:xfrm>
          <a:prstGeom prst="ellipse">
            <a:avLst/>
          </a:prstGeom>
          <a:solidFill>
            <a:srgbClr val="6366F1"/>
          </a:solidFill>
          <a:ln w="12700">
            <a:solidFill>
              <a:srgbClr val="6366F1"/>
            </a:solidFill>
            <a:prstDash val="solid"/>
          </a:ln>
        </p:spPr>
      </p:sp>
      <p:pic>
        <p:nvPicPr>
          <p:cNvPr id="32" name="Image 5" descr="preencoded.png">    </p:cNvPr>
          <p:cNvPicPr>
            <a:picLocks noChangeAspect="1"/>
          </p:cNvPicPr>
          <p:nvPr/>
        </p:nvPicPr>
        <p:blipFill>
          <a:blip r:embed="rId6"/>
          <a:stretch>
            <a:fillRect/>
          </a:stretch>
        </p:blipFill>
        <p:spPr>
          <a:xfrm>
            <a:off x="5047488" y="3968496"/>
            <a:ext cx="420624" cy="420624"/>
          </a:xfrm>
          <a:prstGeom prst="rect">
            <a:avLst/>
          </a:prstGeom>
        </p:spPr>
      </p:pic>
      <p:sp>
        <p:nvSpPr>
          <p:cNvPr id="33" name="Text 25"/>
          <p:cNvSpPr/>
          <p:nvPr/>
        </p:nvSpPr>
        <p:spPr>
          <a:xfrm>
            <a:off x="5669280" y="3794760"/>
            <a:ext cx="3063240" cy="256032"/>
          </a:xfrm>
          <a:prstGeom prst="rect">
            <a:avLst/>
          </a:prstGeom>
          <a:noFill/>
          <a:ln/>
        </p:spPr>
        <p:txBody>
          <a:bodyPr wrap="square" lIns="0" tIns="0" rIns="0" bIns="0" rtlCol="0" anchor="ctr"/>
          <a:lstStyle/>
          <a:p>
            <a:pPr indent="0" marL="0">
              <a:buNone/>
            </a:pPr>
            <a:r>
              <a:rPr lang="en-US" sz="1100" b="1" dirty="0">
                <a:solidFill>
                  <a:srgbClr val="0F172A"/>
                </a:solidFill>
              </a:rPr>
              <a:t>Medical Data Protected</a:t>
            </a:r>
            <a:endParaRPr lang="en-US" sz="1100" dirty="0"/>
          </a:p>
        </p:txBody>
      </p:sp>
      <p:sp>
        <p:nvSpPr>
          <p:cNvPr id="34" name="Text 26"/>
          <p:cNvSpPr/>
          <p:nvPr/>
        </p:nvSpPr>
        <p:spPr>
          <a:xfrm>
            <a:off x="5669280" y="4069080"/>
            <a:ext cx="3063240" cy="530352"/>
          </a:xfrm>
          <a:prstGeom prst="rect">
            <a:avLst/>
          </a:prstGeom>
          <a:noFill/>
          <a:ln/>
        </p:spPr>
        <p:txBody>
          <a:bodyPr wrap="square" lIns="0" tIns="0" rIns="0" bIns="0" rtlCol="0" anchor="ctr"/>
          <a:lstStyle/>
          <a:p>
            <a:pPr indent="0" marL="0">
              <a:buNone/>
            </a:pPr>
            <a:r>
              <a:rPr lang="en-US" sz="900" dirty="0">
                <a:solidFill>
                  <a:srgbClr val="64748B"/>
                </a:solidFill>
              </a:rPr>
              <a:t>Medical bills extract only: provider, date, amount. No diagnosis codes, no treatment details ever stored.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256032"/>
            <a:ext cx="1371600" cy="256032"/>
          </a:xfrm>
          <a:prstGeom prst="rect">
            <a:avLst/>
          </a:prstGeom>
          <a:solidFill>
            <a:srgbClr val="6366F1"/>
          </a:solidFill>
          <a:ln w="12700">
            <a:solidFill>
              <a:srgbClr val="6366F1"/>
            </a:solidFill>
            <a:prstDash val="solid"/>
          </a:ln>
        </p:spPr>
      </p:sp>
      <p:sp>
        <p:nvSpPr>
          <p:cNvPr id="3" name="Text 1"/>
          <p:cNvSpPr/>
          <p:nvPr/>
        </p:nvSpPr>
        <p:spPr>
          <a:xfrm>
            <a:off x="502920" y="256032"/>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rPr>
              <a:t>ROADMAP</a:t>
            </a:r>
            <a:endParaRPr lang="en-US" sz="800" dirty="0"/>
          </a:p>
        </p:txBody>
      </p:sp>
      <p:sp>
        <p:nvSpPr>
          <p:cNvPr id="4" name="Text 2"/>
          <p:cNvSpPr/>
          <p:nvPr/>
        </p:nvSpPr>
        <p:spPr>
          <a:xfrm>
            <a:off x="502920" y="594360"/>
            <a:ext cx="8138160" cy="59436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5 phases — from core to full-life spend intelligence</a:t>
            </a:r>
            <a:endParaRPr lang="en-US" sz="2800" dirty="0"/>
          </a:p>
        </p:txBody>
      </p:sp>
      <p:sp>
        <p:nvSpPr>
          <p:cNvPr id="5" name="Shape 3"/>
          <p:cNvSpPr/>
          <p:nvPr/>
        </p:nvSpPr>
        <p:spPr>
          <a:xfrm>
            <a:off x="2075688" y="1828800"/>
            <a:ext cx="320040" cy="0"/>
          </a:xfrm>
          <a:prstGeom prst="line">
            <a:avLst/>
          </a:prstGeom>
          <a:noFill/>
          <a:ln w="12700">
            <a:solidFill>
              <a:srgbClr val="E2E8F0"/>
            </a:solidFill>
            <a:prstDash val="solid"/>
          </a:ln>
        </p:spPr>
      </p:sp>
      <p:sp>
        <p:nvSpPr>
          <p:cNvPr id="6" name="Shape 4"/>
          <p:cNvSpPr/>
          <p:nvPr/>
        </p:nvSpPr>
        <p:spPr>
          <a:xfrm>
            <a:off x="1051560" y="1508760"/>
            <a:ext cx="640080" cy="640080"/>
          </a:xfrm>
          <a:prstGeom prst="ellipse">
            <a:avLst/>
          </a:prstGeom>
          <a:solidFill>
            <a:srgbClr val="6366F1"/>
          </a:solidFill>
          <a:ln w="12700">
            <a:solidFill>
              <a:srgbClr val="6366F1"/>
            </a:solidFill>
            <a:prstDash val="solid"/>
          </a:ln>
        </p:spPr>
      </p:sp>
      <p:sp>
        <p:nvSpPr>
          <p:cNvPr id="7" name="Text 5"/>
          <p:cNvSpPr/>
          <p:nvPr/>
        </p:nvSpPr>
        <p:spPr>
          <a:xfrm>
            <a:off x="1051560" y="15087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8" name="Text 6"/>
          <p:cNvSpPr/>
          <p:nvPr/>
        </p:nvSpPr>
        <p:spPr>
          <a:xfrm>
            <a:off x="502920" y="2267712"/>
            <a:ext cx="1572768" cy="201168"/>
          </a:xfrm>
          <a:prstGeom prst="rect">
            <a:avLst/>
          </a:prstGeom>
          <a:noFill/>
          <a:ln/>
        </p:spPr>
        <p:txBody>
          <a:bodyPr wrap="square" lIns="0" tIns="0" rIns="0" bIns="0" rtlCol="0" anchor="ctr"/>
          <a:lstStyle/>
          <a:p>
            <a:pPr algn="ctr" indent="0" marL="0">
              <a:buNone/>
            </a:pPr>
            <a:r>
              <a:rPr lang="en-US" sz="800" dirty="0">
                <a:solidFill>
                  <a:srgbClr val="64748B"/>
                </a:solidFill>
              </a:rPr>
              <a:t>Q1 2025</a:t>
            </a:r>
            <a:endParaRPr lang="en-US" sz="800" dirty="0"/>
          </a:p>
        </p:txBody>
      </p:sp>
      <p:sp>
        <p:nvSpPr>
          <p:cNvPr id="9" name="Text 7"/>
          <p:cNvSpPr/>
          <p:nvPr/>
        </p:nvSpPr>
        <p:spPr>
          <a:xfrm>
            <a:off x="502920" y="2487168"/>
            <a:ext cx="1572768" cy="347472"/>
          </a:xfrm>
          <a:prstGeom prst="rect">
            <a:avLst/>
          </a:prstGeom>
          <a:noFill/>
          <a:ln/>
        </p:spPr>
        <p:txBody>
          <a:bodyPr wrap="square" lIns="0" tIns="0" rIns="0" bIns="0" rtlCol="0" anchor="ctr"/>
          <a:lstStyle/>
          <a:p>
            <a:pPr algn="ctr" indent="0" marL="0">
              <a:buNone/>
            </a:pPr>
            <a:r>
              <a:rPr lang="en-US" sz="1000" b="1" dirty="0">
                <a:solidFill>
                  <a:srgbClr val="6366F1"/>
                </a:solidFill>
              </a:rPr>
              <a:t>Phase 1</a:t>
            </a:r>
            <a:endParaRPr lang="en-US" sz="1000" dirty="0"/>
          </a:p>
          <a:p>
            <a:pPr algn="ctr" indent="0" marL="0">
              <a:buNone/>
            </a:pPr>
            <a:r>
              <a:rPr lang="en-US" sz="1000" b="1" dirty="0">
                <a:solidFill>
                  <a:srgbClr val="6366F1"/>
                </a:solidFill>
              </a:rPr>
              <a:t>Core</a:t>
            </a:r>
            <a:endParaRPr lang="en-US" sz="1000" dirty="0"/>
          </a:p>
        </p:txBody>
      </p:sp>
      <p:sp>
        <p:nvSpPr>
          <p:cNvPr id="10" name="Shape 8"/>
          <p:cNvSpPr/>
          <p:nvPr/>
        </p:nvSpPr>
        <p:spPr>
          <a:xfrm>
            <a:off x="502920" y="2907792"/>
            <a:ext cx="1572768" cy="18288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502920" y="2907792"/>
            <a:ext cx="1572768" cy="54864"/>
          </a:xfrm>
          <a:prstGeom prst="rect">
            <a:avLst/>
          </a:prstGeom>
          <a:solidFill>
            <a:srgbClr val="6366F1"/>
          </a:solidFill>
          <a:ln w="12700">
            <a:solidFill>
              <a:srgbClr val="6366F1"/>
            </a:solidFill>
            <a:prstDash val="solid"/>
          </a:ln>
        </p:spPr>
      </p:sp>
      <p:sp>
        <p:nvSpPr>
          <p:cNvPr id="12" name="Text 10"/>
          <p:cNvSpPr/>
          <p:nvPr/>
        </p:nvSpPr>
        <p:spPr>
          <a:xfrm>
            <a:off x="594360" y="2999232"/>
            <a:ext cx="1417320" cy="1645920"/>
          </a:xfrm>
          <a:prstGeom prst="rect">
            <a:avLst/>
          </a:prstGeom>
          <a:noFill/>
          <a:ln/>
        </p:spPr>
        <p:txBody>
          <a:bodyPr wrap="square" rtlCol="0" anchor="ctr"/>
          <a:lstStyle/>
          <a:p>
            <a:pPr marL="342900" indent="-342900">
              <a:spcAft>
                <a:spcPts val="200"/>
              </a:spcAft>
              <a:buSzPct val="100000"/>
              <a:buChar char="•"/>
            </a:pPr>
            <a:r>
              <a:rPr lang="en-US" sz="850" dirty="0">
                <a:solidFill>
                  <a:srgbClr val="64748B"/>
                </a:solidFill>
              </a:rPr>
              <a:t>AI receipt scanning</a:t>
            </a:r>
            <a:endParaRPr lang="en-US" sz="850" dirty="0"/>
          </a:p>
          <a:p>
            <a:pPr marL="342900" indent="-342900">
              <a:spcAft>
                <a:spcPts val="200"/>
              </a:spcAft>
              <a:buSzPct val="100000"/>
              <a:buChar char="•"/>
            </a:pPr>
            <a:r>
              <a:rPr lang="en-US" sz="850" dirty="0">
                <a:solidFill>
                  <a:srgbClr val="64748B"/>
                </a:solidFill>
              </a:rPr>
              <a:t>Line-item storage</a:t>
            </a:r>
            <a:endParaRPr lang="en-US" sz="850" dirty="0"/>
          </a:p>
          <a:p>
            <a:pPr marL="342900" indent="-342900">
              <a:spcAft>
                <a:spcPts val="200"/>
              </a:spcAft>
              <a:buSzPct val="100000"/>
              <a:buChar char="•"/>
            </a:pPr>
            <a:r>
              <a:rPr lang="en-US" sz="850" dirty="0">
                <a:solidFill>
                  <a:srgbClr val="64748B"/>
                </a:solidFill>
              </a:rPr>
              <a:t>Spending dashboard</a:t>
            </a:r>
            <a:endParaRPr lang="en-US" sz="850" dirty="0"/>
          </a:p>
          <a:p>
            <a:pPr marL="342900" indent="-342900">
              <a:spcAft>
                <a:spcPts val="200"/>
              </a:spcAft>
              <a:buSzPct val="100000"/>
              <a:buChar char="•"/>
            </a:pPr>
            <a:r>
              <a:rPr lang="en-US" sz="850" dirty="0">
                <a:solidFill>
                  <a:srgbClr val="64748B"/>
                </a:solidFill>
              </a:rPr>
              <a:t>Mobile + web app</a:t>
            </a:r>
            <a:endParaRPr lang="en-US" sz="850" dirty="0"/>
          </a:p>
        </p:txBody>
      </p:sp>
      <p:sp>
        <p:nvSpPr>
          <p:cNvPr id="13" name="Shape 11"/>
          <p:cNvSpPr/>
          <p:nvPr/>
        </p:nvSpPr>
        <p:spPr>
          <a:xfrm>
            <a:off x="3785616" y="1828800"/>
            <a:ext cx="320040" cy="0"/>
          </a:xfrm>
          <a:prstGeom prst="line">
            <a:avLst/>
          </a:prstGeom>
          <a:noFill/>
          <a:ln w="12700">
            <a:solidFill>
              <a:srgbClr val="E2E8F0"/>
            </a:solidFill>
            <a:prstDash val="solid"/>
          </a:ln>
        </p:spPr>
      </p:sp>
      <p:sp>
        <p:nvSpPr>
          <p:cNvPr id="14" name="Shape 12"/>
          <p:cNvSpPr/>
          <p:nvPr/>
        </p:nvSpPr>
        <p:spPr>
          <a:xfrm>
            <a:off x="2761488" y="1508760"/>
            <a:ext cx="640080" cy="640080"/>
          </a:xfrm>
          <a:prstGeom prst="ellipse">
            <a:avLst/>
          </a:prstGeom>
          <a:solidFill>
            <a:srgbClr val="10B981"/>
          </a:solidFill>
          <a:ln w="12700">
            <a:solidFill>
              <a:srgbClr val="10B981"/>
            </a:solidFill>
            <a:prstDash val="solid"/>
          </a:ln>
        </p:spPr>
      </p:sp>
      <p:sp>
        <p:nvSpPr>
          <p:cNvPr id="15" name="Text 13"/>
          <p:cNvSpPr/>
          <p:nvPr/>
        </p:nvSpPr>
        <p:spPr>
          <a:xfrm>
            <a:off x="2761488" y="15087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6" name="Text 14"/>
          <p:cNvSpPr/>
          <p:nvPr/>
        </p:nvSpPr>
        <p:spPr>
          <a:xfrm>
            <a:off x="2212848" y="2267712"/>
            <a:ext cx="1572768" cy="201168"/>
          </a:xfrm>
          <a:prstGeom prst="rect">
            <a:avLst/>
          </a:prstGeom>
          <a:noFill/>
          <a:ln/>
        </p:spPr>
        <p:txBody>
          <a:bodyPr wrap="square" lIns="0" tIns="0" rIns="0" bIns="0" rtlCol="0" anchor="ctr"/>
          <a:lstStyle/>
          <a:p>
            <a:pPr algn="ctr" indent="0" marL="0">
              <a:buNone/>
            </a:pPr>
            <a:r>
              <a:rPr lang="en-US" sz="800" dirty="0">
                <a:solidFill>
                  <a:srgbClr val="64748B"/>
                </a:solidFill>
              </a:rPr>
              <a:t>Q2 2025</a:t>
            </a:r>
            <a:endParaRPr lang="en-US" sz="800" dirty="0"/>
          </a:p>
        </p:txBody>
      </p:sp>
      <p:sp>
        <p:nvSpPr>
          <p:cNvPr id="17" name="Text 15"/>
          <p:cNvSpPr/>
          <p:nvPr/>
        </p:nvSpPr>
        <p:spPr>
          <a:xfrm>
            <a:off x="2212848" y="2487168"/>
            <a:ext cx="1572768" cy="347472"/>
          </a:xfrm>
          <a:prstGeom prst="rect">
            <a:avLst/>
          </a:prstGeom>
          <a:noFill/>
          <a:ln/>
        </p:spPr>
        <p:txBody>
          <a:bodyPr wrap="square" lIns="0" tIns="0" rIns="0" bIns="0" rtlCol="0" anchor="ctr"/>
          <a:lstStyle/>
          <a:p>
            <a:pPr algn="ctr" indent="0" marL="0">
              <a:buNone/>
            </a:pPr>
            <a:r>
              <a:rPr lang="en-US" sz="1000" b="1" dirty="0">
                <a:solidFill>
                  <a:srgbClr val="10B981"/>
                </a:solidFill>
              </a:rPr>
              <a:t>Phase 2</a:t>
            </a:r>
            <a:endParaRPr lang="en-US" sz="1000" dirty="0"/>
          </a:p>
          <a:p>
            <a:pPr algn="ctr" indent="0" marL="0">
              <a:buNone/>
            </a:pPr>
            <a:r>
              <a:rPr lang="en-US" sz="1000" b="1" dirty="0">
                <a:solidFill>
                  <a:srgbClr val="10B981"/>
                </a:solidFill>
              </a:rPr>
              <a:t>Intelligence</a:t>
            </a:r>
            <a:endParaRPr lang="en-US" sz="1000" dirty="0"/>
          </a:p>
        </p:txBody>
      </p:sp>
      <p:sp>
        <p:nvSpPr>
          <p:cNvPr id="18" name="Shape 16"/>
          <p:cNvSpPr/>
          <p:nvPr/>
        </p:nvSpPr>
        <p:spPr>
          <a:xfrm>
            <a:off x="2212848" y="2907792"/>
            <a:ext cx="1572768" cy="18288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2212848" y="2907792"/>
            <a:ext cx="1572768" cy="54864"/>
          </a:xfrm>
          <a:prstGeom prst="rect">
            <a:avLst/>
          </a:prstGeom>
          <a:solidFill>
            <a:srgbClr val="10B981"/>
          </a:solidFill>
          <a:ln w="12700">
            <a:solidFill>
              <a:srgbClr val="10B981"/>
            </a:solidFill>
            <a:prstDash val="solid"/>
          </a:ln>
        </p:spPr>
      </p:sp>
      <p:sp>
        <p:nvSpPr>
          <p:cNvPr id="20" name="Text 18"/>
          <p:cNvSpPr/>
          <p:nvPr/>
        </p:nvSpPr>
        <p:spPr>
          <a:xfrm>
            <a:off x="2304288" y="2999232"/>
            <a:ext cx="1417320" cy="1645920"/>
          </a:xfrm>
          <a:prstGeom prst="rect">
            <a:avLst/>
          </a:prstGeom>
          <a:noFill/>
          <a:ln/>
        </p:spPr>
        <p:txBody>
          <a:bodyPr wrap="square" rtlCol="0" anchor="ctr"/>
          <a:lstStyle/>
          <a:p>
            <a:pPr marL="342900" indent="-342900">
              <a:spcAft>
                <a:spcPts val="200"/>
              </a:spcAft>
              <a:buSzPct val="100000"/>
              <a:buChar char="•"/>
            </a:pPr>
            <a:r>
              <a:rPr lang="en-US" sz="850" dirty="0">
                <a:solidFill>
                  <a:srgbClr val="64748B"/>
                </a:solidFill>
              </a:rPr>
              <a:t>Price history charts</a:t>
            </a:r>
            <a:endParaRPr lang="en-US" sz="850" dirty="0"/>
          </a:p>
          <a:p>
            <a:pPr marL="342900" indent="-342900">
              <a:spcAft>
                <a:spcPts val="200"/>
              </a:spcAft>
              <a:buSzPct val="100000"/>
              <a:buChar char="•"/>
            </a:pPr>
            <a:r>
              <a:rPr lang="en-US" sz="850" dirty="0">
                <a:solidFill>
                  <a:srgbClr val="64748B"/>
                </a:solidFill>
              </a:rPr>
              <a:t>Vendor comparison</a:t>
            </a:r>
            <a:endParaRPr lang="en-US" sz="850" dirty="0"/>
          </a:p>
          <a:p>
            <a:pPr marL="342900" indent="-342900">
              <a:spcAft>
                <a:spcPts val="200"/>
              </a:spcAft>
              <a:buSzPct val="100000"/>
              <a:buChar char="•"/>
            </a:pPr>
            <a:r>
              <a:rPr lang="en-US" sz="850" dirty="0">
                <a:solidFill>
                  <a:srgbClr val="64748B"/>
                </a:solidFill>
              </a:rPr>
              <a:t>Inflation tracker</a:t>
            </a:r>
            <a:endParaRPr lang="en-US" sz="850" dirty="0"/>
          </a:p>
          <a:p>
            <a:pPr marL="342900" indent="-342900">
              <a:spcAft>
                <a:spcPts val="200"/>
              </a:spcAft>
              <a:buSzPct val="100000"/>
              <a:buChar char="•"/>
            </a:pPr>
            <a:r>
              <a:rPr lang="en-US" sz="850" dirty="0">
                <a:solidFill>
                  <a:srgbClr val="64748B"/>
                </a:solidFill>
              </a:rPr>
              <a:t>Store analytics</a:t>
            </a:r>
            <a:endParaRPr lang="en-US" sz="850" dirty="0"/>
          </a:p>
        </p:txBody>
      </p:sp>
      <p:sp>
        <p:nvSpPr>
          <p:cNvPr id="21" name="Shape 19"/>
          <p:cNvSpPr/>
          <p:nvPr/>
        </p:nvSpPr>
        <p:spPr>
          <a:xfrm>
            <a:off x="5495544" y="1828800"/>
            <a:ext cx="320040" cy="0"/>
          </a:xfrm>
          <a:prstGeom prst="line">
            <a:avLst/>
          </a:prstGeom>
          <a:noFill/>
          <a:ln w="12700">
            <a:solidFill>
              <a:srgbClr val="E2E8F0"/>
            </a:solidFill>
            <a:prstDash val="solid"/>
          </a:ln>
        </p:spPr>
      </p:sp>
      <p:sp>
        <p:nvSpPr>
          <p:cNvPr id="22" name="Shape 20"/>
          <p:cNvSpPr/>
          <p:nvPr/>
        </p:nvSpPr>
        <p:spPr>
          <a:xfrm>
            <a:off x="4471416" y="1508760"/>
            <a:ext cx="640080" cy="640080"/>
          </a:xfrm>
          <a:prstGeom prst="ellipse">
            <a:avLst/>
          </a:prstGeom>
          <a:solidFill>
            <a:srgbClr val="F59E0B"/>
          </a:solidFill>
          <a:ln w="12700">
            <a:solidFill>
              <a:srgbClr val="F59E0B"/>
            </a:solidFill>
            <a:prstDash val="solid"/>
          </a:ln>
        </p:spPr>
      </p:sp>
      <p:sp>
        <p:nvSpPr>
          <p:cNvPr id="23" name="Text 21"/>
          <p:cNvSpPr/>
          <p:nvPr/>
        </p:nvSpPr>
        <p:spPr>
          <a:xfrm>
            <a:off x="4471416" y="15087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4" name="Text 22"/>
          <p:cNvSpPr/>
          <p:nvPr/>
        </p:nvSpPr>
        <p:spPr>
          <a:xfrm>
            <a:off x="3922776" y="2267712"/>
            <a:ext cx="1572768" cy="201168"/>
          </a:xfrm>
          <a:prstGeom prst="rect">
            <a:avLst/>
          </a:prstGeom>
          <a:noFill/>
          <a:ln/>
        </p:spPr>
        <p:txBody>
          <a:bodyPr wrap="square" lIns="0" tIns="0" rIns="0" bIns="0" rtlCol="0" anchor="ctr"/>
          <a:lstStyle/>
          <a:p>
            <a:pPr algn="ctr" indent="0" marL="0">
              <a:buNone/>
            </a:pPr>
            <a:r>
              <a:rPr lang="en-US" sz="800" dirty="0">
                <a:solidFill>
                  <a:srgbClr val="64748B"/>
                </a:solidFill>
              </a:rPr>
              <a:t>Q3 2025</a:t>
            </a:r>
            <a:endParaRPr lang="en-US" sz="800" dirty="0"/>
          </a:p>
        </p:txBody>
      </p:sp>
      <p:sp>
        <p:nvSpPr>
          <p:cNvPr id="25" name="Text 23"/>
          <p:cNvSpPr/>
          <p:nvPr/>
        </p:nvSpPr>
        <p:spPr>
          <a:xfrm>
            <a:off x="3922776" y="2487168"/>
            <a:ext cx="1572768" cy="347472"/>
          </a:xfrm>
          <a:prstGeom prst="rect">
            <a:avLst/>
          </a:prstGeom>
          <a:noFill/>
          <a:ln/>
        </p:spPr>
        <p:txBody>
          <a:bodyPr wrap="square" lIns="0" tIns="0" rIns="0" bIns="0" rtlCol="0" anchor="ctr"/>
          <a:lstStyle/>
          <a:p>
            <a:pPr algn="ctr" indent="0" marL="0">
              <a:buNone/>
            </a:pPr>
            <a:r>
              <a:rPr lang="en-US" sz="1000" b="1" dirty="0">
                <a:solidFill>
                  <a:srgbClr val="F59E0B"/>
                </a:solidFill>
              </a:rPr>
              <a:t>Phase 3</a:t>
            </a:r>
            <a:endParaRPr lang="en-US" sz="1000" dirty="0"/>
          </a:p>
          <a:p>
            <a:pPr algn="ctr" indent="0" marL="0">
              <a:buNone/>
            </a:pPr>
            <a:r>
              <a:rPr lang="en-US" sz="1000" b="1" dirty="0">
                <a:solidFill>
                  <a:srgbClr val="F59E0B"/>
                </a:solidFill>
              </a:rPr>
              <a:t>Shopping</a:t>
            </a:r>
            <a:endParaRPr lang="en-US" sz="1000" dirty="0"/>
          </a:p>
        </p:txBody>
      </p:sp>
      <p:sp>
        <p:nvSpPr>
          <p:cNvPr id="26" name="Shape 24"/>
          <p:cNvSpPr/>
          <p:nvPr/>
        </p:nvSpPr>
        <p:spPr>
          <a:xfrm>
            <a:off x="3922776" y="2907792"/>
            <a:ext cx="1572768" cy="18288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7" name="Shape 25"/>
          <p:cNvSpPr/>
          <p:nvPr/>
        </p:nvSpPr>
        <p:spPr>
          <a:xfrm>
            <a:off x="3922776" y="2907792"/>
            <a:ext cx="1572768" cy="54864"/>
          </a:xfrm>
          <a:prstGeom prst="rect">
            <a:avLst/>
          </a:prstGeom>
          <a:solidFill>
            <a:srgbClr val="F59E0B"/>
          </a:solidFill>
          <a:ln w="12700">
            <a:solidFill>
              <a:srgbClr val="F59E0B"/>
            </a:solidFill>
            <a:prstDash val="solid"/>
          </a:ln>
        </p:spPr>
      </p:sp>
      <p:sp>
        <p:nvSpPr>
          <p:cNvPr id="28" name="Text 26"/>
          <p:cNvSpPr/>
          <p:nvPr/>
        </p:nvSpPr>
        <p:spPr>
          <a:xfrm>
            <a:off x="4014216" y="2999232"/>
            <a:ext cx="1417320" cy="1645920"/>
          </a:xfrm>
          <a:prstGeom prst="rect">
            <a:avLst/>
          </a:prstGeom>
          <a:noFill/>
          <a:ln/>
        </p:spPr>
        <p:txBody>
          <a:bodyPr wrap="square" rtlCol="0" anchor="ctr"/>
          <a:lstStyle/>
          <a:p>
            <a:pPr marL="342900" indent="-342900">
              <a:spcAft>
                <a:spcPts val="200"/>
              </a:spcAft>
              <a:buSzPct val="100000"/>
              <a:buChar char="•"/>
            </a:pPr>
            <a:r>
              <a:rPr lang="en-US" sz="850" dirty="0">
                <a:solidFill>
                  <a:srgbClr val="64748B"/>
                </a:solidFill>
              </a:rPr>
              <a:t>Shopping list AI</a:t>
            </a:r>
            <a:endParaRPr lang="en-US" sz="850" dirty="0"/>
          </a:p>
          <a:p>
            <a:pPr marL="342900" indent="-342900">
              <a:spcAft>
                <a:spcPts val="200"/>
              </a:spcAft>
              <a:buSzPct val="100000"/>
              <a:buChar char="•"/>
            </a:pPr>
            <a:r>
              <a:rPr lang="en-US" sz="850" dirty="0">
                <a:solidFill>
                  <a:srgbClr val="64748B"/>
                </a:solidFill>
              </a:rPr>
              <a:t>Store optimizer</a:t>
            </a:r>
            <a:endParaRPr lang="en-US" sz="850" dirty="0"/>
          </a:p>
          <a:p>
            <a:pPr marL="342900" indent="-342900">
              <a:spcAft>
                <a:spcPts val="200"/>
              </a:spcAft>
              <a:buSzPct val="100000"/>
              <a:buChar char="•"/>
            </a:pPr>
            <a:r>
              <a:rPr lang="en-US" sz="850" dirty="0">
                <a:solidFill>
                  <a:srgbClr val="64748B"/>
                </a:solidFill>
              </a:rPr>
              <a:t>Budget alerts</a:t>
            </a:r>
            <a:endParaRPr lang="en-US" sz="850" dirty="0"/>
          </a:p>
          <a:p>
            <a:pPr marL="342900" indent="-342900">
              <a:spcAft>
                <a:spcPts val="200"/>
              </a:spcAft>
              <a:buSzPct val="100000"/>
              <a:buChar char="•"/>
            </a:pPr>
            <a:r>
              <a:rPr lang="en-US" sz="850" dirty="0">
                <a:solidFill>
                  <a:srgbClr val="64748B"/>
                </a:solidFill>
              </a:rPr>
              <a:t>Custom date reports</a:t>
            </a:r>
            <a:endParaRPr lang="en-US" sz="850" dirty="0"/>
          </a:p>
        </p:txBody>
      </p:sp>
      <p:sp>
        <p:nvSpPr>
          <p:cNvPr id="29" name="Shape 27"/>
          <p:cNvSpPr/>
          <p:nvPr/>
        </p:nvSpPr>
        <p:spPr>
          <a:xfrm>
            <a:off x="7205472" y="1828800"/>
            <a:ext cx="320040" cy="0"/>
          </a:xfrm>
          <a:prstGeom prst="line">
            <a:avLst/>
          </a:prstGeom>
          <a:noFill/>
          <a:ln w="12700">
            <a:solidFill>
              <a:srgbClr val="E2E8F0"/>
            </a:solidFill>
            <a:prstDash val="solid"/>
          </a:ln>
        </p:spPr>
      </p:sp>
      <p:sp>
        <p:nvSpPr>
          <p:cNvPr id="30" name="Shape 28"/>
          <p:cNvSpPr/>
          <p:nvPr/>
        </p:nvSpPr>
        <p:spPr>
          <a:xfrm>
            <a:off x="6181344" y="1508760"/>
            <a:ext cx="640080" cy="640080"/>
          </a:xfrm>
          <a:prstGeom prst="ellipse">
            <a:avLst/>
          </a:prstGeom>
          <a:solidFill>
            <a:srgbClr val="EC4899"/>
          </a:solidFill>
          <a:ln w="12700">
            <a:solidFill>
              <a:srgbClr val="EC4899"/>
            </a:solidFill>
            <a:prstDash val="solid"/>
          </a:ln>
        </p:spPr>
      </p:sp>
      <p:sp>
        <p:nvSpPr>
          <p:cNvPr id="31" name="Text 29"/>
          <p:cNvSpPr/>
          <p:nvPr/>
        </p:nvSpPr>
        <p:spPr>
          <a:xfrm>
            <a:off x="6181344" y="15087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32" name="Text 30"/>
          <p:cNvSpPr/>
          <p:nvPr/>
        </p:nvSpPr>
        <p:spPr>
          <a:xfrm>
            <a:off x="5632704" y="2267712"/>
            <a:ext cx="1572768" cy="201168"/>
          </a:xfrm>
          <a:prstGeom prst="rect">
            <a:avLst/>
          </a:prstGeom>
          <a:noFill/>
          <a:ln/>
        </p:spPr>
        <p:txBody>
          <a:bodyPr wrap="square" lIns="0" tIns="0" rIns="0" bIns="0" rtlCol="0" anchor="ctr"/>
          <a:lstStyle/>
          <a:p>
            <a:pPr algn="ctr" indent="0" marL="0">
              <a:buNone/>
            </a:pPr>
            <a:r>
              <a:rPr lang="en-US" sz="800" dirty="0">
                <a:solidFill>
                  <a:srgbClr val="64748B"/>
                </a:solidFill>
              </a:rPr>
              <a:t>Q4 2025</a:t>
            </a:r>
            <a:endParaRPr lang="en-US" sz="800" dirty="0"/>
          </a:p>
        </p:txBody>
      </p:sp>
      <p:sp>
        <p:nvSpPr>
          <p:cNvPr id="33" name="Text 31"/>
          <p:cNvSpPr/>
          <p:nvPr/>
        </p:nvSpPr>
        <p:spPr>
          <a:xfrm>
            <a:off x="5632704" y="2487168"/>
            <a:ext cx="1572768" cy="347472"/>
          </a:xfrm>
          <a:prstGeom prst="rect">
            <a:avLst/>
          </a:prstGeom>
          <a:noFill/>
          <a:ln/>
        </p:spPr>
        <p:txBody>
          <a:bodyPr wrap="square" lIns="0" tIns="0" rIns="0" bIns="0" rtlCol="0" anchor="ctr"/>
          <a:lstStyle/>
          <a:p>
            <a:pPr algn="ctr" indent="0" marL="0">
              <a:buNone/>
            </a:pPr>
            <a:r>
              <a:rPr lang="en-US" sz="1000" b="1" dirty="0">
                <a:solidFill>
                  <a:srgbClr val="EC4899"/>
                </a:solidFill>
              </a:rPr>
              <a:t>Phase 4</a:t>
            </a:r>
            <a:endParaRPr lang="en-US" sz="1000" dirty="0"/>
          </a:p>
          <a:p>
            <a:pPr algn="ctr" indent="0" marL="0">
              <a:buNone/>
            </a:pPr>
            <a:r>
              <a:rPr lang="en-US" sz="1000" b="1" dirty="0">
                <a:solidFill>
                  <a:srgbClr val="EC4899"/>
                </a:solidFill>
              </a:rPr>
              <a:t>Auto-Ingest</a:t>
            </a:r>
            <a:endParaRPr lang="en-US" sz="1000" dirty="0"/>
          </a:p>
        </p:txBody>
      </p:sp>
      <p:sp>
        <p:nvSpPr>
          <p:cNvPr id="34" name="Shape 32"/>
          <p:cNvSpPr/>
          <p:nvPr/>
        </p:nvSpPr>
        <p:spPr>
          <a:xfrm>
            <a:off x="5632704" y="2907792"/>
            <a:ext cx="1572768" cy="18288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5" name="Shape 33"/>
          <p:cNvSpPr/>
          <p:nvPr/>
        </p:nvSpPr>
        <p:spPr>
          <a:xfrm>
            <a:off x="5632704" y="2907792"/>
            <a:ext cx="1572768" cy="54864"/>
          </a:xfrm>
          <a:prstGeom prst="rect">
            <a:avLst/>
          </a:prstGeom>
          <a:solidFill>
            <a:srgbClr val="EC4899"/>
          </a:solidFill>
          <a:ln w="12700">
            <a:solidFill>
              <a:srgbClr val="EC4899"/>
            </a:solidFill>
            <a:prstDash val="solid"/>
          </a:ln>
        </p:spPr>
      </p:sp>
      <p:sp>
        <p:nvSpPr>
          <p:cNvPr id="36" name="Text 34"/>
          <p:cNvSpPr/>
          <p:nvPr/>
        </p:nvSpPr>
        <p:spPr>
          <a:xfrm>
            <a:off x="5724144" y="2999232"/>
            <a:ext cx="1417320" cy="1645920"/>
          </a:xfrm>
          <a:prstGeom prst="rect">
            <a:avLst/>
          </a:prstGeom>
          <a:noFill/>
          <a:ln/>
        </p:spPr>
        <p:txBody>
          <a:bodyPr wrap="square" rtlCol="0" anchor="ctr"/>
          <a:lstStyle/>
          <a:p>
            <a:pPr marL="342900" indent="-342900">
              <a:spcAft>
                <a:spcPts val="200"/>
              </a:spcAft>
              <a:buSzPct val="100000"/>
              <a:buChar char="•"/>
            </a:pPr>
            <a:r>
              <a:rPr lang="en-US" sz="850" dirty="0">
                <a:solidFill>
                  <a:srgbClr val="64748B"/>
                </a:solidFill>
              </a:rPr>
              <a:t>Gmail/Outlook OAuth</a:t>
            </a:r>
            <a:endParaRPr lang="en-US" sz="850" dirty="0"/>
          </a:p>
          <a:p>
            <a:pPr marL="342900" indent="-342900">
              <a:spcAft>
                <a:spcPts val="200"/>
              </a:spcAft>
              <a:buSzPct val="100000"/>
              <a:buChar char="•"/>
            </a:pPr>
            <a:r>
              <a:rPr lang="en-US" sz="850" dirty="0">
                <a:solidFill>
                  <a:srgbClr val="64748B"/>
                </a:solidFill>
              </a:rPr>
              <a:t>Bills &amp; checks</a:t>
            </a:r>
            <a:endParaRPr lang="en-US" sz="850" dirty="0"/>
          </a:p>
          <a:p>
            <a:pPr marL="342900" indent="-342900">
              <a:spcAft>
                <a:spcPts val="200"/>
              </a:spcAft>
              <a:buSzPct val="100000"/>
              <a:buChar char="•"/>
            </a:pPr>
            <a:r>
              <a:rPr lang="en-US" sz="850" dirty="0">
                <a:solidFill>
                  <a:srgbClr val="64748B"/>
                </a:solidFill>
              </a:rPr>
              <a:t>Push notifications</a:t>
            </a:r>
            <a:endParaRPr lang="en-US" sz="850" dirty="0"/>
          </a:p>
          <a:p>
            <a:pPr marL="342900" indent="-342900">
              <a:spcAft>
                <a:spcPts val="200"/>
              </a:spcAft>
              <a:buSzPct val="100000"/>
              <a:buChar char="•"/>
            </a:pPr>
            <a:r>
              <a:rPr lang="en-US" sz="850" dirty="0">
                <a:solidFill>
                  <a:srgbClr val="64748B"/>
                </a:solidFill>
              </a:rPr>
              <a:t>Weekly digest</a:t>
            </a:r>
            <a:endParaRPr lang="en-US" sz="850" dirty="0"/>
          </a:p>
        </p:txBody>
      </p:sp>
      <p:sp>
        <p:nvSpPr>
          <p:cNvPr id="37" name="Shape 35"/>
          <p:cNvSpPr/>
          <p:nvPr/>
        </p:nvSpPr>
        <p:spPr>
          <a:xfrm>
            <a:off x="7891272" y="1508760"/>
            <a:ext cx="640080" cy="640080"/>
          </a:xfrm>
          <a:prstGeom prst="ellipse">
            <a:avLst/>
          </a:prstGeom>
          <a:solidFill>
            <a:srgbClr val="0EA5E9"/>
          </a:solidFill>
          <a:ln w="12700">
            <a:solidFill>
              <a:srgbClr val="0EA5E9"/>
            </a:solidFill>
            <a:prstDash val="solid"/>
          </a:ln>
        </p:spPr>
      </p:sp>
      <p:sp>
        <p:nvSpPr>
          <p:cNvPr id="38" name="Text 36"/>
          <p:cNvSpPr/>
          <p:nvPr/>
        </p:nvSpPr>
        <p:spPr>
          <a:xfrm>
            <a:off x="7891272" y="15087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39" name="Text 37"/>
          <p:cNvSpPr/>
          <p:nvPr/>
        </p:nvSpPr>
        <p:spPr>
          <a:xfrm>
            <a:off x="7342632" y="2267712"/>
            <a:ext cx="1572768" cy="201168"/>
          </a:xfrm>
          <a:prstGeom prst="rect">
            <a:avLst/>
          </a:prstGeom>
          <a:noFill/>
          <a:ln/>
        </p:spPr>
        <p:txBody>
          <a:bodyPr wrap="square" lIns="0" tIns="0" rIns="0" bIns="0" rtlCol="0" anchor="ctr"/>
          <a:lstStyle/>
          <a:p>
            <a:pPr algn="ctr" indent="0" marL="0">
              <a:buNone/>
            </a:pPr>
            <a:r>
              <a:rPr lang="en-US" sz="800" dirty="0">
                <a:solidFill>
                  <a:srgbClr val="64748B"/>
                </a:solidFill>
              </a:rPr>
              <a:t>Q1 2026</a:t>
            </a:r>
            <a:endParaRPr lang="en-US" sz="800" dirty="0"/>
          </a:p>
        </p:txBody>
      </p:sp>
      <p:sp>
        <p:nvSpPr>
          <p:cNvPr id="40" name="Text 38"/>
          <p:cNvSpPr/>
          <p:nvPr/>
        </p:nvSpPr>
        <p:spPr>
          <a:xfrm>
            <a:off x="7342632" y="2487168"/>
            <a:ext cx="1572768" cy="347472"/>
          </a:xfrm>
          <a:prstGeom prst="rect">
            <a:avLst/>
          </a:prstGeom>
          <a:noFill/>
          <a:ln/>
        </p:spPr>
        <p:txBody>
          <a:bodyPr wrap="square" lIns="0" tIns="0" rIns="0" bIns="0" rtlCol="0" anchor="ctr"/>
          <a:lstStyle/>
          <a:p>
            <a:pPr algn="ctr" indent="0" marL="0">
              <a:buNone/>
            </a:pPr>
            <a:r>
              <a:rPr lang="en-US" sz="1000" b="1" dirty="0">
                <a:solidFill>
                  <a:srgbClr val="0EA5E9"/>
                </a:solidFill>
              </a:rPr>
              <a:t>Phase 5</a:t>
            </a:r>
            <a:endParaRPr lang="en-US" sz="1000" dirty="0"/>
          </a:p>
          <a:p>
            <a:pPr algn="ctr" indent="0" marL="0">
              <a:buNone/>
            </a:pPr>
            <a:r>
              <a:rPr lang="en-US" sz="1000" b="1" dirty="0">
                <a:solidFill>
                  <a:srgbClr val="0EA5E9"/>
                </a:solidFill>
              </a:rPr>
              <a:t>Full Spend</a:t>
            </a:r>
            <a:endParaRPr lang="en-US" sz="1000" dirty="0"/>
          </a:p>
        </p:txBody>
      </p:sp>
      <p:sp>
        <p:nvSpPr>
          <p:cNvPr id="41" name="Shape 39"/>
          <p:cNvSpPr/>
          <p:nvPr/>
        </p:nvSpPr>
        <p:spPr>
          <a:xfrm>
            <a:off x="7342632" y="2907792"/>
            <a:ext cx="1572768" cy="18288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42" name="Shape 40"/>
          <p:cNvSpPr/>
          <p:nvPr/>
        </p:nvSpPr>
        <p:spPr>
          <a:xfrm>
            <a:off x="7342632" y="2907792"/>
            <a:ext cx="1572768" cy="54864"/>
          </a:xfrm>
          <a:prstGeom prst="rect">
            <a:avLst/>
          </a:prstGeom>
          <a:solidFill>
            <a:srgbClr val="0EA5E9"/>
          </a:solidFill>
          <a:ln w="12700">
            <a:solidFill>
              <a:srgbClr val="0EA5E9"/>
            </a:solidFill>
            <a:prstDash val="solid"/>
          </a:ln>
        </p:spPr>
      </p:sp>
      <p:sp>
        <p:nvSpPr>
          <p:cNvPr id="43" name="Text 41"/>
          <p:cNvSpPr/>
          <p:nvPr/>
        </p:nvSpPr>
        <p:spPr>
          <a:xfrm>
            <a:off x="7434072" y="2999232"/>
            <a:ext cx="1417320" cy="1645920"/>
          </a:xfrm>
          <a:prstGeom prst="rect">
            <a:avLst/>
          </a:prstGeom>
          <a:noFill/>
          <a:ln/>
        </p:spPr>
        <p:txBody>
          <a:bodyPr wrap="square" rtlCol="0" anchor="ctr"/>
          <a:lstStyle/>
          <a:p>
            <a:pPr marL="342900" indent="-342900">
              <a:spcAft>
                <a:spcPts val="200"/>
              </a:spcAft>
              <a:buSzPct val="100000"/>
              <a:buChar char="•"/>
            </a:pPr>
            <a:r>
              <a:rPr lang="en-US" sz="850" dirty="0">
                <a:solidFill>
                  <a:srgbClr val="64748B"/>
                </a:solidFill>
              </a:rPr>
              <a:t>Medical bills</a:t>
            </a:r>
            <a:endParaRPr lang="en-US" sz="850" dirty="0"/>
          </a:p>
          <a:p>
            <a:pPr marL="342900" indent="-342900">
              <a:spcAft>
                <a:spcPts val="200"/>
              </a:spcAft>
              <a:buSzPct val="100000"/>
              <a:buChar char="•"/>
            </a:pPr>
            <a:r>
              <a:rPr lang="en-US" sz="850" dirty="0">
                <a:solidFill>
                  <a:srgbClr val="64748B"/>
                </a:solidFill>
              </a:rPr>
              <a:t>Browser extension</a:t>
            </a:r>
            <a:endParaRPr lang="en-US" sz="850" dirty="0"/>
          </a:p>
          <a:p>
            <a:pPr marL="342900" indent="-342900">
              <a:spcAft>
                <a:spcPts val="200"/>
              </a:spcAft>
              <a:buSzPct val="100000"/>
              <a:buChar char="•"/>
            </a:pPr>
            <a:r>
              <a:rPr lang="en-US" sz="850" dirty="0">
                <a:solidFill>
                  <a:srgbClr val="64748B"/>
                </a:solidFill>
              </a:rPr>
              <a:t>20+ parsers</a:t>
            </a:r>
            <a:endParaRPr lang="en-US" sz="850" dirty="0"/>
          </a:p>
          <a:p>
            <a:pPr marL="342900" indent="-342900">
              <a:spcAft>
                <a:spcPts val="200"/>
              </a:spcAft>
              <a:buSzPct val="100000"/>
              <a:buChar char="•"/>
            </a:pPr>
            <a:r>
              <a:rPr lang="en-US" sz="850" dirty="0">
                <a:solidFill>
                  <a:srgbClr val="64748B"/>
                </a:solidFill>
              </a:rPr>
              <a:t>Retailer API deals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0B981"/>
          </a:solidFill>
          <a:ln w="12700">
            <a:solidFill>
              <a:srgbClr val="10B981"/>
            </a:solidFill>
            <a:prstDash val="solid"/>
          </a:ln>
        </p:spPr>
      </p:sp>
      <p:sp>
        <p:nvSpPr>
          <p:cNvPr id="3" name="Text 1"/>
          <p:cNvSpPr/>
          <p:nvPr/>
        </p:nvSpPr>
        <p:spPr>
          <a:xfrm>
            <a:off x="502920" y="1097280"/>
            <a:ext cx="8229600" cy="68580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Let's discuss</a:t>
            </a:r>
            <a:endParaRPr lang="en-US" sz="4400" dirty="0"/>
          </a:p>
        </p:txBody>
      </p:sp>
      <p:sp>
        <p:nvSpPr>
          <p:cNvPr id="4" name="Text 2"/>
          <p:cNvSpPr/>
          <p:nvPr/>
        </p:nvSpPr>
        <p:spPr>
          <a:xfrm>
            <a:off x="502920" y="1920240"/>
            <a:ext cx="8229600" cy="274320"/>
          </a:xfrm>
          <a:prstGeom prst="rect">
            <a:avLst/>
          </a:prstGeom>
          <a:noFill/>
          <a:ln/>
        </p:spPr>
        <p:txBody>
          <a:bodyPr wrap="square" lIns="0" tIns="0" rIns="0" bIns="0" rtlCol="0" anchor="ctr"/>
          <a:lstStyle/>
          <a:p>
            <a:pPr indent="0" marL="0">
              <a:buNone/>
            </a:pPr>
            <a:r>
              <a:rPr lang="en-US" sz="1400" dirty="0">
                <a:solidFill>
                  <a:srgbClr val="94A3B8"/>
                </a:solidFill>
              </a:rPr>
              <a:t>A few questions to kick things off:</a:t>
            </a:r>
            <a:endParaRPr lang="en-US" sz="1400" dirty="0"/>
          </a:p>
        </p:txBody>
      </p:sp>
      <p:sp>
        <p:nvSpPr>
          <p:cNvPr id="5" name="Shape 3"/>
          <p:cNvSpPr/>
          <p:nvPr/>
        </p:nvSpPr>
        <p:spPr>
          <a:xfrm>
            <a:off x="502920" y="2331720"/>
            <a:ext cx="8138160" cy="475488"/>
          </a:xfrm>
          <a:prstGeom prst="rect">
            <a:avLst/>
          </a:prstGeom>
          <a:solidFill>
            <a:srgbClr val="1E293B"/>
          </a:solidFill>
          <a:ln w="12700">
            <a:solidFill>
              <a:srgbClr val="334155"/>
            </a:solidFill>
            <a:prstDash val="solid"/>
          </a:ln>
        </p:spPr>
      </p:sp>
      <p:sp>
        <p:nvSpPr>
          <p:cNvPr id="6" name="Text 4"/>
          <p:cNvSpPr/>
          <p:nvPr/>
        </p:nvSpPr>
        <p:spPr>
          <a:xfrm>
            <a:off x="640080" y="2331720"/>
            <a:ext cx="274320" cy="475488"/>
          </a:xfrm>
          <a:prstGeom prst="rect">
            <a:avLst/>
          </a:prstGeom>
          <a:noFill/>
          <a:ln/>
        </p:spPr>
        <p:txBody>
          <a:bodyPr wrap="square" lIns="0" tIns="0" rIns="0" bIns="0" rtlCol="0" anchor="ctr"/>
          <a:lstStyle/>
          <a:p>
            <a:pPr indent="0" marL="0">
              <a:buNone/>
            </a:pPr>
            <a:r>
              <a:rPr lang="en-US" sz="1300" b="1" dirty="0">
                <a:solidFill>
                  <a:srgbClr val="10B981"/>
                </a:solidFill>
              </a:rPr>
              <a:t>1.</a:t>
            </a:r>
            <a:endParaRPr lang="en-US" sz="1300" dirty="0"/>
          </a:p>
        </p:txBody>
      </p:sp>
      <p:sp>
        <p:nvSpPr>
          <p:cNvPr id="7" name="Text 5"/>
          <p:cNvSpPr/>
          <p:nvPr/>
        </p:nvSpPr>
        <p:spPr>
          <a:xfrm>
            <a:off x="960120" y="2331720"/>
            <a:ext cx="7498080" cy="475488"/>
          </a:xfrm>
          <a:prstGeom prst="rect">
            <a:avLst/>
          </a:prstGeom>
          <a:noFill/>
          <a:ln/>
        </p:spPr>
        <p:txBody>
          <a:bodyPr wrap="square" lIns="0" tIns="0" rIns="0" bIns="0" rtlCol="0" anchor="ctr"/>
          <a:lstStyle/>
          <a:p>
            <a:pPr indent="0" marL="0">
              <a:buNone/>
            </a:pPr>
            <a:r>
              <a:rPr lang="en-US" sz="1200" dirty="0">
                <a:solidFill>
                  <a:srgbClr val="FFFFFF"/>
                </a:solidFill>
              </a:rPr>
              <a:t>Which features would you actually use week-to-week?</a:t>
            </a:r>
            <a:endParaRPr lang="en-US" sz="1200" dirty="0"/>
          </a:p>
        </p:txBody>
      </p:sp>
      <p:sp>
        <p:nvSpPr>
          <p:cNvPr id="8" name="Shape 6"/>
          <p:cNvSpPr/>
          <p:nvPr/>
        </p:nvSpPr>
        <p:spPr>
          <a:xfrm>
            <a:off x="502920" y="2926080"/>
            <a:ext cx="8138160" cy="475488"/>
          </a:xfrm>
          <a:prstGeom prst="rect">
            <a:avLst/>
          </a:prstGeom>
          <a:solidFill>
            <a:srgbClr val="1E293B"/>
          </a:solidFill>
          <a:ln w="12700">
            <a:solidFill>
              <a:srgbClr val="334155"/>
            </a:solidFill>
            <a:prstDash val="solid"/>
          </a:ln>
        </p:spPr>
      </p:sp>
      <p:sp>
        <p:nvSpPr>
          <p:cNvPr id="9" name="Text 7"/>
          <p:cNvSpPr/>
          <p:nvPr/>
        </p:nvSpPr>
        <p:spPr>
          <a:xfrm>
            <a:off x="640080" y="2926080"/>
            <a:ext cx="274320" cy="475488"/>
          </a:xfrm>
          <a:prstGeom prst="rect">
            <a:avLst/>
          </a:prstGeom>
          <a:noFill/>
          <a:ln/>
        </p:spPr>
        <p:txBody>
          <a:bodyPr wrap="square" lIns="0" tIns="0" rIns="0" bIns="0" rtlCol="0" anchor="ctr"/>
          <a:lstStyle/>
          <a:p>
            <a:pPr indent="0" marL="0">
              <a:buNone/>
            </a:pPr>
            <a:r>
              <a:rPr lang="en-US" sz="1300" b="1" dirty="0">
                <a:solidFill>
                  <a:srgbClr val="10B981"/>
                </a:solidFill>
              </a:rPr>
              <a:t>2.</a:t>
            </a:r>
            <a:endParaRPr lang="en-US" sz="1300" dirty="0"/>
          </a:p>
        </p:txBody>
      </p:sp>
      <p:sp>
        <p:nvSpPr>
          <p:cNvPr id="10" name="Text 8"/>
          <p:cNvSpPr/>
          <p:nvPr/>
        </p:nvSpPr>
        <p:spPr>
          <a:xfrm>
            <a:off x="960120" y="2926080"/>
            <a:ext cx="7498080" cy="475488"/>
          </a:xfrm>
          <a:prstGeom prst="rect">
            <a:avLst/>
          </a:prstGeom>
          <a:noFill/>
          <a:ln/>
        </p:spPr>
        <p:txBody>
          <a:bodyPr wrap="square" lIns="0" tIns="0" rIns="0" bIns="0" rtlCol="0" anchor="ctr"/>
          <a:lstStyle/>
          <a:p>
            <a:pPr indent="0" marL="0">
              <a:buNone/>
            </a:pPr>
            <a:r>
              <a:rPr lang="en-US" sz="1200" dirty="0">
                <a:solidFill>
                  <a:srgbClr val="FFFFFF"/>
                </a:solidFill>
              </a:rPr>
              <a:t>How do you feel about connecting your Gmail to something like this?</a:t>
            </a:r>
            <a:endParaRPr lang="en-US" sz="1200" dirty="0"/>
          </a:p>
        </p:txBody>
      </p:sp>
      <p:sp>
        <p:nvSpPr>
          <p:cNvPr id="11" name="Shape 9"/>
          <p:cNvSpPr/>
          <p:nvPr/>
        </p:nvSpPr>
        <p:spPr>
          <a:xfrm>
            <a:off x="502920" y="3520440"/>
            <a:ext cx="8138160" cy="475488"/>
          </a:xfrm>
          <a:prstGeom prst="rect">
            <a:avLst/>
          </a:prstGeom>
          <a:solidFill>
            <a:srgbClr val="1E293B"/>
          </a:solidFill>
          <a:ln w="12700">
            <a:solidFill>
              <a:srgbClr val="334155"/>
            </a:solidFill>
            <a:prstDash val="solid"/>
          </a:ln>
        </p:spPr>
      </p:sp>
      <p:sp>
        <p:nvSpPr>
          <p:cNvPr id="12" name="Text 10"/>
          <p:cNvSpPr/>
          <p:nvPr/>
        </p:nvSpPr>
        <p:spPr>
          <a:xfrm>
            <a:off x="640080" y="3520440"/>
            <a:ext cx="274320" cy="475488"/>
          </a:xfrm>
          <a:prstGeom prst="rect">
            <a:avLst/>
          </a:prstGeom>
          <a:noFill/>
          <a:ln/>
        </p:spPr>
        <p:txBody>
          <a:bodyPr wrap="square" lIns="0" tIns="0" rIns="0" bIns="0" rtlCol="0" anchor="ctr"/>
          <a:lstStyle/>
          <a:p>
            <a:pPr indent="0" marL="0">
              <a:buNone/>
            </a:pPr>
            <a:r>
              <a:rPr lang="en-US" sz="1300" b="1" dirty="0">
                <a:solidFill>
                  <a:srgbClr val="10B981"/>
                </a:solidFill>
              </a:rPr>
              <a:t>3.</a:t>
            </a:r>
            <a:endParaRPr lang="en-US" sz="1300" dirty="0"/>
          </a:p>
        </p:txBody>
      </p:sp>
      <p:sp>
        <p:nvSpPr>
          <p:cNvPr id="13" name="Text 11"/>
          <p:cNvSpPr/>
          <p:nvPr/>
        </p:nvSpPr>
        <p:spPr>
          <a:xfrm>
            <a:off x="960120" y="3520440"/>
            <a:ext cx="7498080" cy="475488"/>
          </a:xfrm>
          <a:prstGeom prst="rect">
            <a:avLst/>
          </a:prstGeom>
          <a:noFill/>
          <a:ln/>
        </p:spPr>
        <p:txBody>
          <a:bodyPr wrap="square" lIns="0" tIns="0" rIns="0" bIns="0" rtlCol="0" anchor="ctr"/>
          <a:lstStyle/>
          <a:p>
            <a:pPr indent="0" marL="0">
              <a:buNone/>
            </a:pPr>
            <a:r>
              <a:rPr lang="en-US" sz="1200" dirty="0">
                <a:solidFill>
                  <a:srgbClr val="FFFFFF"/>
                </a:solidFill>
              </a:rPr>
              <a:t>Is the 24-hour auto-ingest rule the right default, or would you prefer to opt in?</a:t>
            </a:r>
            <a:endParaRPr lang="en-US" sz="1200" dirty="0"/>
          </a:p>
        </p:txBody>
      </p:sp>
      <p:sp>
        <p:nvSpPr>
          <p:cNvPr id="14" name="Shape 12"/>
          <p:cNvSpPr/>
          <p:nvPr/>
        </p:nvSpPr>
        <p:spPr>
          <a:xfrm>
            <a:off x="502920" y="4114800"/>
            <a:ext cx="8138160" cy="475488"/>
          </a:xfrm>
          <a:prstGeom prst="rect">
            <a:avLst/>
          </a:prstGeom>
          <a:solidFill>
            <a:srgbClr val="1E293B"/>
          </a:solidFill>
          <a:ln w="12700">
            <a:solidFill>
              <a:srgbClr val="334155"/>
            </a:solidFill>
            <a:prstDash val="solid"/>
          </a:ln>
        </p:spPr>
      </p:sp>
      <p:sp>
        <p:nvSpPr>
          <p:cNvPr id="15" name="Text 13"/>
          <p:cNvSpPr/>
          <p:nvPr/>
        </p:nvSpPr>
        <p:spPr>
          <a:xfrm>
            <a:off x="640080" y="4114800"/>
            <a:ext cx="274320" cy="475488"/>
          </a:xfrm>
          <a:prstGeom prst="rect">
            <a:avLst/>
          </a:prstGeom>
          <a:noFill/>
          <a:ln/>
        </p:spPr>
        <p:txBody>
          <a:bodyPr wrap="square" lIns="0" tIns="0" rIns="0" bIns="0" rtlCol="0" anchor="ctr"/>
          <a:lstStyle/>
          <a:p>
            <a:pPr indent="0" marL="0">
              <a:buNone/>
            </a:pPr>
            <a:r>
              <a:rPr lang="en-US" sz="1300" b="1" dirty="0">
                <a:solidFill>
                  <a:srgbClr val="10B981"/>
                </a:solidFill>
              </a:rPr>
              <a:t>4.</a:t>
            </a:r>
            <a:endParaRPr lang="en-US" sz="1300" dirty="0"/>
          </a:p>
        </p:txBody>
      </p:sp>
      <p:sp>
        <p:nvSpPr>
          <p:cNvPr id="16" name="Text 14"/>
          <p:cNvSpPr/>
          <p:nvPr/>
        </p:nvSpPr>
        <p:spPr>
          <a:xfrm>
            <a:off x="960120" y="4114800"/>
            <a:ext cx="7498080" cy="475488"/>
          </a:xfrm>
          <a:prstGeom prst="rect">
            <a:avLst/>
          </a:prstGeom>
          <a:noFill/>
          <a:ln/>
        </p:spPr>
        <p:txBody>
          <a:bodyPr wrap="square" lIns="0" tIns="0" rIns="0" bIns="0" rtlCol="0" anchor="ctr"/>
          <a:lstStyle/>
          <a:p>
            <a:pPr indent="0" marL="0">
              <a:buNone/>
            </a:pPr>
            <a:r>
              <a:rPr lang="en-US" sz="1200" dirty="0">
                <a:solidFill>
                  <a:srgbClr val="FFFFFF"/>
                </a:solidFill>
              </a:rPr>
              <a:t>What category of spend would be most useful to finally see tracked properly?</a:t>
            </a:r>
            <a:endParaRPr lang="en-US" sz="1200" dirty="0"/>
          </a:p>
        </p:txBody>
      </p:sp>
      <p:sp>
        <p:nvSpPr>
          <p:cNvPr id="17" name="Text 15"/>
          <p:cNvSpPr/>
          <p:nvPr/>
        </p:nvSpPr>
        <p:spPr>
          <a:xfrm>
            <a:off x="502920" y="4773168"/>
            <a:ext cx="8138160" cy="182880"/>
          </a:xfrm>
          <a:prstGeom prst="rect">
            <a:avLst/>
          </a:prstGeom>
          <a:noFill/>
          <a:ln/>
        </p:spPr>
        <p:txBody>
          <a:bodyPr wrap="square" lIns="0" tIns="0" rIns="0" bIns="0" rtlCol="0" anchor="ctr"/>
          <a:lstStyle/>
          <a:p>
            <a:pPr algn="ctr" indent="0" marL="0">
              <a:buNone/>
            </a:pPr>
            <a:r>
              <a:rPr lang="en-US" sz="800" dirty="0">
                <a:solidFill>
                  <a:srgbClr val="334155"/>
                </a:solidFill>
              </a:rPr>
              <a:t>iOS · Android · Web  |  AI powered by Claude  |  React Native + Next.js + AWS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ReceiptIQ — Concept Presentation</dc:title>
  <dc:subject>PptxGenJS Presentation</dc:subject>
  <dc:creator>PptxGenJS</dc:creator>
  <cp:lastModifiedBy>PptxGenJS</cp:lastModifiedBy>
  <cp:revision>1</cp:revision>
  <dcterms:created xsi:type="dcterms:W3CDTF">2026-05-18T01:10:28Z</dcterms:created>
  <dcterms:modified xsi:type="dcterms:W3CDTF">2026-05-18T01:10:28Z</dcterms:modified>
</cp:coreProperties>
</file>